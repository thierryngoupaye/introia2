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35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4.xml" ContentType="application/vnd.openxmlformats-officedocument.presentationml.slide+xml"/>
  <Override PartName="/ppt/slides/slide17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25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46" r:id="rId1"/>
  </p:sldMasterIdLst>
  <p:notesMasterIdLst>
    <p:notesMasterId r:id="rId50"/>
  </p:notesMasterIdLst>
  <p:sldIdLst>
    <p:sldId id="256" r:id="rId2"/>
    <p:sldId id="830" r:id="rId3"/>
    <p:sldId id="585" r:id="rId4"/>
    <p:sldId id="863" r:id="rId5"/>
    <p:sldId id="744" r:id="rId6"/>
    <p:sldId id="848" r:id="rId7"/>
    <p:sldId id="857" r:id="rId8"/>
    <p:sldId id="858" r:id="rId9"/>
    <p:sldId id="864" r:id="rId10"/>
    <p:sldId id="865" r:id="rId11"/>
    <p:sldId id="298" r:id="rId12"/>
    <p:sldId id="871" r:id="rId13"/>
    <p:sldId id="297" r:id="rId14"/>
    <p:sldId id="878" r:id="rId15"/>
    <p:sldId id="645" r:id="rId16"/>
    <p:sldId id="632" r:id="rId17"/>
    <p:sldId id="633" r:id="rId18"/>
    <p:sldId id="818" r:id="rId19"/>
    <p:sldId id="819" r:id="rId20"/>
    <p:sldId id="261" r:id="rId21"/>
    <p:sldId id="262" r:id="rId22"/>
    <p:sldId id="889" r:id="rId23"/>
    <p:sldId id="890" r:id="rId24"/>
    <p:sldId id="891" r:id="rId25"/>
    <p:sldId id="892" r:id="rId26"/>
    <p:sldId id="893" r:id="rId27"/>
    <p:sldId id="894" r:id="rId28"/>
    <p:sldId id="895" r:id="rId29"/>
    <p:sldId id="896" r:id="rId30"/>
    <p:sldId id="897" r:id="rId31"/>
    <p:sldId id="265" r:id="rId32"/>
    <p:sldId id="299" r:id="rId33"/>
    <p:sldId id="288" r:id="rId34"/>
    <p:sldId id="289" r:id="rId35"/>
    <p:sldId id="291" r:id="rId36"/>
    <p:sldId id="293" r:id="rId37"/>
    <p:sldId id="292" r:id="rId38"/>
    <p:sldId id="294" r:id="rId39"/>
    <p:sldId id="826" r:id="rId40"/>
    <p:sldId id="829" r:id="rId41"/>
    <p:sldId id="827" r:id="rId42"/>
    <p:sldId id="828" r:id="rId43"/>
    <p:sldId id="820" r:id="rId44"/>
    <p:sldId id="821" r:id="rId45"/>
    <p:sldId id="822" r:id="rId46"/>
    <p:sldId id="823" r:id="rId47"/>
    <p:sldId id="824" r:id="rId48"/>
    <p:sldId id="825" r:id="rId4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8C"/>
    <a:srgbClr val="FE5B11"/>
    <a:srgbClr val="FE6D06"/>
    <a:srgbClr val="4A79E8"/>
    <a:srgbClr val="52C027"/>
    <a:srgbClr val="14AFD9"/>
    <a:srgbClr val="742182"/>
    <a:srgbClr val="33771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3"/>
    <p:restoredTop sz="96143"/>
  </p:normalViewPr>
  <p:slideViewPr>
    <p:cSldViewPr snapToGrid="0" snapToObjects="1">
      <p:cViewPr varScale="1">
        <p:scale>
          <a:sx n="155" d="100"/>
          <a:sy n="155" d="100"/>
        </p:scale>
        <p:origin x="2928" y="150"/>
      </p:cViewPr>
      <p:guideLst/>
    </p:cSldViewPr>
  </p:slideViewPr>
  <p:outlineViewPr>
    <p:cViewPr>
      <p:scale>
        <a:sx n="33" d="100"/>
        <a:sy n="33" d="100"/>
      </p:scale>
      <p:origin x="0" y="-1195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0" d="100"/>
          <a:sy n="90" d="100"/>
        </p:scale>
        <p:origin x="384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734AA-BD40-0244-9394-17F589BC472C}" type="datetimeFigureOut">
              <a:rPr lang="en-CA" smtClean="0"/>
              <a:t>2026-09-11</a:t>
            </a:fld>
            <a:endParaRPr lang="en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7EB9D-6C9B-B04A-8125-44A4A3C4B63E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257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7EB9D-6C9B-B04A-8125-44A4A3C4B63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511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031">
            <a:extLst>
              <a:ext uri="{FF2B5EF4-FFF2-40B4-BE49-F238E27FC236}">
                <a16:creationId xmlns:a16="http://schemas.microsoft.com/office/drawing/2014/main" id="{5A2E8190-8BB9-1CFB-B020-EF3E3A1F99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BBEE80-97FA-4E4E-88DD-4B283DF66119}" type="slidenum">
              <a:rPr lang="fr-FR" altLang="fr-FR" smtClean="0"/>
              <a:pPr>
                <a:spcBef>
                  <a:spcPct val="0"/>
                </a:spcBef>
              </a:pPr>
              <a:t>17</a:t>
            </a:fld>
            <a:endParaRPr lang="fr-FR" altLang="fr-FR"/>
          </a:p>
        </p:txBody>
      </p:sp>
      <p:sp>
        <p:nvSpPr>
          <p:cNvPr id="34818" name="Rectangle 2050">
            <a:extLst>
              <a:ext uri="{FF2B5EF4-FFF2-40B4-BE49-F238E27FC236}">
                <a16:creationId xmlns:a16="http://schemas.microsoft.com/office/drawing/2014/main" id="{1AD081D8-6EF7-3FC6-8C54-7F9ACE1913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2051">
            <a:extLst>
              <a:ext uri="{FF2B5EF4-FFF2-40B4-BE49-F238E27FC236}">
                <a16:creationId xmlns:a16="http://schemas.microsoft.com/office/drawing/2014/main" id="{824EA4D4-5726-9F0C-28C5-75F7629FE4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2C39-F0EE-BF8A-E38A-9930A1012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031">
            <a:extLst>
              <a:ext uri="{FF2B5EF4-FFF2-40B4-BE49-F238E27FC236}">
                <a16:creationId xmlns:a16="http://schemas.microsoft.com/office/drawing/2014/main" id="{092F4299-147C-CCAD-E30B-94093F10CC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2A77EF6-7FB5-3B49-91D5-B9845884DA09}" type="slidenum">
              <a:rPr lang="fr-FR" altLang="fr-FR" smtClean="0"/>
              <a:pPr>
                <a:spcBef>
                  <a:spcPct val="0"/>
                </a:spcBef>
              </a:pPr>
              <a:t>18</a:t>
            </a:fld>
            <a:endParaRPr lang="fr-FR" altLang="fr-FR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D9B9E35E-2146-BAF0-A7AA-197B1D1D82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FE227ED-310E-0B5D-A596-079D01C0C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0785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2C39-F0EE-BF8A-E38A-9930A1012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031">
            <a:extLst>
              <a:ext uri="{FF2B5EF4-FFF2-40B4-BE49-F238E27FC236}">
                <a16:creationId xmlns:a16="http://schemas.microsoft.com/office/drawing/2014/main" id="{092F4299-147C-CCAD-E30B-94093F10CC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2A77EF6-7FB5-3B49-91D5-B9845884DA09}" type="slidenum">
              <a:rPr lang="fr-FR" altLang="fr-FR" smtClean="0"/>
              <a:pPr>
                <a:spcBef>
                  <a:spcPct val="0"/>
                </a:spcBef>
              </a:pPr>
              <a:t>19</a:t>
            </a:fld>
            <a:endParaRPr lang="fr-FR" altLang="fr-FR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D9B9E35E-2146-BAF0-A7AA-197B1D1D82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FE227ED-310E-0B5D-A596-079D01C0C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fr-F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7532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A2D40D-87E4-48A8-9830-8BAFC102610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5E80BC8-8E85-4CFC-A159-A250ABEF23EC}" type="slidenum">
              <a:t>20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D79E60-0557-41DB-85AD-77615ED8A01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884238" y="812800"/>
            <a:ext cx="5789612" cy="4008438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72A1E86-6B40-49EA-94AA-B482CF1DA32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9FE03E-9621-484D-B8B9-118C4F1CAC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0B6E2A9-6491-4CF9-85DD-5769F7B3EAE8}" type="slidenum">
              <a:t>21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031224-48EF-4067-BC92-3FE5601481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884238" y="812800"/>
            <a:ext cx="5789612" cy="4008438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DF7CD7-617E-49DD-87EC-8BABA55F1D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9FE03E-9621-484D-B8B9-118C4F1CAC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0B6E2A9-6491-4CF9-85DD-5769F7B3EAE8}" type="slidenum">
              <a:t>22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031224-48EF-4067-BC92-3FE5601481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884238" y="812800"/>
            <a:ext cx="5789612" cy="4008438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DF7CD7-617E-49DD-87EC-8BABA55F1D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1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9FE03E-9621-484D-B8B9-118C4F1CAC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0B6E2A9-6491-4CF9-85DD-5769F7B3EAE8}" type="slidenum">
              <a:t>23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031224-48EF-4067-BC92-3FE5601481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884238" y="812800"/>
            <a:ext cx="5789612" cy="4008438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DF7CD7-617E-49DD-87EC-8BABA55F1D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7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9FE03E-9621-484D-B8B9-118C4F1CAC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0B6E2A9-6491-4CF9-85DD-5769F7B3EAE8}" type="slidenum">
              <a:t>24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031224-48EF-4067-BC92-3FE5601481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884238" y="812800"/>
            <a:ext cx="5789612" cy="4008438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DF7CD7-617E-49DD-87EC-8BABA55F1D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69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9FE03E-9621-484D-B8B9-118C4F1CAC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0B6E2A9-6491-4CF9-85DD-5769F7B3EAE8}" type="slidenum">
              <a:t>25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031224-48EF-4067-BC92-3FE5601481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884238" y="812800"/>
            <a:ext cx="5789612" cy="4008438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DF7CD7-617E-49DD-87EC-8BABA55F1D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2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9FE03E-9621-484D-B8B9-118C4F1CAC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0B6E2A9-6491-4CF9-85DD-5769F7B3EAE8}" type="slidenum">
              <a:t>26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031224-48EF-4067-BC92-3FE5601481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884238" y="812800"/>
            <a:ext cx="5789612" cy="4008438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DF7CD7-617E-49DD-87EC-8BABA55F1D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762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9FE03E-9621-484D-B8B9-118C4F1CAC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0B6E2A9-6491-4CF9-85DD-5769F7B3EAE8}" type="slidenum">
              <a:t>27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031224-48EF-4067-BC92-3FE5601481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884238" y="812800"/>
            <a:ext cx="5789612" cy="4008438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DF7CD7-617E-49DD-87EC-8BABA55F1D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51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9FE03E-9621-484D-B8B9-118C4F1CAC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0B6E2A9-6491-4CF9-85DD-5769F7B3EAE8}" type="slidenum">
              <a:t>28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031224-48EF-4067-BC92-3FE5601481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884238" y="812800"/>
            <a:ext cx="5789612" cy="4008438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DF7CD7-617E-49DD-87EC-8BABA55F1D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872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9FE03E-9621-484D-B8B9-118C4F1CAC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0B6E2A9-6491-4CF9-85DD-5769F7B3EAE8}" type="slidenum">
              <a:t>29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031224-48EF-4067-BC92-3FE5601481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884238" y="812800"/>
            <a:ext cx="5789612" cy="4008438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DF7CD7-617E-49DD-87EC-8BABA55F1D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9FE03E-9621-484D-B8B9-118C4F1CAC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0B6E2A9-6491-4CF9-85DD-5769F7B3EAE8}" type="slidenum">
              <a:t>30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0031224-48EF-4067-BC92-3FE5601481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884238" y="812800"/>
            <a:ext cx="5789612" cy="4008438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DF7CD7-617E-49DD-87EC-8BABA55F1D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64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484AB0-445A-4374-B086-8BCDC0C4D7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6A49206-E904-47DA-AE6F-F5AB6E053D31}" type="slidenum">
              <a:t>31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FCC5497-BFED-40D0-B22A-7D08C1B574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884238" y="812800"/>
            <a:ext cx="5789612" cy="4008438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FE16380-C0D3-4D42-A883-3024ED71EAA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4EDBC8-E91D-7B4F-B36D-0E81D9623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94F9E5D-BC68-F64E-987E-236BC5733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1A344B-59C4-664A-A012-A429FF9B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EA3B9-D958-C247-B217-4FE42638D83A}" type="datetime1">
              <a:rPr lang="fr-FR" smtClean="0"/>
              <a:t>11/09/2026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0AE56A-DBD7-BE42-BD95-3EB9FC275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368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FD454A-EB4C-5A46-94F0-CFACA2994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56DD6F-532D-1149-8608-C5CE0F48F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57188" indent="-258763">
              <a:lnSpc>
                <a:spcPct val="150000"/>
              </a:lnSpc>
              <a:tabLst/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CA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3DFFF7-B736-3C46-AE59-9DC68D48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5A67-E4C5-494D-AD6B-6B69F2BE1A48}" type="datetime1">
              <a:rPr lang="fr-FR" smtClean="0"/>
              <a:t>11/09/2026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3B0C7A-FBF2-A848-AE52-400B515C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79A50D-BEC8-0048-8ADB-44A7811C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624E17-147F-4F49-A3E3-6B2A50F8D9A1}" type="slidenum">
              <a:rPr lang="en-CA" smtClean="0"/>
              <a:pPr/>
              <a:t>‹N°›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8707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313143-64D8-5549-9607-5558404B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9079CE-AE02-1E4D-A60E-170F6BD1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E5ECE-1311-E948-A920-CB50D5B01013}" type="datetime1">
              <a:rPr lang="fr-FR" smtClean="0"/>
              <a:t>11/09/2026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273122-6128-AB49-8270-0166138A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3CED46-F2A8-A247-A832-5BF8717CA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274AF39-1F22-7A45-9D7C-E9F3C628C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5667" y="4321176"/>
            <a:ext cx="7860665" cy="1496290"/>
          </a:xfrm>
          <a:solidFill>
            <a:srgbClr val="52C027">
              <a:alpha val="20000"/>
            </a:srgbClr>
          </a:solidFill>
        </p:spPr>
        <p:txBody>
          <a:bodyPr lIns="180000" tIns="180000" rIns="180000" bIns="18000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14D44313-60C0-DF4D-80C4-6F3C8BB6DD2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165667" y="3782292"/>
            <a:ext cx="7860665" cy="538883"/>
          </a:xfrm>
          <a:solidFill>
            <a:srgbClr val="52C027"/>
          </a:solidFill>
        </p:spPr>
        <p:txBody>
          <a:bodyPr lIns="180000" tIns="72000" rIns="180000" bIns="72000"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9DD67E5A-C2B7-4C48-80A2-EABC1010844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99326" y="1500027"/>
            <a:ext cx="10993348" cy="156256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114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1978E8-55F1-D247-8EBE-0604DEDA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EAD088-939E-9E46-B986-E4D4C7A2C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2D937B-B568-2C4D-AE46-74BB7491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F29F2-016C-EE48-B0CD-D263313E1DBE}" type="datetime1">
              <a:rPr lang="fr-FR" smtClean="0"/>
              <a:t>11/09/2026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FDEB9F-D4DA-C649-88F2-E37423EE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65831E-CEAD-4540-B42E-48D9A1D9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283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98C691-36BD-C34C-B812-597F6CB51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F7A964-EDE8-2F47-8579-C96BF9860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017BE2E-79B7-364D-95F7-B4064CC36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983EF0-D5AA-1C43-9251-E9DBB565C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64A52-4A17-DD47-8038-1B20FDD3F77D}" type="datetime1">
              <a:rPr lang="fr-FR" smtClean="0"/>
              <a:t>11/09/2026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1014992-C367-914A-82D2-E8564748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74CD14-3F6A-B64F-9D03-A0357CF3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98439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B0E05-0868-844E-BE5F-F733676EA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CA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802EE5-F5FA-194E-B92D-603EE414F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50CFB7-B0EB-F74D-BDC3-6FA22E6EB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0A0F2E6-9F5E-A847-A818-9A8CC7661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218080E-264F-8549-86FE-F3CD7FE0D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1319404-0144-A142-B40B-D663AD12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AD263-19D6-FD4F-BCD9-0AB1CB7C2586}" type="datetime1">
              <a:rPr lang="fr-FR" smtClean="0"/>
              <a:t>11/09/2026</a:t>
            </a:fld>
            <a:endParaRPr lang="en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0A2C28F-4E84-2A40-92C4-A26BC3C8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CC3E10B-A28C-C846-9A47-BB645EC5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4898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802EE5-F5FA-194E-B92D-603EE414F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3763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50CFB7-B0EB-F74D-BDC3-6FA22E6EB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61544"/>
            <a:ext cx="5157787" cy="390479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0A0F2E6-9F5E-A847-A818-9A8CC7661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3763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218080E-264F-8549-86FE-F3CD7FE0D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61544"/>
            <a:ext cx="5183188" cy="390479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1319404-0144-A142-B40B-D663AD12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AD263-19D6-FD4F-BCD9-0AB1CB7C2586}" type="datetime1">
              <a:rPr lang="fr-FR" smtClean="0"/>
              <a:t>11/09/2026</a:t>
            </a:fld>
            <a:endParaRPr lang="en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0A2C28F-4E84-2A40-92C4-A26BC3C8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CC3E10B-A28C-C846-9A47-BB645EC5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E012109-F047-2648-B9C1-DF0E860AF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741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05477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6513CF-18C0-C04B-B711-68DE25D7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5C0E953-C945-DB46-A9E2-6250A2B2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2F4E-D569-0345-A8B2-D99D1285AD46}" type="datetime1">
              <a:rPr lang="fr-FR" smtClean="0"/>
              <a:t>11/09/2026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2B51CA-38E3-0241-9040-E8403758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0DCEA3C-CFFF-2544-B63A-76AADC25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246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444411A-7373-C24E-9C7E-4D60993D7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D0CDD-E749-CE4F-A86F-15DF6A4F85A5}" type="datetime1">
              <a:rPr lang="fr-FR" smtClean="0"/>
              <a:t>11/09/2026</a:t>
            </a:fld>
            <a:endParaRPr lang="en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5ABC7C4-F213-D746-9299-0906F31C3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DCFCFD-6E57-7149-B238-7ABCF53B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0001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F54F93-AF6E-6646-A744-6E956FDA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8F9857-BDCE-BE4B-97EF-700ED16E0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135A30-5630-D241-815B-E8D49A4E0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6A5FE60-C9A5-954C-B772-30E23834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B6460-2F3F-9748-BF1D-A46F64759DC7}" type="datetime1">
              <a:rPr lang="fr-FR" smtClean="0"/>
              <a:t>11/09/2026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531A9E-81AE-ED41-9165-83E58A54F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075726-565F-8C4D-A43B-907009EB3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64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F4D61-A87C-F446-A469-9A4AA5232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04731D3-B8FB-F84D-A0B5-84F809579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4E84EB-7E93-484F-B709-6469C48BA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31EE51-2731-144E-AAA4-EF94E34A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FF5B-5912-3C44-A198-A33BA50B8372}" type="datetime1">
              <a:rPr lang="fr-FR" smtClean="0"/>
              <a:t>11/09/2026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3B2FA37-ADDD-054D-8F60-3DEA80FC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9EBB38-4446-504F-8D8E-7526AFF9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7141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989E0-4539-4E48-B9E8-CBDAADD68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8671A1-EFD1-6F4F-A9CE-17769D50C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714E7E-9710-1949-8474-EC1BCF05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61178-D7B9-1A44-9B84-F2C785136013}" type="datetime1">
              <a:rPr lang="fr-FR" smtClean="0"/>
              <a:t>11/09/2026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56C84C-5810-7C4A-9428-99A09187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E5FD97-3708-0A45-8479-E62EE8971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4077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F01A022-22E3-744E-9E51-FC571E4BC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F178482-55FF-E640-8CFE-E637B6CB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DA9FDB-D4C3-1042-AEC6-3B2BB8090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546-423C-DD4D-A8B6-B96D449FEE9F}" type="datetime1">
              <a:rPr lang="fr-FR" smtClean="0"/>
              <a:t>11/09/2026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85E9BE-CD92-4847-8230-BB19D9C9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6CC9F9-0C64-BD40-9B27-B5662273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AA823-F115-3246-BEC6-B191B3A02521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433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3D61DE5-C9C8-554B-B5CE-1A8F253B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7415"/>
          </a:xfrm>
          <a:prstGeom prst="rect">
            <a:avLst/>
          </a:prstGeom>
          <a:solidFill>
            <a:srgbClr val="4A79E8"/>
          </a:solidFill>
        </p:spPr>
        <p:txBody>
          <a:bodyPr vert="horz" lIns="324000" tIns="45720" rIns="108000" bIns="45720" rtlCol="0" anchor="ctr">
            <a:normAutofit/>
          </a:bodyPr>
          <a:lstStyle/>
          <a:p>
            <a:r>
              <a:rPr lang="en-CA" noProof="0" dirty="0" err="1"/>
              <a:t>Modifiez</a:t>
            </a:r>
            <a:r>
              <a:rPr lang="en-CA" noProof="0" dirty="0"/>
              <a:t>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E2B086-75BE-2047-9A5E-B78DD7712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326" y="1500027"/>
            <a:ext cx="10993348" cy="4676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noProof="0" dirty="0" err="1"/>
              <a:t>Cliquez</a:t>
            </a:r>
            <a:r>
              <a:rPr lang="en-CA" noProof="0" dirty="0"/>
              <a:t> pour modifier les styles du </a:t>
            </a:r>
            <a:r>
              <a:rPr lang="en-CA" noProof="0" dirty="0" err="1"/>
              <a:t>texte</a:t>
            </a:r>
            <a:r>
              <a:rPr lang="en-CA" noProof="0" dirty="0"/>
              <a:t> du masque</a:t>
            </a:r>
          </a:p>
          <a:p>
            <a:pPr lvl="1"/>
            <a:r>
              <a:rPr lang="en-CA" noProof="0" dirty="0" err="1"/>
              <a:t>Deuxième</a:t>
            </a:r>
            <a:r>
              <a:rPr lang="en-CA" noProof="0" dirty="0"/>
              <a:t> </a:t>
            </a:r>
            <a:r>
              <a:rPr lang="en-CA" noProof="0" dirty="0" err="1"/>
              <a:t>niveau</a:t>
            </a:r>
            <a:endParaRPr lang="en-CA" noProof="0" dirty="0"/>
          </a:p>
          <a:p>
            <a:pPr lvl="2"/>
            <a:r>
              <a:rPr lang="en-CA" noProof="0" dirty="0" err="1"/>
              <a:t>Troisième</a:t>
            </a:r>
            <a:r>
              <a:rPr lang="en-CA" noProof="0" dirty="0"/>
              <a:t> </a:t>
            </a:r>
            <a:r>
              <a:rPr lang="en-CA" noProof="0" dirty="0" err="1"/>
              <a:t>niveau</a:t>
            </a:r>
            <a:endParaRPr lang="en-CA" noProof="0" dirty="0"/>
          </a:p>
          <a:p>
            <a:pPr lvl="3"/>
            <a:r>
              <a:rPr lang="en-CA" noProof="0" dirty="0" err="1"/>
              <a:t>Quatrième</a:t>
            </a:r>
            <a:r>
              <a:rPr lang="en-CA" noProof="0" dirty="0"/>
              <a:t> </a:t>
            </a:r>
            <a:r>
              <a:rPr lang="en-CA" noProof="0" dirty="0" err="1"/>
              <a:t>niveau</a:t>
            </a:r>
            <a:endParaRPr lang="en-CA" noProof="0" dirty="0"/>
          </a:p>
          <a:p>
            <a:pPr lvl="4"/>
            <a:r>
              <a:rPr lang="en-CA" noProof="0" dirty="0" err="1"/>
              <a:t>Cinquième</a:t>
            </a:r>
            <a:r>
              <a:rPr lang="en-CA" noProof="0" dirty="0"/>
              <a:t> </a:t>
            </a:r>
            <a:r>
              <a:rPr lang="en-CA" noProof="0" dirty="0" err="1"/>
              <a:t>niveau</a:t>
            </a:r>
            <a:endParaRPr lang="en-CA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14FB36-E942-1548-8C87-0C77A5F86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BC037-9ABD-6748-8BED-2B8FFA515D81}" type="datetime1">
              <a:rPr lang="fr-FR" smtClean="0"/>
              <a:t>11/09/2026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82D8E5-6AD5-A146-9181-5C69C97B6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CCEC0A-4B04-8D4C-AF2F-601E361C6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61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4391F-B9A6-914E-A2B2-00F308C74B97}" type="slidenum">
              <a:rPr lang="en-CA" smtClean="0"/>
              <a:pPr/>
              <a:t>‹N°›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40555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58" r:id="rId3"/>
    <p:sldLayoutId id="2147484049" r:id="rId4"/>
    <p:sldLayoutId id="2147484050" r:id="rId5"/>
    <p:sldLayoutId id="2147484051" r:id="rId6"/>
    <p:sldLayoutId id="2147484059" r:id="rId7"/>
    <p:sldLayoutId id="2147484052" r:id="rId8"/>
    <p:sldLayoutId id="2147484053" r:id="rId9"/>
    <p:sldLayoutId id="2147484054" r:id="rId10"/>
    <p:sldLayoutId id="2147484055" r:id="rId11"/>
    <p:sldLayoutId id="2147484056" r:id="rId12"/>
    <p:sldLayoutId id="214748405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57188" indent="-258763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21.png"/><Relationship Id="rId3" Type="http://schemas.openxmlformats.org/officeDocument/2006/relationships/image" Target="../media/image160.png"/><Relationship Id="rId7" Type="http://schemas.openxmlformats.org/officeDocument/2006/relationships/image" Target="../media/image19.png"/><Relationship Id="rId12" Type="http://schemas.openxmlformats.org/officeDocument/2006/relationships/image" Target="../media/image110.png"/><Relationship Id="rId2" Type="http://schemas.openxmlformats.org/officeDocument/2006/relationships/image" Target="../media/image150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0.png"/><Relationship Id="rId5" Type="http://schemas.openxmlformats.org/officeDocument/2006/relationships/image" Target="../media/image42.png"/><Relationship Id="rId15" Type="http://schemas.openxmlformats.org/officeDocument/2006/relationships/image" Target="../media/image140.png"/><Relationship Id="rId10" Type="http://schemas.openxmlformats.org/officeDocument/2006/relationships/image" Target="../media/image90.png"/><Relationship Id="rId4" Type="http://schemas.openxmlformats.org/officeDocument/2006/relationships/image" Target="../media/image170.png"/><Relationship Id="rId9" Type="http://schemas.openxmlformats.org/officeDocument/2006/relationships/image" Target="../media/image80.png"/><Relationship Id="rId14" Type="http://schemas.openxmlformats.org/officeDocument/2006/relationships/image" Target="../media/image13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10.png"/><Relationship Id="rId18" Type="http://schemas.openxmlformats.org/officeDocument/2006/relationships/image" Target="../media/image22.png"/><Relationship Id="rId3" Type="http://schemas.openxmlformats.org/officeDocument/2006/relationships/image" Target="../media/image150.png"/><Relationship Id="rId7" Type="http://schemas.openxmlformats.org/officeDocument/2006/relationships/image" Target="../media/image18.png"/><Relationship Id="rId12" Type="http://schemas.openxmlformats.org/officeDocument/2006/relationships/image" Target="../media/image20.png"/><Relationship Id="rId17" Type="http://schemas.openxmlformats.org/officeDocument/2006/relationships/image" Target="../media/image24.png"/><Relationship Id="rId2" Type="http://schemas.openxmlformats.org/officeDocument/2006/relationships/image" Target="../media/image120.png"/><Relationship Id="rId16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90.png"/><Relationship Id="rId5" Type="http://schemas.openxmlformats.org/officeDocument/2006/relationships/image" Target="../media/image170.png"/><Relationship Id="rId15" Type="http://schemas.openxmlformats.org/officeDocument/2006/relationships/image" Target="../media/image130.png"/><Relationship Id="rId10" Type="http://schemas.openxmlformats.org/officeDocument/2006/relationships/image" Target="../media/image80.png"/><Relationship Id="rId4" Type="http://schemas.openxmlformats.org/officeDocument/2006/relationships/image" Target="../media/image160.png"/><Relationship Id="rId9" Type="http://schemas.openxmlformats.org/officeDocument/2006/relationships/image" Target="../media/image70.png"/><Relationship Id="rId1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04FE4-E80F-AA43-9141-BB7E9BBD1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81743"/>
            <a:ext cx="9144000" cy="2040392"/>
          </a:xfrm>
        </p:spPr>
        <p:txBody>
          <a:bodyPr>
            <a:normAutofit fontScale="90000"/>
          </a:bodyPr>
          <a:lstStyle/>
          <a:p>
            <a:r>
              <a:rPr lang="fr-FR" dirty="0"/>
              <a:t>Systèmes intelligents avancés</a:t>
            </a:r>
            <a:br>
              <a:rPr lang="fr-FR" dirty="0"/>
            </a:br>
            <a:r>
              <a:rPr lang="fr-FR" dirty="0" err="1"/>
              <a:t>classic</a:t>
            </a:r>
            <a:r>
              <a:rPr lang="fr-FR" dirty="0"/>
              <a:t> CNN </a:t>
            </a:r>
            <a:r>
              <a:rPr lang="fr-FR" dirty="0" err="1"/>
              <a:t>models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73AA78-2271-544E-A7A7-3D95FF8BB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14209"/>
            <a:ext cx="9144000" cy="3147105"/>
          </a:xfrm>
        </p:spPr>
        <p:txBody>
          <a:bodyPr>
            <a:normAutofit/>
          </a:bodyPr>
          <a:lstStyle/>
          <a:p>
            <a:endParaRPr lang="en-CA" b="1" dirty="0"/>
          </a:p>
          <a:p>
            <a:r>
              <a:rPr lang="en-CA" b="1" dirty="0"/>
              <a:t>Maxime </a:t>
            </a:r>
            <a:r>
              <a:rPr lang="en-CA" b="1" dirty="0" err="1"/>
              <a:t>Ambard</a:t>
            </a:r>
            <a:endParaRPr lang="en-CA" b="1" dirty="0"/>
          </a:p>
          <a:p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LEAD CNRS UMR 5022 </a:t>
            </a:r>
          </a:p>
          <a:p>
            <a:r>
              <a:rPr lang="en-CA" dirty="0" err="1">
                <a:solidFill>
                  <a:schemeClr val="bg2">
                    <a:lumMod val="50000"/>
                  </a:schemeClr>
                </a:solidFill>
              </a:rPr>
              <a:t>Institut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CA" dirty="0" err="1">
                <a:solidFill>
                  <a:schemeClr val="bg2">
                    <a:lumMod val="50000"/>
                  </a:schemeClr>
                </a:solidFill>
              </a:rPr>
              <a:t>Marey</a:t>
            </a:r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 – I3M</a:t>
            </a:r>
          </a:p>
          <a:p>
            <a:r>
              <a:rPr lang="en-CA" dirty="0">
                <a:solidFill>
                  <a:schemeClr val="bg2">
                    <a:lumMod val="50000"/>
                  </a:schemeClr>
                </a:solidFill>
              </a:rPr>
              <a:t>64 rue Sully - 210000 DIJON CEDEX -  France</a:t>
            </a:r>
          </a:p>
          <a:p>
            <a:r>
              <a:rPr lang="en-CA" dirty="0"/>
              <a:t>Contact : maxime.ambard@u-bourgogne.fr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4710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Espace réservé du numéro de diapositive 3">
            <a:extLst>
              <a:ext uri="{FF2B5EF4-FFF2-40B4-BE49-F238E27FC236}">
                <a16:creationId xmlns:a16="http://schemas.microsoft.com/office/drawing/2014/main" id="{9862D81E-A2E5-149A-4CDB-05166D99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112DF8-B157-8E43-B537-7EC01B39269C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fr-FR" altLang="fr-FR" sz="1400"/>
          </a:p>
        </p:txBody>
      </p:sp>
      <p:graphicFrame>
        <p:nvGraphicFramePr>
          <p:cNvPr id="19458" name="Object 3">
            <a:extLst>
              <a:ext uri="{FF2B5EF4-FFF2-40B4-BE49-F238E27FC236}">
                <a16:creationId xmlns:a16="http://schemas.microsoft.com/office/drawing/2014/main" id="{B2EE8E0D-F9F3-4977-1837-6369EEC199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4714" y="3913189"/>
          <a:ext cx="6643687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Document" r:id="rId3" imgW="35839400" imgH="1981200" progId="Word.Document.8">
                  <p:embed/>
                </p:oleObj>
              </mc:Choice>
              <mc:Fallback>
                <p:oleObj name="Document" r:id="rId3" imgW="35839400" imgH="1981200" progId="Word.Document.8">
                  <p:embed/>
                  <p:pic>
                    <p:nvPicPr>
                      <p:cNvPr id="19458" name="Object 3">
                        <a:extLst>
                          <a:ext uri="{FF2B5EF4-FFF2-40B4-BE49-F238E27FC236}">
                            <a16:creationId xmlns:a16="http://schemas.microsoft.com/office/drawing/2014/main" id="{B2EE8E0D-F9F3-4977-1837-6369EEC199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14" y="3913189"/>
                        <a:ext cx="6643687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48" name="Text Box 4">
            <a:extLst>
              <a:ext uri="{FF2B5EF4-FFF2-40B4-BE49-F238E27FC236}">
                <a16:creationId xmlns:a16="http://schemas.microsoft.com/office/drawing/2014/main" id="{7BC25C9B-95CC-24CC-A1CB-249A59F60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-26988"/>
            <a:ext cx="6326187" cy="584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fr-FR" altLang="fr-FR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Terminology</a:t>
            </a:r>
          </a:p>
        </p:txBody>
      </p:sp>
      <p:sp>
        <p:nvSpPr>
          <p:cNvPr id="19465" name="Espace réservé du pied de page 3">
            <a:extLst>
              <a:ext uri="{FF2B5EF4-FFF2-40B4-BE49-F238E27FC236}">
                <a16:creationId xmlns:a16="http://schemas.microsoft.com/office/drawing/2014/main" id="{99FE0ED8-4FDA-9B6D-050E-6293AB8EB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/>
              <a:t>Outils pour l'Intelligence Artificielle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E576BB-3802-4FB5-A743-F1D0E9C6E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763" y="947738"/>
            <a:ext cx="913447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89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Espace réservé du numéro de diapositive 3">
            <a:extLst>
              <a:ext uri="{FF2B5EF4-FFF2-40B4-BE49-F238E27FC236}">
                <a16:creationId xmlns:a16="http://schemas.microsoft.com/office/drawing/2014/main" id="{9EBD7C07-CAF6-67C5-191C-675E017D7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2827B0-6DCF-7C40-AAD0-CEDA440EE938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fr-FR" altLang="fr-FR" sz="1400"/>
          </a:p>
        </p:txBody>
      </p:sp>
      <p:sp>
        <p:nvSpPr>
          <p:cNvPr id="17410" name="Text Box 2">
            <a:extLst>
              <a:ext uri="{FF2B5EF4-FFF2-40B4-BE49-F238E27FC236}">
                <a16:creationId xmlns:a16="http://schemas.microsoft.com/office/drawing/2014/main" id="{88E79E46-9275-209E-EB3C-992A0001C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96888" y="2898321"/>
            <a:ext cx="8610600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r-FR" altLang="fr-FR" sz="2800" b="1">
              <a:solidFill>
                <a:srgbClr val="0033CC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fr-FR" altLang="fr-FR" sz="2800" b="1">
              <a:solidFill>
                <a:srgbClr val="0033CC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fr-FR" altLang="fr-FR" sz="2800" b="1">
              <a:solidFill>
                <a:srgbClr val="0033CC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fr-FR" altLang="fr-FR" sz="2800" b="1">
              <a:solidFill>
                <a:srgbClr val="0033CC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fr-FR" altLang="fr-FR" sz="2800" b="1">
              <a:solidFill>
                <a:srgbClr val="0033CC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fr-FR" altLang="fr-FR" sz="2800" b="1">
              <a:solidFill>
                <a:srgbClr val="0033CC"/>
              </a:solidFill>
            </a:endParaRPr>
          </a:p>
        </p:txBody>
      </p:sp>
      <p:sp>
        <p:nvSpPr>
          <p:cNvPr id="259075" name="Text Box 3">
            <a:extLst>
              <a:ext uri="{FF2B5EF4-FFF2-40B4-BE49-F238E27FC236}">
                <a16:creationId xmlns:a16="http://schemas.microsoft.com/office/drawing/2014/main" id="{AFD060DF-76C5-6BFC-B944-0E82F3B5F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28600"/>
            <a:ext cx="8509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fr-FR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SUMMARY (4A)</a:t>
            </a:r>
            <a:endParaRPr lang="fr-FR" sz="3200" b="1" dirty="0"/>
          </a:p>
        </p:txBody>
      </p:sp>
      <p:sp>
        <p:nvSpPr>
          <p:cNvPr id="259076" name="Text Box 4">
            <a:extLst>
              <a:ext uri="{FF2B5EF4-FFF2-40B4-BE49-F238E27FC236}">
                <a16:creationId xmlns:a16="http://schemas.microsoft.com/office/drawing/2014/main" id="{B789E1A9-8C15-FEB6-09A2-E05E7A2EF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6" y="1340768"/>
            <a:ext cx="8702675" cy="584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r>
              <a:rPr lang="fr-FR" alt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I- Introduction and </a:t>
            </a:r>
            <a:r>
              <a:rPr lang="fr-FR" altLang="fr-FR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Terminology</a:t>
            </a:r>
            <a:endParaRPr lang="fr-FR" altLang="fr-FR" sz="32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9077" name="Text Box 5">
            <a:extLst>
              <a:ext uri="{FF2B5EF4-FFF2-40B4-BE49-F238E27FC236}">
                <a16:creationId xmlns:a16="http://schemas.microsoft.com/office/drawing/2014/main" id="{8B07F7C3-9D66-9B52-5FC2-42B1812DC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7239" y="5282976"/>
            <a:ext cx="6357253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fr-FR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III- Focus on </a:t>
            </a:r>
            <a:r>
              <a:rPr lang="fr-FR" sz="28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Artificial</a:t>
            </a:r>
            <a:r>
              <a:rPr lang="fr-FR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 Neural Networks</a:t>
            </a:r>
            <a:endParaRPr lang="fr-FR" sz="3600" b="1" dirty="0">
              <a:solidFill>
                <a:srgbClr val="FF0000"/>
              </a:solidFill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259078" name="Text Box 6">
            <a:extLst>
              <a:ext uri="{FF2B5EF4-FFF2-40B4-BE49-F238E27FC236}">
                <a16:creationId xmlns:a16="http://schemas.microsoft.com/office/drawing/2014/main" id="{9E24293B-3BB7-B33D-DA3B-48CEB5126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9" y="2078956"/>
            <a:ext cx="5335115" cy="31085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r>
              <a:rPr lang="fr-FR" altLang="fr-FR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II- Machine Learning</a:t>
            </a:r>
          </a:p>
          <a:p>
            <a:pPr>
              <a:defRPr/>
            </a:pPr>
            <a:r>
              <a:rPr lang="fr-FR" altLang="fr-FR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 II-1 </a:t>
            </a:r>
            <a:r>
              <a:rPr lang="fr-FR" altLang="fr-FR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Unsupervised</a:t>
            </a:r>
            <a:r>
              <a:rPr lang="fr-FR" altLang="fr-FR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 altLang="fr-FR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learning</a:t>
            </a:r>
            <a:endParaRPr lang="fr-FR" altLang="fr-FR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r>
              <a:rPr lang="fr-FR" altLang="fr-FR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	Clustering</a:t>
            </a:r>
          </a:p>
          <a:p>
            <a:pPr>
              <a:defRPr/>
            </a:pPr>
            <a:r>
              <a:rPr lang="fr-FR" altLang="fr-FR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	Dimension Reduction</a:t>
            </a:r>
          </a:p>
          <a:p>
            <a:pPr>
              <a:defRPr/>
            </a:pPr>
            <a:r>
              <a:rPr lang="fr-FR" altLang="fr-FR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 II-2 </a:t>
            </a:r>
            <a:r>
              <a:rPr lang="fr-FR" altLang="fr-FR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Supervised</a:t>
            </a:r>
            <a:r>
              <a:rPr lang="fr-FR" altLang="fr-FR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fr-FR" altLang="fr-FR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learning</a:t>
            </a:r>
            <a:endParaRPr lang="fr-FR" altLang="fr-FR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r>
              <a:rPr lang="fr-FR" altLang="fr-FR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	Classification</a:t>
            </a:r>
          </a:p>
          <a:p>
            <a:pPr>
              <a:defRPr/>
            </a:pPr>
            <a:r>
              <a:rPr lang="fr-FR" altLang="fr-FR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	</a:t>
            </a:r>
            <a:r>
              <a:rPr lang="fr-FR" altLang="fr-FR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Regression</a:t>
            </a:r>
            <a:endParaRPr lang="fr-FR" altLang="fr-FR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8" name="Espace réservé du pied de page 2">
            <a:extLst>
              <a:ext uri="{FF2B5EF4-FFF2-40B4-BE49-F238E27FC236}">
                <a16:creationId xmlns:a16="http://schemas.microsoft.com/office/drawing/2014/main" id="{A06C85B3-0F75-8738-DDAE-E28C4E961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/>
              <a:t>Outils pour l'Intelligence Artificielle</a:t>
            </a:r>
            <a:endParaRPr lang="fr-FR" altLang="fr-FR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BC44-01E0-2B12-65BA-ED3038F2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ZoneTexte 2">
            <a:extLst>
              <a:ext uri="{FF2B5EF4-FFF2-40B4-BE49-F238E27FC236}">
                <a16:creationId xmlns:a16="http://schemas.microsoft.com/office/drawing/2014/main" id="{B7E04DD3-0981-381F-8166-7127B0C4C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430" y="0"/>
            <a:ext cx="44726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 dirty="0">
                <a:solidFill>
                  <a:srgbClr val="FF0000"/>
                </a:solidFill>
              </a:rPr>
              <a:t>II-1 </a:t>
            </a:r>
            <a:r>
              <a:rPr lang="fr-FR" altLang="fr-FR" sz="2800" b="1" dirty="0" err="1">
                <a:solidFill>
                  <a:srgbClr val="FF0000"/>
                </a:solidFill>
              </a:rPr>
              <a:t>Unsurpervised</a:t>
            </a:r>
            <a:r>
              <a:rPr lang="fr-FR" altLang="fr-FR" sz="2800" b="1" dirty="0">
                <a:solidFill>
                  <a:srgbClr val="FF0000"/>
                </a:solidFill>
              </a:rPr>
              <a:t> </a:t>
            </a:r>
            <a:r>
              <a:rPr lang="fr-FR" altLang="fr-FR" sz="2800" b="1" dirty="0" err="1">
                <a:solidFill>
                  <a:srgbClr val="FF0000"/>
                </a:solidFill>
              </a:rPr>
              <a:t>learning</a:t>
            </a:r>
            <a:endParaRPr lang="fr-FR" altLang="fr-FR" sz="2800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CE416D9-B33E-4F6F-A9C4-856D6D021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7550" y="6150835"/>
            <a:ext cx="3136900" cy="457200"/>
          </a:xfrm>
        </p:spPr>
        <p:txBody>
          <a:bodyPr/>
          <a:lstStyle/>
          <a:p>
            <a:pPr>
              <a:defRPr/>
            </a:pPr>
            <a:r>
              <a:rPr lang="fr-FR" dirty="0"/>
              <a:t>Outils pour l'Intelligence Artificielle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575D78-50A8-80F4-DAA9-A9C1D4A8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677D44-2BD0-0041-9F26-D73852E1C66C}" type="slidenum">
              <a:rPr lang="fr-FR" altLang="fr-FR" smtClean="0"/>
              <a:pPr>
                <a:defRPr/>
              </a:pPr>
              <a:t>4</a:t>
            </a:fld>
            <a:endParaRPr lang="fr-FR" alt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C1F997-8FDE-B876-8A54-24A060222ED3}"/>
              </a:ext>
            </a:extLst>
          </p:cNvPr>
          <p:cNvSpPr txBox="1"/>
          <p:nvPr/>
        </p:nvSpPr>
        <p:spPr>
          <a:xfrm>
            <a:off x="1343472" y="712134"/>
            <a:ext cx="9361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Algorithms that analyze data without labels or a target variable in order to automatically discover its structure, organization, or hidden relationships (such as clusters, latent components, or distribution).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Customer segmentation</a:t>
            </a:r>
            <a:r>
              <a:rPr lang="en-US" dirty="0"/>
              <a:t>: Which groups of customers exhibit similar purchasing behaviors in order to personalize marketing offers?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Anomaly detection</a:t>
            </a:r>
            <a:r>
              <a:rPr lang="en-US" dirty="0"/>
              <a:t>: Which files or financial transactions appear unusual and could indicate fraud or technical issues?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Dimensionality reduction for visualization</a:t>
            </a:r>
            <a:r>
              <a:rPr lang="en-US" dirty="0"/>
              <a:t>: How can complex data, such as images or genetic sequences, be represented in two or three dimensions to explore their structure?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Topic analysis in text</a:t>
            </a:r>
            <a:r>
              <a:rPr lang="en-US" dirty="0"/>
              <a:t>: What topics or themes automatically emerge from a large corpus of articles or customer reviews?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Discovery of relationships between variables</a:t>
            </a:r>
            <a:r>
              <a:rPr lang="en-US" dirty="0"/>
              <a:t>: Are there hidden patterns or groups of highly correlated variables in scientific or industrial measurements?</a:t>
            </a:r>
          </a:p>
          <a:p>
            <a:pPr algn="just"/>
            <a:endParaRPr lang="en-US" dirty="0">
              <a:latin typeface="+mj-lt"/>
              <a:cs typeface="Arial" panose="020B0604020202020204" pitchFamily="34" charset="0"/>
            </a:endParaRPr>
          </a:p>
          <a:p>
            <a:pPr algn="just"/>
            <a:endParaRPr lang="fr-FR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071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BC44-01E0-2B12-65BA-ED3038F2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ZoneTexte 2">
            <a:extLst>
              <a:ext uri="{FF2B5EF4-FFF2-40B4-BE49-F238E27FC236}">
                <a16:creationId xmlns:a16="http://schemas.microsoft.com/office/drawing/2014/main" id="{B7E04DD3-0981-381F-8166-7127B0C4C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430" y="0"/>
            <a:ext cx="27687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 dirty="0">
                <a:solidFill>
                  <a:srgbClr val="FF0000"/>
                </a:solidFill>
              </a:rPr>
              <a:t>II-1-1 Clustering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CE416D9-B33E-4F6F-A9C4-856D6D021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7550" y="6150835"/>
            <a:ext cx="3136900" cy="457200"/>
          </a:xfrm>
        </p:spPr>
        <p:txBody>
          <a:bodyPr/>
          <a:lstStyle/>
          <a:p>
            <a:pPr>
              <a:defRPr/>
            </a:pPr>
            <a:r>
              <a:rPr lang="fr-FR" dirty="0"/>
              <a:t>Outils pour l'Intelligence Artificielle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575D78-50A8-80F4-DAA9-A9C1D4A8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677D44-2BD0-0041-9F26-D73852E1C66C}" type="slidenum">
              <a:rPr lang="fr-FR" altLang="fr-FR" smtClean="0"/>
              <a:pPr>
                <a:defRPr/>
              </a:pPr>
              <a:t>5</a:t>
            </a:fld>
            <a:endParaRPr lang="fr-FR" alt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C1F997-8FDE-B876-8A54-24A060222ED3}"/>
              </a:ext>
            </a:extLst>
          </p:cNvPr>
          <p:cNvSpPr txBox="1"/>
          <p:nvPr/>
        </p:nvSpPr>
        <p:spPr>
          <a:xfrm>
            <a:off x="1343472" y="712134"/>
            <a:ext cx="9361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+mj-lt"/>
                <a:cs typeface="Arial" panose="020B0604020202020204" pitchFamily="34" charset="0"/>
              </a:rPr>
              <a:t>Clustering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is</a:t>
            </a:r>
            <a:r>
              <a:rPr lang="fr-FR" dirty="0">
                <a:latin typeface="+mj-lt"/>
                <a:cs typeface="Arial" panose="020B0604020202020204" pitchFamily="34" charset="0"/>
              </a:rPr>
              <a:t> a type of </a:t>
            </a:r>
            <a:r>
              <a:rPr lang="fr-FR" b="1" dirty="0" err="1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unsupervised</a:t>
            </a:r>
            <a:r>
              <a:rPr lang="fr-FR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fr-FR" b="1" dirty="0" err="1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learning</a:t>
            </a:r>
            <a:r>
              <a:rPr lang="fr-FR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where</a:t>
            </a:r>
            <a:r>
              <a:rPr lang="fr-FR" dirty="0">
                <a:latin typeface="+mj-lt"/>
                <a:cs typeface="Arial" panose="020B0604020202020204" pitchFamily="34" charset="0"/>
              </a:rPr>
              <a:t> the goal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is</a:t>
            </a:r>
            <a:r>
              <a:rPr lang="fr-FR" dirty="0">
                <a:latin typeface="+mj-lt"/>
                <a:cs typeface="Arial" panose="020B0604020202020204" pitchFamily="34" charset="0"/>
              </a:rPr>
              <a:t> to group a set of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objects</a:t>
            </a:r>
            <a:r>
              <a:rPr lang="fr-FR" dirty="0">
                <a:latin typeface="+mj-lt"/>
                <a:cs typeface="Arial" panose="020B0604020202020204" pitchFamily="34" charset="0"/>
              </a:rPr>
              <a:t> in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such</a:t>
            </a:r>
            <a:r>
              <a:rPr lang="fr-FR" dirty="0">
                <a:latin typeface="+mj-lt"/>
                <a:cs typeface="Arial" panose="020B0604020202020204" pitchFamily="34" charset="0"/>
              </a:rPr>
              <a:t> a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way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that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b="1" dirty="0" err="1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objects</a:t>
            </a:r>
            <a:r>
              <a:rPr lang="fr-FR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 in the </a:t>
            </a:r>
            <a:r>
              <a:rPr lang="fr-FR" b="1" dirty="0" err="1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same</a:t>
            </a:r>
            <a:r>
              <a:rPr lang="fr-FR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 group (or cluster) are more </a:t>
            </a:r>
            <a:r>
              <a:rPr lang="fr-FR" b="1" dirty="0" err="1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similar</a:t>
            </a:r>
            <a:r>
              <a:rPr lang="fr-FR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 to </a:t>
            </a:r>
            <a:r>
              <a:rPr lang="fr-FR" b="1" dirty="0" err="1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each</a:t>
            </a:r>
            <a:r>
              <a:rPr lang="fr-FR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fr-FR" b="1" dirty="0" err="1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other</a:t>
            </a:r>
            <a:r>
              <a:rPr lang="fr-FR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than</a:t>
            </a:r>
            <a:r>
              <a:rPr lang="fr-FR" dirty="0">
                <a:latin typeface="+mj-lt"/>
                <a:cs typeface="Arial" panose="020B0604020202020204" pitchFamily="34" charset="0"/>
              </a:rPr>
              <a:t> to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those</a:t>
            </a:r>
            <a:r>
              <a:rPr lang="fr-FR" dirty="0">
                <a:latin typeface="+mj-lt"/>
                <a:cs typeface="Arial" panose="020B0604020202020204" pitchFamily="34" charset="0"/>
              </a:rPr>
              <a:t> in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other</a:t>
            </a:r>
            <a:r>
              <a:rPr lang="fr-FR" dirty="0">
                <a:latin typeface="+mj-lt"/>
                <a:cs typeface="Arial" panose="020B0604020202020204" pitchFamily="34" charset="0"/>
              </a:rPr>
              <a:t> groups. The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idea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is</a:t>
            </a:r>
            <a:r>
              <a:rPr lang="fr-FR" dirty="0">
                <a:latin typeface="+mj-lt"/>
                <a:cs typeface="Arial" panose="020B0604020202020204" pitchFamily="34" charset="0"/>
              </a:rPr>
              <a:t> to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find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inherent</a:t>
            </a:r>
            <a:r>
              <a:rPr lang="fr-FR" dirty="0">
                <a:latin typeface="+mj-lt"/>
                <a:cs typeface="Arial" panose="020B0604020202020204" pitchFamily="34" charset="0"/>
              </a:rPr>
              <a:t> structures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within</a:t>
            </a:r>
            <a:r>
              <a:rPr lang="fr-FR" dirty="0">
                <a:latin typeface="+mj-lt"/>
                <a:cs typeface="Arial" panose="020B0604020202020204" pitchFamily="34" charset="0"/>
              </a:rPr>
              <a:t> data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based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solely</a:t>
            </a:r>
            <a:r>
              <a:rPr lang="fr-FR" dirty="0">
                <a:latin typeface="+mj-lt"/>
                <a:cs typeface="Arial" panose="020B0604020202020204" pitchFamily="34" charset="0"/>
              </a:rPr>
              <a:t> on the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features</a:t>
            </a:r>
            <a:r>
              <a:rPr lang="fr-FR" dirty="0">
                <a:latin typeface="+mj-lt"/>
                <a:cs typeface="Arial" panose="020B0604020202020204" pitchFamily="34" charset="0"/>
              </a:rPr>
              <a:t> of the data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without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any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labeled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outcomes</a:t>
            </a:r>
            <a:r>
              <a:rPr lang="fr-FR" dirty="0">
                <a:latin typeface="+mj-lt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65B72FC-B112-16CD-BB27-36C313D3A037}"/>
              </a:ext>
            </a:extLst>
          </p:cNvPr>
          <p:cNvSpPr txBox="1"/>
          <p:nvPr/>
        </p:nvSpPr>
        <p:spPr>
          <a:xfrm>
            <a:off x="1589367" y="2276873"/>
            <a:ext cx="453314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Warning !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Different</a:t>
            </a:r>
            <a:r>
              <a:rPr lang="fr-FR" dirty="0">
                <a:latin typeface="+mj-lt"/>
                <a:cs typeface="Arial" panose="020B0604020202020204" pitchFamily="34" charset="0"/>
              </a:rPr>
              <a:t> clustering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algorithms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with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different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parameters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would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detect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different</a:t>
            </a:r>
            <a:r>
              <a:rPr lang="fr-FR" dirty="0">
                <a:latin typeface="+mj-lt"/>
                <a:cs typeface="Arial" panose="020B0604020202020204" pitchFamily="34" charset="0"/>
              </a:rPr>
              <a:t> cluster configurations.</a:t>
            </a:r>
          </a:p>
          <a:p>
            <a:pPr algn="just"/>
            <a:endParaRPr lang="fr-FR" dirty="0">
              <a:latin typeface="+mj-lt"/>
              <a:cs typeface="Arial" panose="020B0604020202020204" pitchFamily="34" charset="0"/>
            </a:endParaRPr>
          </a:p>
          <a:p>
            <a:pPr algn="just"/>
            <a:r>
              <a:rPr lang="fr-FR" b="1" dirty="0">
                <a:latin typeface="+mj-lt"/>
                <a:cs typeface="Arial" panose="020B0604020202020204" pitchFamily="34" charset="0"/>
              </a:rPr>
              <a:t>Question</a:t>
            </a:r>
            <a:r>
              <a:rPr lang="fr-FR" dirty="0">
                <a:latin typeface="+mj-lt"/>
                <a:cs typeface="Arial" panose="020B0604020202020204" pitchFamily="34" charset="0"/>
              </a:rPr>
              <a:t> :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what</a:t>
            </a:r>
            <a:r>
              <a:rPr lang="fr-FR" dirty="0">
                <a:latin typeface="+mj-lt"/>
                <a:cs typeface="Arial" panose="020B0604020202020204" pitchFamily="34" charset="0"/>
              </a:rPr>
              <a:t> are the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categories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inside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this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dataset</a:t>
            </a:r>
            <a:r>
              <a:rPr lang="fr-FR" dirty="0">
                <a:latin typeface="+mj-lt"/>
                <a:cs typeface="Arial" panose="020B0604020202020204" pitchFamily="34" charset="0"/>
              </a:rPr>
              <a:t> ?</a:t>
            </a:r>
          </a:p>
          <a:p>
            <a:pPr algn="just"/>
            <a:r>
              <a:rPr lang="fr-FR" b="1" dirty="0" err="1">
                <a:latin typeface="+mj-lt"/>
                <a:cs typeface="Arial" panose="020B0604020202020204" pitchFamily="34" charset="0"/>
              </a:rPr>
              <a:t>Reply</a:t>
            </a:r>
            <a:r>
              <a:rPr lang="fr-FR" dirty="0">
                <a:latin typeface="+mj-lt"/>
                <a:cs typeface="Arial" panose="020B0604020202020204" pitchFamily="34" charset="0"/>
              </a:rPr>
              <a:t> :  </a:t>
            </a:r>
          </a:p>
          <a:p>
            <a:pPr marL="457200" indent="-457200" algn="just">
              <a:buAutoNum type="arabicParenR"/>
            </a:pPr>
            <a:r>
              <a:rPr lang="fr-FR" dirty="0" err="1">
                <a:latin typeface="+mj-lt"/>
                <a:cs typeface="Arial" panose="020B0604020202020204" pitchFamily="34" charset="0"/>
              </a:rPr>
              <a:t>Aplying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this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algorithm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with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these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parameters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give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this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result</a:t>
            </a:r>
            <a:r>
              <a:rPr lang="fr-FR" dirty="0">
                <a:latin typeface="+mj-lt"/>
                <a:cs typeface="Arial" panose="020B0604020202020204" pitchFamily="34" charset="0"/>
              </a:rPr>
              <a:t>.</a:t>
            </a:r>
          </a:p>
          <a:p>
            <a:pPr marL="457200" indent="-457200" algn="just">
              <a:buAutoNum type="arabicParenR"/>
            </a:pPr>
            <a:r>
              <a:rPr lang="fr-FR" dirty="0">
                <a:latin typeface="+mj-lt"/>
                <a:cs typeface="Arial" panose="020B0604020202020204" pitchFamily="34" charset="0"/>
              </a:rPr>
              <a:t> On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this</a:t>
            </a:r>
            <a:r>
              <a:rPr lang="fr-FR" dirty="0">
                <a:latin typeface="+mj-lt"/>
                <a:cs typeface="Arial" panose="020B0604020202020204" pitchFamily="34" charset="0"/>
              </a:rPr>
              <a:t> base,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this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would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mean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that</a:t>
            </a:r>
            <a:r>
              <a:rPr lang="fr-FR" dirty="0">
                <a:latin typeface="+mj-lt"/>
                <a:cs typeface="Arial" panose="020B0604020202020204" pitchFamily="34" charset="0"/>
              </a:rPr>
              <a:t> the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dataset</a:t>
            </a:r>
            <a:r>
              <a:rPr lang="fr-FR" dirty="0">
                <a:latin typeface="+mj-lt"/>
                <a:cs typeface="Arial" panose="020B0604020202020204" pitchFamily="34" charset="0"/>
              </a:rPr>
              <a:t> can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be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segmented</a:t>
            </a:r>
            <a:r>
              <a:rPr lang="fr-FR" dirty="0">
                <a:latin typeface="+mj-lt"/>
                <a:cs typeface="Arial" panose="020B0604020202020204" pitchFamily="34" charset="0"/>
              </a:rPr>
              <a:t> as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follows</a:t>
            </a:r>
            <a:r>
              <a:rPr lang="fr-FR" dirty="0">
                <a:latin typeface="+mj-lt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E303E4-1DB5-0CD8-A82C-C08EDFF2A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032" y="2706442"/>
            <a:ext cx="4448770" cy="2926512"/>
          </a:xfrm>
          <a:prstGeom prst="rect">
            <a:avLst/>
          </a:prstGeom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14C8224F-3B19-EE49-0667-C86C9C9CD7C1}"/>
              </a:ext>
            </a:extLst>
          </p:cNvPr>
          <p:cNvGrpSpPr/>
          <p:nvPr/>
        </p:nvGrpSpPr>
        <p:grpSpPr>
          <a:xfrm>
            <a:off x="7762616" y="2823036"/>
            <a:ext cx="1285713" cy="1161420"/>
            <a:chOff x="3595279" y="3429000"/>
            <a:chExt cx="1285713" cy="1161420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0ADB0A99-CD58-D960-A005-03A3F864C289}"/>
                </a:ext>
              </a:extLst>
            </p:cNvPr>
            <p:cNvSpPr/>
            <p:nvPr/>
          </p:nvSpPr>
          <p:spPr bwMode="auto">
            <a:xfrm>
              <a:off x="3656856" y="3429000"/>
              <a:ext cx="1224136" cy="864096"/>
            </a:xfrm>
            <a:prstGeom prst="ellipse">
              <a:avLst/>
            </a:prstGeom>
            <a:noFill/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fr-FR" sz="2000">
                <a:latin typeface="Times New Roman" charset="0"/>
              </a:endParaRP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77BF3367-2FC8-E5D0-6E4C-C40F5DA06E12}"/>
                </a:ext>
              </a:extLst>
            </p:cNvPr>
            <p:cNvSpPr txBox="1"/>
            <p:nvPr/>
          </p:nvSpPr>
          <p:spPr>
            <a:xfrm>
              <a:off x="3595279" y="4221088"/>
              <a:ext cx="1134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rgbClr val="FF0000"/>
                  </a:solidFill>
                </a:rPr>
                <a:t>Cluster #1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0183D1EF-E5A0-A23A-BF32-5B1889E52A89}"/>
              </a:ext>
            </a:extLst>
          </p:cNvPr>
          <p:cNvGrpSpPr/>
          <p:nvPr/>
        </p:nvGrpSpPr>
        <p:grpSpPr>
          <a:xfrm>
            <a:off x="9264353" y="3468310"/>
            <a:ext cx="1473819" cy="1340172"/>
            <a:chOff x="3407173" y="3429000"/>
            <a:chExt cx="1473819" cy="1340172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1A154C18-7CB0-0965-4F0A-8C8FBD42DBB3}"/>
                </a:ext>
              </a:extLst>
            </p:cNvPr>
            <p:cNvSpPr/>
            <p:nvPr/>
          </p:nvSpPr>
          <p:spPr bwMode="auto">
            <a:xfrm>
              <a:off x="3407173" y="3429000"/>
              <a:ext cx="1473819" cy="1010910"/>
            </a:xfrm>
            <a:prstGeom prst="ellipse">
              <a:avLst/>
            </a:prstGeom>
            <a:noFill/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fr-FR" sz="2000">
                <a:latin typeface="Times New Roman" charset="0"/>
              </a:endParaRP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B4787FF-0A0E-DAEF-40F3-15D29853DE6E}"/>
                </a:ext>
              </a:extLst>
            </p:cNvPr>
            <p:cNvSpPr txBox="1"/>
            <p:nvPr/>
          </p:nvSpPr>
          <p:spPr>
            <a:xfrm>
              <a:off x="3479181" y="4399840"/>
              <a:ext cx="1134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rgbClr val="FF0000"/>
                  </a:solidFill>
                </a:rPr>
                <a:t>Cluster #2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8050DAE0-CE66-DF10-7568-0A3E2C399985}"/>
              </a:ext>
            </a:extLst>
          </p:cNvPr>
          <p:cNvGrpSpPr/>
          <p:nvPr/>
        </p:nvGrpSpPr>
        <p:grpSpPr>
          <a:xfrm>
            <a:off x="6824827" y="4215690"/>
            <a:ext cx="1605356" cy="1127629"/>
            <a:chOff x="3656856" y="3234380"/>
            <a:chExt cx="1224136" cy="846355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07E6E1F2-D621-B28D-A30C-2DE47DC0DFCB}"/>
                </a:ext>
              </a:extLst>
            </p:cNvPr>
            <p:cNvSpPr/>
            <p:nvPr/>
          </p:nvSpPr>
          <p:spPr bwMode="auto">
            <a:xfrm>
              <a:off x="3656856" y="3519687"/>
              <a:ext cx="1224136" cy="561048"/>
            </a:xfrm>
            <a:prstGeom prst="ellipse">
              <a:avLst/>
            </a:prstGeom>
            <a:noFill/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fr-FR" sz="2000">
                <a:latin typeface="Times New Roman" charset="0"/>
              </a:endParaRP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0CCC0435-7266-7297-A833-3072C5609CA6}"/>
                </a:ext>
              </a:extLst>
            </p:cNvPr>
            <p:cNvSpPr txBox="1"/>
            <p:nvPr/>
          </p:nvSpPr>
          <p:spPr>
            <a:xfrm>
              <a:off x="3772275" y="3234380"/>
              <a:ext cx="865223" cy="2772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rgbClr val="FF0000"/>
                  </a:solidFill>
                </a:rPr>
                <a:t>Cluster #3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975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BC44-01E0-2B12-65BA-ED3038F2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ZoneTexte 2">
            <a:extLst>
              <a:ext uri="{FF2B5EF4-FFF2-40B4-BE49-F238E27FC236}">
                <a16:creationId xmlns:a16="http://schemas.microsoft.com/office/drawing/2014/main" id="{B7E04DD3-0981-381F-8166-7127B0C4C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430" y="0"/>
            <a:ext cx="27687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 dirty="0">
                <a:solidFill>
                  <a:srgbClr val="FF0000"/>
                </a:solidFill>
              </a:rPr>
              <a:t>II-1-1 Clustering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CE416D9-B33E-4F6F-A9C4-856D6D021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Outils pour l'Intelligence Artificielle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575D78-50A8-80F4-DAA9-A9C1D4A8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677D44-2BD0-0041-9F26-D73852E1C66C}" type="slidenum">
              <a:rPr lang="fr-FR" altLang="fr-FR" smtClean="0"/>
              <a:pPr>
                <a:defRPr/>
              </a:pPr>
              <a:t>6</a:t>
            </a:fld>
            <a:endParaRPr lang="fr-FR" alt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C1F997-8FDE-B876-8A54-24A060222ED3}"/>
              </a:ext>
            </a:extLst>
          </p:cNvPr>
          <p:cNvSpPr txBox="1"/>
          <p:nvPr/>
        </p:nvSpPr>
        <p:spPr>
          <a:xfrm>
            <a:off x="1343472" y="712133"/>
            <a:ext cx="936104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+mj-lt"/>
                <a:cs typeface="Arial" panose="020B0604020202020204" pitchFamily="34" charset="0"/>
              </a:rPr>
              <a:t>Four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algorithms</a:t>
            </a:r>
            <a:r>
              <a:rPr lang="fr-FR" dirty="0">
                <a:latin typeface="+mj-lt"/>
                <a:cs typeface="Arial" panose="020B0604020202020204" pitchFamily="34" charset="0"/>
              </a:rPr>
              <a:t> to know :</a:t>
            </a:r>
          </a:p>
          <a:p>
            <a:pPr algn="just"/>
            <a:endParaRPr lang="fr-FR" dirty="0">
              <a:latin typeface="+mj-lt"/>
              <a:cs typeface="Arial" panose="020B0604020202020204" pitchFamily="34" charset="0"/>
            </a:endParaRPr>
          </a:p>
          <a:p>
            <a:pPr algn="just"/>
            <a:r>
              <a:rPr lang="fr-FR" b="1" dirty="0">
                <a:latin typeface="+mj-lt"/>
                <a:cs typeface="Arial" panose="020B0604020202020204" pitchFamily="34" charset="0"/>
              </a:rPr>
              <a:t>	a. </a:t>
            </a:r>
            <a:r>
              <a:rPr lang="en-US" b="1" dirty="0">
                <a:latin typeface="+mj-lt"/>
              </a:rPr>
              <a:t>K-means</a:t>
            </a:r>
          </a:p>
          <a:p>
            <a:pPr algn="just"/>
            <a:r>
              <a:rPr lang="fr-FR" dirty="0">
                <a:latin typeface="+mj-lt"/>
              </a:rPr>
              <a:t>Algorithme de partitionnement qui regroupe les données en K clusters en minimisant la variance intra-cluster, chaque groupe étant représenté par son centroïde (moyenne).</a:t>
            </a:r>
            <a:endParaRPr lang="en-US" dirty="0">
              <a:latin typeface="+mj-lt"/>
            </a:endParaRPr>
          </a:p>
          <a:p>
            <a:pPr algn="just"/>
            <a:endParaRPr lang="en-US" b="1" dirty="0">
              <a:latin typeface="+mj-lt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+mj-lt"/>
                <a:cs typeface="Arial" panose="020B0604020202020204" pitchFamily="34" charset="0"/>
              </a:rPr>
              <a:t>	b. </a:t>
            </a:r>
            <a:r>
              <a:rPr lang="en-US" b="1" dirty="0">
                <a:latin typeface="+mj-lt"/>
              </a:rPr>
              <a:t>Gaussian mixture model (GMM)</a:t>
            </a:r>
          </a:p>
          <a:p>
            <a:pPr algn="just"/>
            <a:r>
              <a:rPr lang="fr-FR" dirty="0"/>
              <a:t>Modèle de clustering probabiliste qui représente les données comme un mélange pondéré de plusieurs distributions gaussiennes, chaque observation étant décrite par une probabilité d’appartenance à chaque cluster plutôt qu’une affectation stricte.</a:t>
            </a:r>
          </a:p>
          <a:p>
            <a:pPr algn="just"/>
            <a:endParaRPr lang="fr-FR" dirty="0"/>
          </a:p>
          <a:p>
            <a:pPr algn="just"/>
            <a:r>
              <a:rPr lang="en-US" b="1" dirty="0">
                <a:cs typeface="Arial" panose="020B0604020202020204" pitchFamily="34" charset="0"/>
              </a:rPr>
              <a:t>	c. </a:t>
            </a:r>
            <a:r>
              <a:rPr lang="en-US" b="1" dirty="0"/>
              <a:t>Hierarchical clustering (CAH)</a:t>
            </a:r>
          </a:p>
          <a:p>
            <a:pPr algn="just"/>
            <a:r>
              <a:rPr lang="fr-FR" dirty="0"/>
              <a:t>Méthode hiérarchique qui construit récursivement une arborescence de clusters (dendrogramme) en fusionnant progressivement les groupes les plus proches selon une mesure de distance.</a:t>
            </a:r>
          </a:p>
          <a:p>
            <a:pPr algn="just"/>
            <a:endParaRPr lang="en-US" dirty="0">
              <a:latin typeface="+mj-lt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+mj-lt"/>
                <a:cs typeface="Arial" panose="020B0604020202020204" pitchFamily="34" charset="0"/>
              </a:rPr>
              <a:t>	d. </a:t>
            </a:r>
            <a:r>
              <a:rPr lang="en-US" b="1" dirty="0">
                <a:latin typeface="+mj-lt"/>
              </a:rPr>
              <a:t>DBSCAN</a:t>
            </a:r>
          </a:p>
          <a:p>
            <a:pPr algn="just"/>
            <a:r>
              <a:rPr lang="fr-FR" dirty="0">
                <a:latin typeface="+mj-lt"/>
              </a:rPr>
              <a:t>Algorithme basé sur la densité locale qui forme des clusters comme des régions denses de points connectés et identifie automatiquement les points isolés comme du bruit (</a:t>
            </a:r>
            <a:r>
              <a:rPr lang="fr-FR" dirty="0" err="1">
                <a:latin typeface="+mj-lt"/>
              </a:rPr>
              <a:t>outliers</a:t>
            </a:r>
            <a:r>
              <a:rPr lang="fr-FR" dirty="0">
                <a:latin typeface="+mj-lt"/>
              </a:rPr>
              <a:t>).</a:t>
            </a:r>
            <a:endParaRPr lang="en-US" dirty="0">
              <a:latin typeface="+mj-lt"/>
              <a:cs typeface="Arial" panose="020B0604020202020204" pitchFamily="34" charset="0"/>
            </a:endParaRPr>
          </a:p>
          <a:p>
            <a:pPr algn="just"/>
            <a:endParaRPr lang="en-US" b="1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674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BC44-01E0-2B12-65BA-ED3038F2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ZoneTexte 2">
            <a:extLst>
              <a:ext uri="{FF2B5EF4-FFF2-40B4-BE49-F238E27FC236}">
                <a16:creationId xmlns:a16="http://schemas.microsoft.com/office/drawing/2014/main" id="{B7E04DD3-0981-381F-8166-7127B0C4C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429" y="0"/>
            <a:ext cx="43492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 dirty="0">
                <a:solidFill>
                  <a:srgbClr val="FF0000"/>
                </a:solidFill>
              </a:rPr>
              <a:t>II-1-2 Dimension </a:t>
            </a:r>
            <a:r>
              <a:rPr lang="fr-FR" altLang="fr-FR" sz="2800" b="1" dirty="0" err="1">
                <a:solidFill>
                  <a:srgbClr val="FF0000"/>
                </a:solidFill>
              </a:rPr>
              <a:t>reduction</a:t>
            </a:r>
            <a:endParaRPr lang="fr-FR" altLang="fr-FR" sz="2800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CE416D9-B33E-4F6F-A9C4-856D6D021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7550" y="6150835"/>
            <a:ext cx="3136900" cy="457200"/>
          </a:xfrm>
        </p:spPr>
        <p:txBody>
          <a:bodyPr/>
          <a:lstStyle/>
          <a:p>
            <a:pPr>
              <a:defRPr/>
            </a:pPr>
            <a:r>
              <a:rPr lang="fr-FR" dirty="0"/>
              <a:t>Outils pour l'Intelligence Artificielle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575D78-50A8-80F4-DAA9-A9C1D4A8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677D44-2BD0-0041-9F26-D73852E1C66C}" type="slidenum">
              <a:rPr lang="fr-FR" altLang="fr-FR" smtClean="0"/>
              <a:pPr>
                <a:defRPr/>
              </a:pPr>
              <a:t>7</a:t>
            </a:fld>
            <a:endParaRPr lang="fr-FR" alt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C1F997-8FDE-B876-8A54-24A060222ED3}"/>
              </a:ext>
            </a:extLst>
          </p:cNvPr>
          <p:cNvSpPr txBox="1"/>
          <p:nvPr/>
        </p:nvSpPr>
        <p:spPr>
          <a:xfrm>
            <a:off x="1343472" y="712134"/>
            <a:ext cx="9361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Dimensionality reduction is a technique used to simplify datasets by projecting them into a lower-dimensional space while keeping the most important information. The goal is to make the data easier to visualize, analyze, or feed into other algorithms, without losing key patterns or relationships.</a:t>
            </a:r>
            <a:endParaRPr lang="fr-FR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65B72FC-B112-16CD-BB27-36C313D3A037}"/>
              </a:ext>
            </a:extLst>
          </p:cNvPr>
          <p:cNvSpPr txBox="1"/>
          <p:nvPr/>
        </p:nvSpPr>
        <p:spPr>
          <a:xfrm>
            <a:off x="1703512" y="3837187"/>
            <a:ext cx="91151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Warning! </a:t>
            </a:r>
            <a:r>
              <a:rPr lang="en-US" dirty="0"/>
              <a:t>Different reduction methods and parameter choices can highlight different structures in the data</a:t>
            </a:r>
          </a:p>
          <a:p>
            <a:endParaRPr lang="fr-FR" dirty="0">
              <a:latin typeface="+mj-lt"/>
              <a:cs typeface="Arial" panose="020B0604020202020204" pitchFamily="34" charset="0"/>
            </a:endParaRPr>
          </a:p>
          <a:p>
            <a:r>
              <a:rPr lang="en-US" b="1" dirty="0"/>
              <a:t>Question</a:t>
            </a:r>
            <a:r>
              <a:rPr lang="en-US" dirty="0"/>
              <a:t>: which directions or components capture the main variability of this dataset?</a:t>
            </a:r>
          </a:p>
          <a:p>
            <a:br>
              <a:rPr lang="en-US" dirty="0"/>
            </a:br>
            <a:r>
              <a:rPr lang="en-US" b="1" dirty="0"/>
              <a:t>Reply</a:t>
            </a:r>
            <a:r>
              <a:rPr lang="en-US" dirty="0"/>
              <a:t>: Applying this method with these settings gives this result. Based on this, it seems that the dataset can be represented along these key dimensions for further analysis or visualization.</a:t>
            </a:r>
            <a:endParaRPr lang="fr-FR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2815798-2998-491C-9555-E4ACF08B0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789" y="1860549"/>
            <a:ext cx="5328592" cy="1952641"/>
          </a:xfrm>
          <a:prstGeom prst="rect">
            <a:avLst/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654F8B86-2071-473E-8E96-0AE4B426B5F0}"/>
              </a:ext>
            </a:extLst>
          </p:cNvPr>
          <p:cNvCxnSpPr>
            <a:cxnSpLocks/>
          </p:cNvCxnSpPr>
          <p:nvPr/>
        </p:nvCxnSpPr>
        <p:spPr bwMode="auto">
          <a:xfrm>
            <a:off x="5453872" y="2924944"/>
            <a:ext cx="1722249" cy="720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585124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BC44-01E0-2B12-65BA-ED3038F2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ZoneTexte 2">
            <a:extLst>
              <a:ext uri="{FF2B5EF4-FFF2-40B4-BE49-F238E27FC236}">
                <a16:creationId xmlns:a16="http://schemas.microsoft.com/office/drawing/2014/main" id="{B7E04DD3-0981-381F-8166-7127B0C4C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429" y="0"/>
            <a:ext cx="43492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 dirty="0">
                <a:solidFill>
                  <a:srgbClr val="FF0000"/>
                </a:solidFill>
              </a:rPr>
              <a:t>II-1-2 Dimension </a:t>
            </a:r>
            <a:r>
              <a:rPr lang="fr-FR" altLang="fr-FR" sz="2800" b="1" dirty="0" err="1">
                <a:solidFill>
                  <a:srgbClr val="FF0000"/>
                </a:solidFill>
              </a:rPr>
              <a:t>reduction</a:t>
            </a:r>
            <a:endParaRPr lang="fr-FR" altLang="fr-FR" sz="2800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CE416D9-B33E-4F6F-A9C4-856D6D021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7550" y="6150835"/>
            <a:ext cx="3136900" cy="457200"/>
          </a:xfrm>
        </p:spPr>
        <p:txBody>
          <a:bodyPr/>
          <a:lstStyle/>
          <a:p>
            <a:pPr>
              <a:defRPr/>
            </a:pPr>
            <a:r>
              <a:rPr lang="fr-FR" dirty="0"/>
              <a:t>Outils pour l'Intelligence Artificielle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575D78-50A8-80F4-DAA9-A9C1D4A8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677D44-2BD0-0041-9F26-D73852E1C66C}" type="slidenum">
              <a:rPr lang="fr-FR" altLang="fr-FR" smtClean="0"/>
              <a:pPr>
                <a:defRPr/>
              </a:pPr>
              <a:t>8</a:t>
            </a:fld>
            <a:endParaRPr lang="fr-FR" alt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C1F997-8FDE-B876-8A54-24A060222ED3}"/>
              </a:ext>
            </a:extLst>
          </p:cNvPr>
          <p:cNvSpPr txBox="1"/>
          <p:nvPr/>
        </p:nvSpPr>
        <p:spPr>
          <a:xfrm>
            <a:off x="1343472" y="712134"/>
            <a:ext cx="93610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The three dimensionality reduction algorithms to know:</a:t>
            </a:r>
          </a:p>
          <a:p>
            <a:endParaRPr lang="en-US" dirty="0"/>
          </a:p>
          <a:p>
            <a:r>
              <a:rPr lang="en-US" b="1" dirty="0"/>
              <a:t>PCA (Principal Component Analysis)</a:t>
            </a:r>
            <a:r>
              <a:rPr lang="en-US" dirty="0"/>
              <a:t> – Principal Component Analysis</a:t>
            </a:r>
          </a:p>
          <a:p>
            <a:pPr lvl="1"/>
            <a:r>
              <a:rPr lang="en-US" dirty="0"/>
              <a:t>A linear method that projects data into a lower-dimensional space while preserving maximum variance.</a:t>
            </a:r>
          </a:p>
          <a:p>
            <a:pPr lvl="1"/>
            <a:endParaRPr lang="en-US" dirty="0"/>
          </a:p>
          <a:p>
            <a:r>
              <a:rPr lang="en-US" b="1" dirty="0"/>
              <a:t>t-SNE (t-Distributed Stochastic Neighbor Embedding)</a:t>
            </a:r>
            <a:r>
              <a:rPr lang="en-US" dirty="0"/>
              <a:t> – t-SNE</a:t>
            </a:r>
          </a:p>
          <a:p>
            <a:pPr lvl="1"/>
            <a:r>
              <a:rPr lang="en-US" dirty="0"/>
              <a:t>A non-linear technique, particularly suited for visualizing data in 2D or 3D, preserving the local structure of the data.</a:t>
            </a:r>
          </a:p>
          <a:p>
            <a:pPr lvl="1"/>
            <a:endParaRPr lang="en-US" dirty="0"/>
          </a:p>
          <a:p>
            <a:r>
              <a:rPr lang="en-US" b="1" dirty="0"/>
              <a:t>UMAP (Uniform Manifold Approximation and Projection)</a:t>
            </a:r>
            <a:r>
              <a:rPr lang="en-US" dirty="0"/>
              <a:t> – UMAP</a:t>
            </a:r>
          </a:p>
          <a:p>
            <a:pPr lvl="1"/>
            <a:r>
              <a:rPr lang="en-US" dirty="0"/>
              <a:t>A fast non-linear method that preserves both local and global structure of data, often used for visualization and machine learning.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477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Espace réservé du numéro de diapositive 1">
            <a:extLst>
              <a:ext uri="{FF2B5EF4-FFF2-40B4-BE49-F238E27FC236}">
                <a16:creationId xmlns:a16="http://schemas.microsoft.com/office/drawing/2014/main" id="{9704FCB1-6FDB-B815-5A94-442CDDBDF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B5C04D-00B8-BB42-BE89-852184BFC9F7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fr-FR" altLang="fr-FR" sz="140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27DD0FA-5050-9A3F-B9B7-86F50AA1D561}"/>
              </a:ext>
            </a:extLst>
          </p:cNvPr>
          <p:cNvSpPr txBox="1"/>
          <p:nvPr/>
        </p:nvSpPr>
        <p:spPr>
          <a:xfrm>
            <a:off x="1544638" y="188913"/>
            <a:ext cx="685641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ea typeface="ＭＳ Ｐゴシック" charset="0"/>
                <a:cs typeface="ＭＳ Ｐゴシック" charset="0"/>
              </a:rPr>
              <a:t>II-2 </a:t>
            </a:r>
            <a:r>
              <a:rPr lang="fr-FR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ea typeface="ＭＳ Ｐゴシック" charset="0"/>
                <a:cs typeface="ＭＳ Ｐゴシック" charset="0"/>
              </a:rPr>
              <a:t>Supervised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ea typeface="ＭＳ Ｐゴシック" charset="0"/>
                <a:cs typeface="ＭＳ Ｐゴシック" charset="0"/>
              </a:rPr>
              <a:t>learning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ea typeface="ＭＳ Ｐゴシック" charset="0"/>
                <a:cs typeface="ＭＳ Ｐゴシック" charset="0"/>
              </a:rPr>
              <a:t>: A </a:t>
            </a:r>
            <a:r>
              <a:rPr lang="fr-FR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charset="0"/>
                <a:ea typeface="ＭＳ Ｐゴシック" charset="0"/>
                <a:cs typeface="ＭＳ Ｐゴシック" charset="0"/>
              </a:rPr>
              <a:t>dataset</a:t>
            </a:r>
            <a:endParaRPr lang="fr-FR" sz="3200" b="1" dirty="0">
              <a:solidFill>
                <a:srgbClr val="FF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endParaRPr lang="fr-FR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9635" name="ZoneTexte 4">
            <a:extLst>
              <a:ext uri="{FF2B5EF4-FFF2-40B4-BE49-F238E27FC236}">
                <a16:creationId xmlns:a16="http://schemas.microsoft.com/office/drawing/2014/main" id="{1193911A-F26F-F6C4-8A31-E884B38FA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450" y="3115294"/>
            <a:ext cx="2034294" cy="954107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dirty="0"/>
              <a:t>Training: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800" dirty="0"/>
              <a:t>80% Data</a:t>
            </a:r>
          </a:p>
        </p:txBody>
      </p:sp>
      <p:sp>
        <p:nvSpPr>
          <p:cNvPr id="69636" name="ZoneTexte 5">
            <a:extLst>
              <a:ext uri="{FF2B5EF4-FFF2-40B4-BE49-F238E27FC236}">
                <a16:creationId xmlns:a16="http://schemas.microsoft.com/office/drawing/2014/main" id="{CCE68A78-99DD-BD9D-4C47-BCE7D8E41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450" y="5075876"/>
            <a:ext cx="2034294" cy="954087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dirty="0"/>
              <a:t>Test: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800" dirty="0"/>
              <a:t>10% Data</a:t>
            </a:r>
          </a:p>
        </p:txBody>
      </p:sp>
      <p:sp>
        <p:nvSpPr>
          <p:cNvPr id="69637" name="ZoneTexte 6">
            <a:extLst>
              <a:ext uri="{FF2B5EF4-FFF2-40B4-BE49-F238E27FC236}">
                <a16:creationId xmlns:a16="http://schemas.microsoft.com/office/drawing/2014/main" id="{6768FF2D-89F7-0A20-DD40-5C799212A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873" y="2358305"/>
            <a:ext cx="2592387" cy="52322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800" dirty="0"/>
              <a:t>Classifier</a:t>
            </a:r>
          </a:p>
        </p:txBody>
      </p:sp>
      <p:cxnSp>
        <p:nvCxnSpPr>
          <p:cNvPr id="69638" name="Connecteur droit avec flèche 10">
            <a:extLst>
              <a:ext uri="{FF2B5EF4-FFF2-40B4-BE49-F238E27FC236}">
                <a16:creationId xmlns:a16="http://schemas.microsoft.com/office/drawing/2014/main" id="{B2D8B165-17F6-DBA7-867B-D60937B939FF}"/>
              </a:ext>
            </a:extLst>
          </p:cNvPr>
          <p:cNvCxnSpPr>
            <a:cxnSpLocks noChangeShapeType="1"/>
            <a:stCxn id="69635" idx="3"/>
            <a:endCxn id="69637" idx="1"/>
          </p:cNvCxnSpPr>
          <p:nvPr/>
        </p:nvCxnSpPr>
        <p:spPr bwMode="auto">
          <a:xfrm flipV="1">
            <a:off x="3791744" y="2619915"/>
            <a:ext cx="1152128" cy="97243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39" name="Connecteur droit avec flèche 14">
            <a:extLst>
              <a:ext uri="{FF2B5EF4-FFF2-40B4-BE49-F238E27FC236}">
                <a16:creationId xmlns:a16="http://schemas.microsoft.com/office/drawing/2014/main" id="{4E9AC3FC-5697-2397-383A-97AD0362FB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36260" y="2780928"/>
            <a:ext cx="2052129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40" name="Connecteur droit avec flèche 19">
            <a:extLst>
              <a:ext uri="{FF2B5EF4-FFF2-40B4-BE49-F238E27FC236}">
                <a16:creationId xmlns:a16="http://schemas.microsoft.com/office/drawing/2014/main" id="{68D31324-199F-5469-B6FD-258801D69AA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1744" y="2939712"/>
            <a:ext cx="1368152" cy="264952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641" name="ZoneTexte 32">
            <a:extLst>
              <a:ext uri="{FF2B5EF4-FFF2-40B4-BE49-F238E27FC236}">
                <a16:creationId xmlns:a16="http://schemas.microsoft.com/office/drawing/2014/main" id="{A30E62F1-22D9-8B90-9403-2C9A38D5B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8262" y="2273749"/>
            <a:ext cx="2000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dirty="0"/>
              <a:t>Performance</a:t>
            </a:r>
          </a:p>
        </p:txBody>
      </p:sp>
      <p:sp>
        <p:nvSpPr>
          <p:cNvPr id="69643" name="Espace réservé du pied de page 2">
            <a:extLst>
              <a:ext uri="{FF2B5EF4-FFF2-40B4-BE49-F238E27FC236}">
                <a16:creationId xmlns:a16="http://schemas.microsoft.com/office/drawing/2014/main" id="{348073DF-E235-CFF1-BC13-4B85CCCC01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 dirty="0"/>
              <a:t>Outils pour l'Intelligence Artificielle</a:t>
            </a:r>
          </a:p>
        </p:txBody>
      </p:sp>
      <p:sp>
        <p:nvSpPr>
          <p:cNvPr id="12" name="ZoneTexte 5">
            <a:extLst>
              <a:ext uri="{FF2B5EF4-FFF2-40B4-BE49-F238E27FC236}">
                <a16:creationId xmlns:a16="http://schemas.microsoft.com/office/drawing/2014/main" id="{2351B82C-1A4C-4D59-A69B-DA3BAB6F7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450" y="4104646"/>
            <a:ext cx="2034294" cy="954107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dirty="0"/>
              <a:t>Validation: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800" dirty="0"/>
              <a:t>10% Data</a:t>
            </a:r>
          </a:p>
        </p:txBody>
      </p:sp>
      <p:cxnSp>
        <p:nvCxnSpPr>
          <p:cNvPr id="13" name="Connecteur droit avec flèche 19">
            <a:extLst>
              <a:ext uri="{FF2B5EF4-FFF2-40B4-BE49-F238E27FC236}">
                <a16:creationId xmlns:a16="http://schemas.microsoft.com/office/drawing/2014/main" id="{DFF05C01-D33D-4A5C-9011-0DD01202E26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91744" y="2939713"/>
            <a:ext cx="1152128" cy="164141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A1375897-073C-464B-AA49-66E9999689A1}"/>
              </a:ext>
            </a:extLst>
          </p:cNvPr>
          <p:cNvSpPr txBox="1"/>
          <p:nvPr/>
        </p:nvSpPr>
        <p:spPr>
          <a:xfrm>
            <a:off x="1560026" y="2636913"/>
            <a:ext cx="2304256" cy="369331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Dataset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5F49A00-2B55-49EB-BCC3-4FE81A0468BB}"/>
              </a:ext>
            </a:extLst>
          </p:cNvPr>
          <p:cNvSpPr txBox="1"/>
          <p:nvPr/>
        </p:nvSpPr>
        <p:spPr>
          <a:xfrm>
            <a:off x="1487488" y="1054030"/>
            <a:ext cx="9289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supervised machine learning, a </a:t>
            </a:r>
            <a:r>
              <a:rPr lang="en-US" b="1" dirty="0"/>
              <a:t>dataset</a:t>
            </a:r>
            <a:r>
              <a:rPr lang="en-US" dirty="0"/>
              <a:t> is a collection of labeled examples, where each example pairs input features with a known output (can be multidimensional). It is used to train a model to learn the relationship between inputs and outputs for making predictions on new data.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291674E-61DD-4719-8378-5676F18BEC3C}"/>
              </a:ext>
            </a:extLst>
          </p:cNvPr>
          <p:cNvSpPr txBox="1"/>
          <p:nvPr/>
        </p:nvSpPr>
        <p:spPr>
          <a:xfrm>
            <a:off x="5303912" y="3170278"/>
            <a:ext cx="54726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Training set </a:t>
            </a:r>
            <a:r>
              <a:rPr lang="en-US" dirty="0"/>
              <a:t>– The portion of the dataset used to teach the model by adjusting its parameters.</a:t>
            </a:r>
          </a:p>
          <a:p>
            <a:endParaRPr lang="en-US" dirty="0"/>
          </a:p>
          <a:p>
            <a:r>
              <a:rPr lang="en-US" b="1" dirty="0"/>
              <a:t>Validation set </a:t>
            </a:r>
            <a:r>
              <a:rPr lang="en-US" dirty="0"/>
              <a:t>– A subset used to tune hyperparameters and prevent overfitting during training.</a:t>
            </a:r>
          </a:p>
          <a:p>
            <a:endParaRPr lang="en-US" dirty="0"/>
          </a:p>
          <a:p>
            <a:r>
              <a:rPr lang="en-US" b="1" dirty="0"/>
              <a:t>Test set </a:t>
            </a:r>
            <a:r>
              <a:rPr lang="en-US" dirty="0"/>
              <a:t>– A separate dataset used to evaluate the model’s performance on unseen data.</a:t>
            </a:r>
          </a:p>
        </p:txBody>
      </p:sp>
    </p:spTree>
    <p:extLst>
      <p:ext uri="{BB962C8B-B14F-4D97-AF65-F5344CB8AC3E}">
        <p14:creationId xmlns:p14="http://schemas.microsoft.com/office/powerpoint/2010/main" val="2990671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BC44-01E0-2B12-65BA-ED3038F2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ZoneTexte 2">
            <a:extLst>
              <a:ext uri="{FF2B5EF4-FFF2-40B4-BE49-F238E27FC236}">
                <a16:creationId xmlns:a16="http://schemas.microsoft.com/office/drawing/2014/main" id="{B7E04DD3-0981-381F-8166-7127B0C4C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430" y="0"/>
            <a:ext cx="3405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 dirty="0" err="1">
                <a:solidFill>
                  <a:srgbClr val="FF0000"/>
                </a:solidFill>
              </a:rPr>
              <a:t>Surpervised</a:t>
            </a:r>
            <a:r>
              <a:rPr lang="fr-FR" altLang="fr-FR" sz="2800" b="1" dirty="0">
                <a:solidFill>
                  <a:srgbClr val="FF0000"/>
                </a:solidFill>
              </a:rPr>
              <a:t> </a:t>
            </a:r>
            <a:r>
              <a:rPr lang="fr-FR" altLang="fr-FR" sz="2800" b="1" dirty="0" err="1">
                <a:solidFill>
                  <a:srgbClr val="FF0000"/>
                </a:solidFill>
              </a:rPr>
              <a:t>learning</a:t>
            </a:r>
            <a:endParaRPr lang="fr-FR" altLang="fr-FR" sz="2800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CE416D9-B33E-4F6F-A9C4-856D6D021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7550" y="6150835"/>
            <a:ext cx="3136900" cy="457200"/>
          </a:xfrm>
        </p:spPr>
        <p:txBody>
          <a:bodyPr/>
          <a:lstStyle/>
          <a:p>
            <a:pPr>
              <a:defRPr/>
            </a:pPr>
            <a:r>
              <a:rPr lang="fr-FR" dirty="0"/>
              <a:t>Outils pour l'Intelligence Artificielle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575D78-50A8-80F4-DAA9-A9C1D4A8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677D44-2BD0-0041-9F26-D73852E1C66C}" type="slidenum">
              <a:rPr lang="fr-FR" altLang="fr-FR" smtClean="0"/>
              <a:pPr>
                <a:defRPr/>
              </a:pPr>
              <a:t>10</a:t>
            </a:fld>
            <a:endParaRPr lang="fr-FR" alt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C1F997-8FDE-B876-8A54-24A060222ED3}"/>
              </a:ext>
            </a:extLst>
          </p:cNvPr>
          <p:cNvSpPr txBox="1"/>
          <p:nvPr/>
        </p:nvSpPr>
        <p:spPr>
          <a:xfrm>
            <a:off x="1343472" y="712134"/>
            <a:ext cx="93610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Algorithms that learn from labeled data, where each example is paired with a known target variable, in order to build a model capable of predicting that target on new, unseen data.</a:t>
            </a:r>
          </a:p>
          <a:p>
            <a:endParaRPr lang="en-US" dirty="0"/>
          </a:p>
          <a:p>
            <a:r>
              <a:rPr lang="en-US" b="1" dirty="0"/>
              <a:t>Classification</a:t>
            </a:r>
            <a:r>
              <a:rPr lang="en-US" dirty="0"/>
              <a:t>: Is this email spam or not spam, based on its content and metadata?</a:t>
            </a:r>
          </a:p>
          <a:p>
            <a:endParaRPr lang="en-US" dirty="0"/>
          </a:p>
          <a:p>
            <a:r>
              <a:rPr lang="en-US" b="1" dirty="0"/>
              <a:t>Regression</a:t>
            </a:r>
            <a:r>
              <a:rPr lang="en-US" dirty="0"/>
              <a:t>: What will be the price of a house given its surface area, location, and number of rooms?</a:t>
            </a:r>
          </a:p>
          <a:p>
            <a:endParaRPr lang="en-US" dirty="0"/>
          </a:p>
          <a:p>
            <a:r>
              <a:rPr lang="en-US" b="1" dirty="0"/>
              <a:t>Medical</a:t>
            </a:r>
            <a:r>
              <a:rPr lang="en-US" dirty="0"/>
              <a:t> </a:t>
            </a:r>
            <a:r>
              <a:rPr lang="en-US" b="1" dirty="0"/>
              <a:t>diagnosis</a:t>
            </a:r>
            <a:r>
              <a:rPr lang="en-US" dirty="0"/>
              <a:t>: Does this patient have a given disease, based on their symptoms and test results?</a:t>
            </a:r>
          </a:p>
          <a:p>
            <a:endParaRPr lang="en-US" dirty="0"/>
          </a:p>
          <a:p>
            <a:r>
              <a:rPr lang="en-US" b="1" dirty="0"/>
              <a:t>Credit</a:t>
            </a:r>
            <a:r>
              <a:rPr lang="en-US" dirty="0"/>
              <a:t> </a:t>
            </a:r>
            <a:r>
              <a:rPr lang="en-US" b="1" dirty="0"/>
              <a:t>risk</a:t>
            </a:r>
            <a:r>
              <a:rPr lang="en-US" dirty="0"/>
              <a:t> </a:t>
            </a:r>
            <a:r>
              <a:rPr lang="en-US" b="1" dirty="0"/>
              <a:t>scoring</a:t>
            </a:r>
            <a:r>
              <a:rPr lang="en-US" dirty="0"/>
              <a:t>: How likely is a loan applicant to default, based on their financial history?</a:t>
            </a:r>
          </a:p>
          <a:p>
            <a:endParaRPr lang="en-US" dirty="0"/>
          </a:p>
          <a:p>
            <a:r>
              <a:rPr lang="en-US" b="1" dirty="0"/>
              <a:t>Image</a:t>
            </a:r>
            <a:r>
              <a:rPr lang="en-US" dirty="0"/>
              <a:t> </a:t>
            </a:r>
            <a:r>
              <a:rPr lang="en-US" b="1" dirty="0"/>
              <a:t>recognition</a:t>
            </a:r>
            <a:r>
              <a:rPr lang="en-US" dirty="0"/>
              <a:t>: What object or animal is present in this photograph, based on a set of labeled training images?</a:t>
            </a:r>
          </a:p>
          <a:p>
            <a:pPr algn="just"/>
            <a:endParaRPr lang="en-US" dirty="0">
              <a:latin typeface="+mj-lt"/>
              <a:cs typeface="Arial" panose="020B0604020202020204" pitchFamily="34" charset="0"/>
            </a:endParaRPr>
          </a:p>
          <a:p>
            <a:pPr algn="just"/>
            <a:endParaRPr lang="fr-FR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5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BBCD5F-D867-4C40-8A85-4EFC657C2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VS non-linear classification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A747E6-FB60-466B-9854-39FE7CA0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11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8F45B67-4819-4F11-8D41-6A4895B8D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319" y="1233686"/>
            <a:ext cx="9131643" cy="455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52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BC44-01E0-2B12-65BA-ED3038F2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ZoneTexte 2">
            <a:extLst>
              <a:ext uri="{FF2B5EF4-FFF2-40B4-BE49-F238E27FC236}">
                <a16:creationId xmlns:a16="http://schemas.microsoft.com/office/drawing/2014/main" id="{B7E04DD3-0981-381F-8166-7127B0C4C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430" y="0"/>
            <a:ext cx="72118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 dirty="0">
                <a:solidFill>
                  <a:srgbClr val="FF0000"/>
                </a:solidFill>
              </a:rPr>
              <a:t>II-2-1 Classification - </a:t>
            </a:r>
            <a:r>
              <a:rPr lang="fr-FR" altLang="fr-FR" sz="2800" b="1" dirty="0" err="1">
                <a:solidFill>
                  <a:srgbClr val="FF0000"/>
                </a:solidFill>
              </a:rPr>
              <a:t>Algorithms</a:t>
            </a:r>
            <a:endParaRPr lang="fr-FR" altLang="fr-FR" sz="2800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CE416D9-B33E-4F6F-A9C4-856D6D021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Outils pour l'Intelligence Artificielle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575D78-50A8-80F4-DAA9-A9C1D4A8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677D44-2BD0-0041-9F26-D73852E1C66C}" type="slidenum">
              <a:rPr lang="fr-FR" altLang="fr-FR" smtClean="0"/>
              <a:pPr>
                <a:defRPr/>
              </a:pPr>
              <a:t>12</a:t>
            </a:fld>
            <a:endParaRPr lang="fr-FR" alt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9C1F997-8FDE-B876-8A54-24A060222ED3}"/>
              </a:ext>
            </a:extLst>
          </p:cNvPr>
          <p:cNvSpPr txBox="1"/>
          <p:nvPr/>
        </p:nvSpPr>
        <p:spPr>
          <a:xfrm>
            <a:off x="1343472" y="712133"/>
            <a:ext cx="93610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+mj-lt"/>
                <a:cs typeface="Arial" panose="020B0604020202020204" pitchFamily="34" charset="0"/>
              </a:rPr>
              <a:t>Appart neural network,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three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 err="1">
                <a:latin typeface="+mj-lt"/>
                <a:cs typeface="Arial" panose="020B0604020202020204" pitchFamily="34" charset="0"/>
              </a:rPr>
              <a:t>algorithms</a:t>
            </a:r>
            <a:r>
              <a:rPr lang="fr-FR" dirty="0">
                <a:latin typeface="+mj-lt"/>
                <a:cs typeface="Arial" panose="020B0604020202020204" pitchFamily="34" charset="0"/>
              </a:rPr>
              <a:t> to know :</a:t>
            </a:r>
          </a:p>
          <a:p>
            <a:pPr algn="just"/>
            <a:endParaRPr lang="fr-FR" dirty="0">
              <a:latin typeface="+mj-lt"/>
              <a:cs typeface="Arial" panose="020B0604020202020204" pitchFamily="34" charset="0"/>
            </a:endParaRPr>
          </a:p>
          <a:p>
            <a:pPr algn="just"/>
            <a:r>
              <a:rPr lang="fr-FR" b="1" dirty="0">
                <a:latin typeface="+mj-lt"/>
                <a:cs typeface="Arial" panose="020B0604020202020204" pitchFamily="34" charset="0"/>
              </a:rPr>
              <a:t>	a. K </a:t>
            </a:r>
            <a:r>
              <a:rPr lang="fr-FR" b="1" dirty="0" err="1">
                <a:latin typeface="+mj-lt"/>
                <a:cs typeface="Arial" panose="020B0604020202020204" pitchFamily="34" charset="0"/>
              </a:rPr>
              <a:t>Nearest</a:t>
            </a:r>
            <a:r>
              <a:rPr lang="fr-FR" b="1" dirty="0">
                <a:latin typeface="+mj-lt"/>
                <a:cs typeface="Arial" panose="020B0604020202020204" pitchFamily="34" charset="0"/>
              </a:rPr>
              <a:t> </a:t>
            </a:r>
            <a:r>
              <a:rPr lang="fr-FR" b="1" dirty="0" err="1">
                <a:latin typeface="+mj-lt"/>
                <a:cs typeface="Arial" panose="020B0604020202020204" pitchFamily="34" charset="0"/>
              </a:rPr>
              <a:t>Neigbours</a:t>
            </a:r>
            <a:r>
              <a:rPr lang="fr-FR" b="1" dirty="0">
                <a:latin typeface="+mj-lt"/>
                <a:cs typeface="Arial" panose="020B0604020202020204" pitchFamily="34" charset="0"/>
              </a:rPr>
              <a:t> (</a:t>
            </a:r>
            <a:r>
              <a:rPr lang="en-US" b="1" dirty="0">
                <a:latin typeface="+mj-lt"/>
              </a:rPr>
              <a:t>KNN)</a:t>
            </a:r>
          </a:p>
          <a:p>
            <a:pPr algn="just"/>
            <a:r>
              <a:rPr lang="en-US" dirty="0"/>
              <a:t>KNN is a </a:t>
            </a:r>
            <a:r>
              <a:rPr lang="en-US" b="1" dirty="0"/>
              <a:t>supervised machine learning algorithm</a:t>
            </a:r>
            <a:r>
              <a:rPr lang="en-US" dirty="0"/>
              <a:t> that classifies a data point based on the </a:t>
            </a:r>
            <a:r>
              <a:rPr lang="en-US" b="1" dirty="0"/>
              <a:t>majority class of its k closest neighbors</a:t>
            </a:r>
            <a:r>
              <a:rPr lang="en-US" dirty="0"/>
              <a:t> in the dataset.</a:t>
            </a:r>
            <a:endParaRPr lang="en-US" b="1" dirty="0">
              <a:latin typeface="+mj-lt"/>
            </a:endParaRPr>
          </a:p>
          <a:p>
            <a:pPr algn="just"/>
            <a:endParaRPr lang="fr-FR" dirty="0"/>
          </a:p>
          <a:p>
            <a:pPr algn="just"/>
            <a:r>
              <a:rPr lang="en-US" b="1" dirty="0">
                <a:cs typeface="Arial" panose="020B0604020202020204" pitchFamily="34" charset="0"/>
              </a:rPr>
              <a:t>	b. </a:t>
            </a:r>
            <a:r>
              <a:rPr lang="en-US" b="1" dirty="0"/>
              <a:t>Decision tree </a:t>
            </a:r>
          </a:p>
          <a:p>
            <a:pPr algn="just"/>
            <a:r>
              <a:rPr lang="en-US" dirty="0"/>
              <a:t>A Decision Tree is a </a:t>
            </a:r>
            <a:r>
              <a:rPr lang="en-US" b="1" dirty="0"/>
              <a:t>machine learning model</a:t>
            </a:r>
            <a:r>
              <a:rPr lang="en-US" dirty="0"/>
              <a:t> that makes predictions by </a:t>
            </a:r>
            <a:r>
              <a:rPr lang="en-US" b="1" dirty="0"/>
              <a:t>splitting data into branches based on feature values</a:t>
            </a:r>
            <a:r>
              <a:rPr lang="en-US" dirty="0"/>
              <a:t>, forming a tree-like structure of decisions.</a:t>
            </a:r>
          </a:p>
          <a:p>
            <a:pPr algn="just"/>
            <a:endParaRPr lang="en-US" dirty="0">
              <a:latin typeface="+mj-lt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cs typeface="Arial" panose="020B0604020202020204" pitchFamily="34" charset="0"/>
              </a:rPr>
              <a:t>	c. </a:t>
            </a:r>
            <a:r>
              <a:rPr lang="en-US" b="1" dirty="0"/>
              <a:t>Support Vector Machine (SVM)</a:t>
            </a:r>
          </a:p>
          <a:p>
            <a:pPr algn="just"/>
            <a:r>
              <a:rPr lang="en-US" dirty="0"/>
              <a:t>SVM is a </a:t>
            </a:r>
            <a:r>
              <a:rPr lang="en-US" b="1" dirty="0"/>
              <a:t>supervised learning algorithm</a:t>
            </a:r>
            <a:r>
              <a:rPr lang="en-US" dirty="0"/>
              <a:t> that finds the </a:t>
            </a:r>
            <a:r>
              <a:rPr lang="en-US" b="1" dirty="0"/>
              <a:t>optimal boundary (hyperplane)</a:t>
            </a:r>
            <a:r>
              <a:rPr lang="en-US" dirty="0"/>
              <a:t> to separate data points from different classes with the </a:t>
            </a:r>
            <a:r>
              <a:rPr lang="en-US" b="1" dirty="0"/>
              <a:t>maximum margin</a:t>
            </a:r>
            <a:r>
              <a:rPr lang="en-US" dirty="0"/>
              <a:t>.</a:t>
            </a:r>
            <a:endParaRPr lang="en-US" b="1" dirty="0"/>
          </a:p>
          <a:p>
            <a:pPr algn="just"/>
            <a:endParaRPr lang="en-US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408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3C79E-FCEB-45FE-A539-A8F1C9421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VS non-linear regression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FA8252-117B-4E6A-AA30-3386F110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13</a:t>
            </a:fld>
            <a:endParaRPr lang="en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9CF7D69-D921-15A5-41FE-92B3D0D79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06" y="2008946"/>
            <a:ext cx="4302631" cy="307488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694A1FA-F9B8-4568-8FDB-1A2CA107C4C5}"/>
              </a:ext>
            </a:extLst>
          </p:cNvPr>
          <p:cNvSpPr txBox="1"/>
          <p:nvPr/>
        </p:nvSpPr>
        <p:spPr>
          <a:xfrm>
            <a:off x="988541" y="5344297"/>
            <a:ext cx="2947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Linear regression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6EB78CE-6D17-DDE0-FCBD-DCAF2A0CC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874" y="2051672"/>
            <a:ext cx="4365867" cy="298943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FA30E860-22F4-42FE-AAEF-47F8F8C39CC4}"/>
              </a:ext>
            </a:extLst>
          </p:cNvPr>
          <p:cNvSpPr txBox="1"/>
          <p:nvPr/>
        </p:nvSpPr>
        <p:spPr>
          <a:xfrm>
            <a:off x="7164859" y="5312031"/>
            <a:ext cx="2947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Non-Linear regression (Polynomial 3)</a:t>
            </a:r>
          </a:p>
        </p:txBody>
      </p:sp>
    </p:spTree>
    <p:extLst>
      <p:ext uri="{BB962C8B-B14F-4D97-AF65-F5344CB8AC3E}">
        <p14:creationId xmlns:p14="http://schemas.microsoft.com/office/powerpoint/2010/main" val="861349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185D6A2-E50F-846B-2B76-7D664329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Outils pour l'Intelligence Artificielle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4815B6-59E4-7D55-EADA-AE04AB9D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677D44-2BD0-0041-9F26-D73852E1C66C}" type="slidenum">
              <a:rPr lang="fr-FR" altLang="fr-FR" smtClean="0"/>
              <a:pPr>
                <a:defRPr/>
              </a:pPr>
              <a:t>14</a:t>
            </a:fld>
            <a:endParaRPr lang="fr-FR" altLang="fr-FR"/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E2ED7418-C56E-9A50-15A4-7B4D74C78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430" y="0"/>
            <a:ext cx="43454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800" b="1" dirty="0">
                <a:solidFill>
                  <a:srgbClr val="FF0000"/>
                </a:solidFill>
              </a:rPr>
              <a:t>II-6 </a:t>
            </a:r>
            <a:r>
              <a:rPr lang="fr-FR" altLang="fr-FR" sz="2800" b="1" dirty="0" err="1">
                <a:solidFill>
                  <a:srgbClr val="FF0000"/>
                </a:solidFill>
              </a:rPr>
              <a:t>Regression</a:t>
            </a:r>
            <a:r>
              <a:rPr lang="fr-FR" altLang="fr-FR" sz="2800" b="1" dirty="0">
                <a:solidFill>
                  <a:srgbClr val="FF0000"/>
                </a:solidFill>
              </a:rPr>
              <a:t> </a:t>
            </a:r>
            <a:r>
              <a:rPr lang="fr-FR" altLang="fr-FR" sz="2800" b="1" dirty="0" err="1">
                <a:solidFill>
                  <a:srgbClr val="FF0000"/>
                </a:solidFill>
              </a:rPr>
              <a:t>Algorithms</a:t>
            </a:r>
            <a:endParaRPr lang="fr-FR" altLang="fr-FR" sz="2800" b="1" dirty="0">
              <a:solidFill>
                <a:srgbClr val="FF0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BB159D8-213D-827F-6684-C0F675387139}"/>
              </a:ext>
            </a:extLst>
          </p:cNvPr>
          <p:cNvSpPr txBox="1"/>
          <p:nvPr/>
        </p:nvSpPr>
        <p:spPr>
          <a:xfrm>
            <a:off x="1388454" y="476673"/>
            <a:ext cx="930008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pPr marL="342900" indent="-342900">
              <a:buFont typeface="Wingdings" pitchFamily="2" charset="2"/>
              <a:buChar char="à"/>
            </a:pPr>
            <a:r>
              <a:rPr lang="fr-FR" b="1" dirty="0">
                <a:solidFill>
                  <a:schemeClr val="accent2"/>
                </a:solidFill>
              </a:rPr>
              <a:t>Non-</a:t>
            </a:r>
            <a:r>
              <a:rPr lang="fr-FR" b="1" dirty="0" err="1">
                <a:solidFill>
                  <a:schemeClr val="accent2"/>
                </a:solidFill>
              </a:rPr>
              <a:t>parametric</a:t>
            </a:r>
            <a:r>
              <a:rPr lang="fr-FR" b="1" dirty="0">
                <a:solidFill>
                  <a:schemeClr val="accent2"/>
                </a:solidFill>
              </a:rPr>
              <a:t> </a:t>
            </a:r>
            <a:r>
              <a:rPr lang="fr-FR" b="1" dirty="0" err="1">
                <a:solidFill>
                  <a:schemeClr val="accent2"/>
                </a:solidFill>
              </a:rPr>
              <a:t>algorithms</a:t>
            </a:r>
            <a:endParaRPr lang="fr-FR" dirty="0"/>
          </a:p>
          <a:p>
            <a:pPr lvl="1"/>
            <a:r>
              <a:rPr lang="fr-FR" dirty="0"/>
              <a:t>a. KNN </a:t>
            </a:r>
            <a:r>
              <a:rPr lang="fr-FR" dirty="0" err="1"/>
              <a:t>regression</a:t>
            </a:r>
            <a:endParaRPr lang="fr-FR" dirty="0"/>
          </a:p>
          <a:p>
            <a:pPr lvl="1"/>
            <a:r>
              <a:rPr lang="fr-FR" dirty="0"/>
              <a:t>b. Kernel </a:t>
            </a:r>
            <a:r>
              <a:rPr lang="fr-FR" dirty="0" err="1"/>
              <a:t>regression</a:t>
            </a:r>
            <a:endParaRPr lang="fr-FR" dirty="0"/>
          </a:p>
          <a:p>
            <a:pPr marL="342900" indent="-342900">
              <a:buFont typeface="Wingdings" pitchFamily="2" charset="2"/>
              <a:buChar char="à"/>
            </a:pPr>
            <a:endParaRPr lang="fr-FR" b="1" dirty="0">
              <a:solidFill>
                <a:schemeClr val="accent2"/>
              </a:solidFill>
            </a:endParaRPr>
          </a:p>
          <a:p>
            <a:pPr marL="342900" indent="-342900">
              <a:buFont typeface="Wingdings" pitchFamily="2" charset="2"/>
              <a:buChar char="à"/>
            </a:pPr>
            <a:r>
              <a:rPr lang="fr-FR" b="1" dirty="0" err="1">
                <a:solidFill>
                  <a:schemeClr val="accent2"/>
                </a:solidFill>
              </a:rPr>
              <a:t>Parametric</a:t>
            </a:r>
            <a:r>
              <a:rPr lang="fr-FR" b="1" dirty="0">
                <a:solidFill>
                  <a:schemeClr val="accent2"/>
                </a:solidFill>
              </a:rPr>
              <a:t> </a:t>
            </a:r>
            <a:r>
              <a:rPr lang="fr-FR" b="1" dirty="0" err="1">
                <a:solidFill>
                  <a:schemeClr val="accent2"/>
                </a:solidFill>
              </a:rPr>
              <a:t>algorithms</a:t>
            </a:r>
            <a:endParaRPr lang="fr-FR" dirty="0"/>
          </a:p>
          <a:p>
            <a:pPr marL="800100" lvl="1" indent="-342900">
              <a:buFont typeface="Wingdings" pitchFamily="2" charset="2"/>
              <a:buChar char="à"/>
            </a:pPr>
            <a:r>
              <a:rPr lang="fr-FR" dirty="0" err="1"/>
              <a:t>Error</a:t>
            </a:r>
            <a:r>
              <a:rPr lang="fr-FR" dirty="0"/>
              <a:t> minimisation</a:t>
            </a:r>
          </a:p>
          <a:p>
            <a:pPr marL="1257300" lvl="2" indent="-342900">
              <a:buFont typeface="Wingdings" pitchFamily="2" charset="2"/>
              <a:buChar char="à"/>
            </a:pPr>
            <a:r>
              <a:rPr lang="fr-FR" dirty="0" err="1"/>
              <a:t>Linear</a:t>
            </a:r>
            <a:endParaRPr lang="fr-FR" dirty="0"/>
          </a:p>
          <a:p>
            <a:pPr marL="1257300" lvl="2" indent="-342900">
              <a:buFont typeface="Wingdings" pitchFamily="2" charset="2"/>
              <a:buChar char="à"/>
            </a:pPr>
            <a:r>
              <a:rPr lang="fr-FR" dirty="0"/>
              <a:t>Non-</a:t>
            </a:r>
            <a:r>
              <a:rPr lang="fr-FR" dirty="0" err="1"/>
              <a:t>linear</a:t>
            </a:r>
            <a:endParaRPr lang="fr-FR" dirty="0"/>
          </a:p>
          <a:p>
            <a:pPr marL="800100" lvl="1" indent="-342900">
              <a:buFont typeface="Wingdings" pitchFamily="2" charset="2"/>
              <a:buChar char="à"/>
            </a:pPr>
            <a:r>
              <a:rPr lang="fr-FR" dirty="0" err="1"/>
              <a:t>Likelihood</a:t>
            </a:r>
            <a:r>
              <a:rPr lang="fr-FR" dirty="0"/>
              <a:t> maximisation</a:t>
            </a:r>
          </a:p>
          <a:p>
            <a:pPr marL="1257300" lvl="2" indent="-342900">
              <a:buFont typeface="Wingdings" pitchFamily="2" charset="2"/>
              <a:buChar char="à"/>
            </a:pPr>
            <a:r>
              <a:rPr lang="fr-FR" dirty="0" err="1"/>
              <a:t>Probabilist</a:t>
            </a:r>
            <a:r>
              <a:rPr lang="fr-FR" dirty="0"/>
              <a:t> model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4229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re 1">
            <a:extLst>
              <a:ext uri="{FF2B5EF4-FFF2-40B4-BE49-F238E27FC236}">
                <a16:creationId xmlns:a16="http://schemas.microsoft.com/office/drawing/2014/main" id="{29E7ABBB-4510-C352-6BC9-FFF0938E6A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5950" y="609600"/>
            <a:ext cx="3705994" cy="1143000"/>
          </a:xfrm>
        </p:spPr>
        <p:txBody>
          <a:bodyPr/>
          <a:lstStyle/>
          <a:p>
            <a:pPr algn="l"/>
            <a:r>
              <a:rPr lang="fr-FR" altLang="fr-FR" sz="32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2-3 PERCEPTRON</a:t>
            </a:r>
          </a:p>
        </p:txBody>
      </p:sp>
      <p:sp>
        <p:nvSpPr>
          <p:cNvPr id="25602" name="Espace réservé du contenu 2">
            <a:extLst>
              <a:ext uri="{FF2B5EF4-FFF2-40B4-BE49-F238E27FC236}">
                <a16:creationId xmlns:a16="http://schemas.microsoft.com/office/drawing/2014/main" id="{A28E47A8-857C-DE56-8282-F733A58032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31504" y="1803400"/>
            <a:ext cx="8420100" cy="4114800"/>
          </a:xfrm>
        </p:spPr>
        <p:txBody>
          <a:bodyPr/>
          <a:lstStyle/>
          <a:p>
            <a:r>
              <a:rPr lang="fr-FR" altLang="fr-FR" sz="2800" b="1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Linear</a:t>
            </a:r>
            <a:r>
              <a:rPr lang="fr-FR" altLang="fr-FR" sz="2800" b="1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perceptron </a:t>
            </a:r>
            <a:r>
              <a:rPr lang="fr-FR" altLang="fr-FR" sz="2800" b="1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with</a:t>
            </a:r>
            <a:r>
              <a:rPr lang="fr-FR" altLang="fr-FR" sz="2800" b="1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Heaviside activation </a:t>
            </a:r>
            <a:r>
              <a:rPr lang="fr-FR" altLang="fr-FR" sz="2800" b="1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function</a:t>
            </a:r>
            <a:r>
              <a:rPr lang="fr-FR" altLang="fr-FR" sz="2800" b="1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(Non </a:t>
            </a:r>
            <a:r>
              <a:rPr lang="fr-FR" altLang="fr-FR" sz="2800" b="1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linearity</a:t>
            </a:r>
            <a:r>
              <a:rPr lang="fr-FR" altLang="fr-FR" sz="2800" b="1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):</a:t>
            </a:r>
          </a:p>
          <a:p>
            <a:pPr lvl="1"/>
            <a:r>
              <a:rPr lang="fr-FR" altLang="fr-FR" dirty="0">
                <a:ea typeface="ＭＳ Ｐゴシック" panose="020B0600070205080204" pitchFamily="34" charset="-128"/>
              </a:rPr>
              <a:t>n inputs x1, ..., </a:t>
            </a:r>
            <a:r>
              <a:rPr lang="fr-FR" altLang="fr-FR" dirty="0" err="1">
                <a:ea typeface="ＭＳ Ｐゴシック" panose="020B0600070205080204" pitchFamily="34" charset="-128"/>
              </a:rPr>
              <a:t>xn</a:t>
            </a:r>
            <a:r>
              <a:rPr lang="fr-FR" altLang="fr-FR" dirty="0">
                <a:ea typeface="ＭＳ Ｐゴシック" panose="020B0600070205080204" pitchFamily="34" charset="-128"/>
              </a:rPr>
              <a:t> + </a:t>
            </a:r>
            <a:r>
              <a:rPr lang="fr-FR" altLang="fr-FR" dirty="0" err="1">
                <a:ea typeface="ＭＳ Ｐゴシック" panose="020B0600070205080204" pitchFamily="34" charset="-128"/>
              </a:rPr>
              <a:t>bias</a:t>
            </a:r>
            <a:endParaRPr lang="fr-FR" altLang="fr-FR" dirty="0">
              <a:ea typeface="ＭＳ Ｐゴシック" panose="020B0600070205080204" pitchFamily="34" charset="-128"/>
            </a:endParaRPr>
          </a:p>
          <a:p>
            <a:pPr lvl="1"/>
            <a:r>
              <a:rPr lang="fr-FR" altLang="fr-FR" dirty="0">
                <a:ea typeface="ＭＳ Ｐゴシック" panose="020B0600070205080204" pitchFamily="34" charset="-128"/>
              </a:rPr>
              <a:t>n+1 </a:t>
            </a:r>
            <a:r>
              <a:rPr lang="fr-FR" altLang="fr-FR" dirty="0" err="1">
                <a:ea typeface="ＭＳ Ｐゴシック" panose="020B0600070205080204" pitchFamily="34" charset="-128"/>
              </a:rPr>
              <a:t>synaptic</a:t>
            </a:r>
            <a:r>
              <a:rPr lang="fr-FR" altLang="fr-FR" dirty="0">
                <a:ea typeface="ＭＳ Ｐゴシック" panose="020B0600070205080204" pitchFamily="34" charset="-128"/>
              </a:rPr>
              <a:t> coefficients w</a:t>
            </a:r>
            <a:r>
              <a:rPr lang="fr-FR" altLang="fr-FR" baseline="-25000" dirty="0">
                <a:ea typeface="ＭＳ Ｐゴシック" panose="020B0600070205080204" pitchFamily="34" charset="-128"/>
              </a:rPr>
              <a:t>0</a:t>
            </a:r>
            <a:r>
              <a:rPr lang="fr-FR" altLang="fr-FR" dirty="0">
                <a:ea typeface="ＭＳ Ｐゴシック" panose="020B0600070205080204" pitchFamily="34" charset="-128"/>
              </a:rPr>
              <a:t>, w</a:t>
            </a:r>
            <a:r>
              <a:rPr lang="fr-FR" altLang="fr-FR" baseline="-25000" dirty="0">
                <a:ea typeface="ＭＳ Ｐゴシック" panose="020B0600070205080204" pitchFamily="34" charset="-128"/>
              </a:rPr>
              <a:t>1</a:t>
            </a:r>
            <a:r>
              <a:rPr lang="fr-FR" altLang="fr-FR" dirty="0">
                <a:ea typeface="ＭＳ Ｐゴシック" panose="020B0600070205080204" pitchFamily="34" charset="-128"/>
              </a:rPr>
              <a:t> ..., </a:t>
            </a:r>
            <a:r>
              <a:rPr lang="fr-FR" altLang="fr-FR" dirty="0" err="1">
                <a:ea typeface="ＭＳ Ｐゴシック" panose="020B0600070205080204" pitchFamily="34" charset="-128"/>
              </a:rPr>
              <a:t>w</a:t>
            </a:r>
            <a:r>
              <a:rPr lang="fr-FR" altLang="fr-FR" baseline="-25000" dirty="0" err="1">
                <a:ea typeface="ＭＳ Ｐゴシック" panose="020B0600070205080204" pitchFamily="34" charset="-128"/>
              </a:rPr>
              <a:t>n</a:t>
            </a:r>
            <a:endParaRPr lang="fr-FR" altLang="fr-FR" baseline="-25000" dirty="0">
              <a:ea typeface="ＭＳ Ｐゴシック" panose="020B0600070205080204" pitchFamily="34" charset="-128"/>
            </a:endParaRPr>
          </a:p>
          <a:p>
            <a:pPr lvl="1"/>
            <a:r>
              <a:rPr lang="fr-FR" altLang="fr-FR" dirty="0">
                <a:ea typeface="ＭＳ Ｐゴシック" panose="020B0600070205080204" pitchFamily="34" charset="-128"/>
              </a:rPr>
              <a:t>an output o</a:t>
            </a:r>
          </a:p>
          <a:p>
            <a:pPr marL="457200" lvl="1" indent="0">
              <a:buNone/>
            </a:pPr>
            <a:r>
              <a:rPr lang="fr-FR" altLang="fr-FR" dirty="0">
                <a:solidFill>
                  <a:schemeClr val="accent2"/>
                </a:solidFill>
                <a:ea typeface="ＭＳ Ｐゴシック" panose="020B0600070205080204" pitchFamily="34" charset="-128"/>
                <a:sym typeface="Wingdings" pitchFamily="2" charset="2"/>
              </a:rPr>
              <a:t> Activation </a:t>
            </a:r>
            <a:r>
              <a:rPr lang="fr-FR" altLang="fr-FR" dirty="0" err="1">
                <a:solidFill>
                  <a:schemeClr val="accent2"/>
                </a:solidFill>
                <a:ea typeface="ＭＳ Ｐゴシック" panose="020B0600070205080204" pitchFamily="34" charset="-128"/>
                <a:sym typeface="Wingdings" pitchFamily="2" charset="2"/>
              </a:rPr>
              <a:t>function</a:t>
            </a:r>
            <a:r>
              <a:rPr lang="fr-FR" altLang="fr-FR" dirty="0">
                <a:solidFill>
                  <a:schemeClr val="accent2"/>
                </a:solidFill>
                <a:ea typeface="ＭＳ Ｐゴシック" panose="020B0600070205080204" pitchFamily="34" charset="-128"/>
                <a:sym typeface="Wingdings" pitchFamily="2" charset="2"/>
              </a:rPr>
              <a:t>  </a:t>
            </a:r>
            <a:endParaRPr lang="fr-FR" altLang="fr-FR" dirty="0">
              <a:solidFill>
                <a:schemeClr val="accent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5604" name="Espace réservé du numéro de diapositive 6">
            <a:extLst>
              <a:ext uri="{FF2B5EF4-FFF2-40B4-BE49-F238E27FC236}">
                <a16:creationId xmlns:a16="http://schemas.microsoft.com/office/drawing/2014/main" id="{3A392B53-BC33-83BD-E576-F1B9BFAF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432BCD-02C4-D74F-A849-A3C79CCC0BD2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fr-FR" altLang="fr-FR" sz="1400" dirty="0"/>
          </a:p>
        </p:txBody>
      </p:sp>
      <p:sp>
        <p:nvSpPr>
          <p:cNvPr id="25605" name="Espace réservé de la date 1">
            <a:extLst>
              <a:ext uri="{FF2B5EF4-FFF2-40B4-BE49-F238E27FC236}">
                <a16:creationId xmlns:a16="http://schemas.microsoft.com/office/drawing/2014/main" id="{4FCCE89E-6AF8-DF51-B090-89461E42AFB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/>
              <a:t>Mars 2025</a:t>
            </a:r>
          </a:p>
        </p:txBody>
      </p:sp>
      <p:sp>
        <p:nvSpPr>
          <p:cNvPr id="25606" name="Espace réservé du pied de page 2">
            <a:extLst>
              <a:ext uri="{FF2B5EF4-FFF2-40B4-BE49-F238E27FC236}">
                <a16:creationId xmlns:a16="http://schemas.microsoft.com/office/drawing/2014/main" id="{9C757891-F4CD-560D-BD2E-F517BAE43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/>
              <a:t>Outils pour l'Intelligence Artificielle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ECF07AE-3FF8-456B-B608-7FA0BDD10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438" y="2735678"/>
            <a:ext cx="4665187" cy="32333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re 1">
            <a:extLst>
              <a:ext uri="{FF2B5EF4-FFF2-40B4-BE49-F238E27FC236}">
                <a16:creationId xmlns:a16="http://schemas.microsoft.com/office/drawing/2014/main" id="{C1574725-023F-56E1-6AF2-33EC42688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4825" y="-23813"/>
            <a:ext cx="8420100" cy="1143001"/>
          </a:xfrm>
        </p:spPr>
        <p:txBody>
          <a:bodyPr/>
          <a:lstStyle/>
          <a:p>
            <a:r>
              <a:rPr lang="fr-FR" altLang="fr-FR" sz="3200" b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Perceptron Limitation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35E1CD-CD64-413F-69B3-1DE077ABE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950" y="1268413"/>
            <a:ext cx="8420100" cy="4114800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fr-FR" dirty="0"/>
              <a:t>Perceptron = </a:t>
            </a:r>
            <a:r>
              <a:rPr lang="fr-FR" dirty="0" err="1"/>
              <a:t>linear</a:t>
            </a:r>
            <a:r>
              <a:rPr lang="fr-FR" dirty="0"/>
              <a:t> classifier (</a:t>
            </a:r>
            <a:r>
              <a:rPr lang="fr-FR" dirty="0" err="1"/>
              <a:t>linearly</a:t>
            </a:r>
            <a:r>
              <a:rPr lang="fr-FR" dirty="0"/>
              <a:t> </a:t>
            </a:r>
            <a:r>
              <a:rPr lang="fr-FR" dirty="0" err="1"/>
              <a:t>separable</a:t>
            </a:r>
            <a:r>
              <a:rPr lang="fr-FR" dirty="0"/>
              <a:t> set).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endParaRPr lang="fr-FR" dirty="0"/>
          </a:p>
          <a:p>
            <a:pPr>
              <a:defRPr/>
            </a:pPr>
            <a:endParaRPr lang="fr-FR" dirty="0"/>
          </a:p>
          <a:p>
            <a:pPr marL="457200" lvl="1" indent="0">
              <a:buNone/>
              <a:defRPr/>
            </a:pPr>
            <a:endParaRPr lang="fr-FR" dirty="0"/>
          </a:p>
          <a:p>
            <a:pPr marL="457200" lvl="1" indent="0">
              <a:buNone/>
              <a:defRPr/>
            </a:pPr>
            <a:endParaRPr lang="fr-FR" dirty="0"/>
          </a:p>
          <a:p>
            <a:pPr lvl="1">
              <a:defRPr/>
            </a:pPr>
            <a:r>
              <a:rPr lang="fr-FR" dirty="0"/>
              <a:t>To </a:t>
            </a:r>
            <a:r>
              <a:rPr lang="fr-FR" dirty="0" err="1"/>
              <a:t>learn</a:t>
            </a:r>
            <a:r>
              <a:rPr lang="fr-FR" dirty="0"/>
              <a:t> the Exclusive OR (XOR), </a:t>
            </a:r>
            <a:r>
              <a:rPr lang="fr-FR" dirty="0" err="1"/>
              <a:t>we</a:t>
            </a:r>
            <a:r>
              <a:rPr lang="fr-FR" dirty="0"/>
              <a:t> use a Multi-Layer Perceptron.</a:t>
            </a:r>
          </a:p>
        </p:txBody>
      </p:sp>
      <p:sp>
        <p:nvSpPr>
          <p:cNvPr id="32771" name="Espace réservé du numéro de diapositive 5">
            <a:extLst>
              <a:ext uri="{FF2B5EF4-FFF2-40B4-BE49-F238E27FC236}">
                <a16:creationId xmlns:a16="http://schemas.microsoft.com/office/drawing/2014/main" id="{86BFF4B2-FACB-AEB7-87D4-2BEC3805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1750" y="6346825"/>
            <a:ext cx="495300" cy="457200"/>
          </a:xfrm>
          <a:prstGeom prst="ellipse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FAC3DB-38B8-EE4F-A719-AD227B856A17}" type="slidenum">
              <a:rPr lang="en-US" altLang="fr-FR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fr-FR" sz="1400"/>
          </a:p>
        </p:txBody>
      </p:sp>
      <p:pic>
        <p:nvPicPr>
          <p:cNvPr id="32772" name="Picture 2">
            <a:extLst>
              <a:ext uri="{FF2B5EF4-FFF2-40B4-BE49-F238E27FC236}">
                <a16:creationId xmlns:a16="http://schemas.microsoft.com/office/drawing/2014/main" id="{BE9DB169-5F28-0D00-7B86-12CB870F9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AE2"/>
              </a:clrFrom>
              <a:clrTo>
                <a:srgbClr val="FBFAE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975" y="2420938"/>
            <a:ext cx="5634038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Espace réservé de la date 1">
            <a:extLst>
              <a:ext uri="{FF2B5EF4-FFF2-40B4-BE49-F238E27FC236}">
                <a16:creationId xmlns:a16="http://schemas.microsoft.com/office/drawing/2014/main" id="{4C04F0EA-E0C0-7F11-FD8A-27349CF5474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/>
              <a:t>Mars 2025</a:t>
            </a:r>
          </a:p>
        </p:txBody>
      </p:sp>
      <p:sp>
        <p:nvSpPr>
          <p:cNvPr id="32774" name="Espace réservé du pied de page 3">
            <a:extLst>
              <a:ext uri="{FF2B5EF4-FFF2-40B4-BE49-F238E27FC236}">
                <a16:creationId xmlns:a16="http://schemas.microsoft.com/office/drawing/2014/main" id="{40522C06-D951-B2DF-CB63-E7E9D9E1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/>
              <a:t>Outils pour l'Intelligence Artificielle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C447575C-640A-A84D-16F5-E25A9C7EB39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74750" y="1011594"/>
            <a:ext cx="9906000" cy="685800"/>
          </a:xfrm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fr-CA" altLang="fr-FR" sz="2000" b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In 1980, </a:t>
            </a:r>
            <a:r>
              <a:rPr lang="fr-CA" altLang="fr-FR" sz="2000" b="1" dirty="0" err="1">
                <a:solidFill>
                  <a:schemeClr val="accent2"/>
                </a:solidFill>
                <a:ea typeface="ＭＳ Ｐゴシック" panose="020B0600070205080204" pitchFamily="34" charset="-128"/>
              </a:rPr>
              <a:t>revolution</a:t>
            </a:r>
            <a:r>
              <a:rPr lang="fr-CA" altLang="fr-FR" sz="2000" b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 of the Multi-Layer Perceptron (MLP)</a:t>
            </a:r>
            <a:endParaRPr lang="fr-FR" altLang="fr-FR" sz="2000" b="1" dirty="0">
              <a:solidFill>
                <a:schemeClr val="accent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3804" name="Espace réservé du numéro de diapositive 4">
            <a:extLst>
              <a:ext uri="{FF2B5EF4-FFF2-40B4-BE49-F238E27FC236}">
                <a16:creationId xmlns:a16="http://schemas.microsoft.com/office/drawing/2014/main" id="{2A3D5D30-480A-A65E-3CC3-C8008DC2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1750" y="6346825"/>
            <a:ext cx="495300" cy="457200"/>
          </a:xfrm>
          <a:prstGeom prst="ellipse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4B84DF-816F-CA49-A9AA-DCDC6BEC78E6}" type="slidenum">
              <a:rPr lang="en-US" altLang="fr-FR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fr-FR" sz="1400"/>
          </a:p>
        </p:txBody>
      </p:sp>
      <p:sp>
        <p:nvSpPr>
          <p:cNvPr id="33806" name="Espace réservé de la date 1">
            <a:extLst>
              <a:ext uri="{FF2B5EF4-FFF2-40B4-BE49-F238E27FC236}">
                <a16:creationId xmlns:a16="http://schemas.microsoft.com/office/drawing/2014/main" id="{D39D3683-8AE4-5FA6-7E8D-28244C7CB1B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/>
              <a:t>Mars 2025</a:t>
            </a:r>
          </a:p>
        </p:txBody>
      </p:sp>
      <p:sp>
        <p:nvSpPr>
          <p:cNvPr id="33807" name="Espace réservé du pied de page 2">
            <a:extLst>
              <a:ext uri="{FF2B5EF4-FFF2-40B4-BE49-F238E27FC236}">
                <a16:creationId xmlns:a16="http://schemas.microsoft.com/office/drawing/2014/main" id="{C663558A-14FC-447F-B638-F4F79E3A8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 dirty="0"/>
              <a:t>Outils pour l'Intelligence Artificielle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5D4BEFF-22A7-B505-F2D0-49B5A4D5E9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8317" y="-99392"/>
            <a:ext cx="7450410" cy="1143000"/>
          </a:xfrm>
        </p:spPr>
        <p:txBody>
          <a:bodyPr/>
          <a:lstStyle/>
          <a:p>
            <a:pPr algn="l"/>
            <a:r>
              <a:rPr lang="fr-FR" altLang="fr-FR" sz="32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2-4 Multi Layer Perceptron (MLP)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D5972D5-99D1-45FA-941E-6055A7663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45" y="2075641"/>
            <a:ext cx="3959933" cy="38834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97E1E2-31BE-4423-B4A4-67CE031249C9}"/>
              </a:ext>
            </a:extLst>
          </p:cNvPr>
          <p:cNvSpPr/>
          <p:nvPr/>
        </p:nvSpPr>
        <p:spPr>
          <a:xfrm>
            <a:off x="6023872" y="1926522"/>
            <a:ext cx="1221526" cy="113776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29D7DA05-5DD9-4567-9699-44BA7624A549}"/>
              </a:ext>
            </a:extLst>
          </p:cNvPr>
          <p:cNvCxnSpPr/>
          <p:nvPr/>
        </p:nvCxnSpPr>
        <p:spPr>
          <a:xfrm>
            <a:off x="6023872" y="3064287"/>
            <a:ext cx="1591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281F2602-B999-4802-B3DF-ADCBEE54463A}"/>
              </a:ext>
            </a:extLst>
          </p:cNvPr>
          <p:cNvCxnSpPr>
            <a:cxnSpLocks/>
          </p:cNvCxnSpPr>
          <p:nvPr/>
        </p:nvCxnSpPr>
        <p:spPr>
          <a:xfrm flipV="1">
            <a:off x="6023872" y="1697394"/>
            <a:ext cx="0" cy="13668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63E104E1-6AA5-4F56-8EC8-3845FEF63F58}"/>
              </a:ext>
            </a:extLst>
          </p:cNvPr>
          <p:cNvSpPr txBox="1"/>
          <p:nvPr/>
        </p:nvSpPr>
        <p:spPr>
          <a:xfrm>
            <a:off x="6282137" y="3182950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CF02DF3-E460-4424-8414-D58CF7D63680}"/>
              </a:ext>
            </a:extLst>
          </p:cNvPr>
          <p:cNvSpPr txBox="1"/>
          <p:nvPr/>
        </p:nvSpPr>
        <p:spPr>
          <a:xfrm>
            <a:off x="5506177" y="2310738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x2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242CB9C-012D-4B69-A371-847634444431}"/>
              </a:ext>
            </a:extLst>
          </p:cNvPr>
          <p:cNvSpPr txBox="1"/>
          <p:nvPr/>
        </p:nvSpPr>
        <p:spPr>
          <a:xfrm>
            <a:off x="5803997" y="2998284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02C925D-6F29-45F7-B604-439E998B9B9F}"/>
              </a:ext>
            </a:extLst>
          </p:cNvPr>
          <p:cNvSpPr txBox="1"/>
          <p:nvPr/>
        </p:nvSpPr>
        <p:spPr>
          <a:xfrm>
            <a:off x="7103468" y="2998284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A3C5ADC-ECB4-4260-B58B-BFA98B43B223}"/>
              </a:ext>
            </a:extLst>
          </p:cNvPr>
          <p:cNvSpPr txBox="1"/>
          <p:nvPr/>
        </p:nvSpPr>
        <p:spPr>
          <a:xfrm>
            <a:off x="5774501" y="1697394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4F2E43E-D641-418B-97AC-8E01C57B5F35}"/>
              </a:ext>
            </a:extLst>
          </p:cNvPr>
          <p:cNvSpPr txBox="1"/>
          <p:nvPr/>
        </p:nvSpPr>
        <p:spPr>
          <a:xfrm>
            <a:off x="6160737" y="1341278"/>
            <a:ext cx="166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Neurone</a:t>
            </a:r>
            <a:r>
              <a:rPr lang="en-US" dirty="0"/>
              <a:t> A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27F3A2D-9F39-453D-AAB9-203AD29C5AAB}"/>
              </a:ext>
            </a:extLst>
          </p:cNvPr>
          <p:cNvSpPr/>
          <p:nvPr/>
        </p:nvSpPr>
        <p:spPr>
          <a:xfrm>
            <a:off x="5945927" y="2998284"/>
            <a:ext cx="150073" cy="1402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5B7E4DB-494B-4FC7-B71F-384170CA919B}"/>
              </a:ext>
            </a:extLst>
          </p:cNvPr>
          <p:cNvSpPr/>
          <p:nvPr/>
        </p:nvSpPr>
        <p:spPr>
          <a:xfrm>
            <a:off x="5945926" y="1863862"/>
            <a:ext cx="150073" cy="1402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0A08F3F8-4682-47B0-82BB-C3B11AFA0D39}"/>
              </a:ext>
            </a:extLst>
          </p:cNvPr>
          <p:cNvSpPr/>
          <p:nvPr/>
        </p:nvSpPr>
        <p:spPr>
          <a:xfrm>
            <a:off x="7163757" y="1843204"/>
            <a:ext cx="150073" cy="1402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39454B3-D4D5-40A5-A2B3-08B476D234B8}"/>
              </a:ext>
            </a:extLst>
          </p:cNvPr>
          <p:cNvSpPr/>
          <p:nvPr/>
        </p:nvSpPr>
        <p:spPr>
          <a:xfrm>
            <a:off x="7173270" y="2980017"/>
            <a:ext cx="150073" cy="1402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iangle rectangle 11">
            <a:extLst>
              <a:ext uri="{FF2B5EF4-FFF2-40B4-BE49-F238E27FC236}">
                <a16:creationId xmlns:a16="http://schemas.microsoft.com/office/drawing/2014/main" id="{695E35EC-3147-47BD-A4D6-D3F55F7FCAA5}"/>
              </a:ext>
            </a:extLst>
          </p:cNvPr>
          <p:cNvSpPr/>
          <p:nvPr/>
        </p:nvSpPr>
        <p:spPr>
          <a:xfrm>
            <a:off x="5221154" y="1793899"/>
            <a:ext cx="2102189" cy="1807860"/>
          </a:xfrm>
          <a:prstGeom prst="rtTriangle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7892E12-92F2-4C1D-ACEC-CAF9C10D0D44}"/>
              </a:ext>
            </a:extLst>
          </p:cNvPr>
          <p:cNvSpPr/>
          <p:nvPr/>
        </p:nvSpPr>
        <p:spPr>
          <a:xfrm>
            <a:off x="5437539" y="2910724"/>
            <a:ext cx="36064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7EA42EE6-3871-42ED-AC73-0B8D02BF5A12}"/>
              </a:ext>
            </a:extLst>
          </p:cNvPr>
          <p:cNvSpPr/>
          <p:nvPr/>
        </p:nvSpPr>
        <p:spPr>
          <a:xfrm>
            <a:off x="6646270" y="2091527"/>
            <a:ext cx="36064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340C7B6-FFE2-4804-BD9E-34E805DAF542}"/>
              </a:ext>
            </a:extLst>
          </p:cNvPr>
          <p:cNvSpPr txBox="1"/>
          <p:nvPr/>
        </p:nvSpPr>
        <p:spPr>
          <a:xfrm>
            <a:off x="7543218" y="2018979"/>
            <a:ext cx="1544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W0A=1</a:t>
            </a:r>
          </a:p>
          <a:p>
            <a:r>
              <a:rPr lang="en-US" dirty="0"/>
              <a:t>W1A=-2</a:t>
            </a:r>
          </a:p>
          <a:p>
            <a:r>
              <a:rPr lang="en-US" dirty="0"/>
              <a:t>W2A=-2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B7F8AD-7F19-4FDE-AE99-A084BAC5830D}"/>
              </a:ext>
            </a:extLst>
          </p:cNvPr>
          <p:cNvSpPr/>
          <p:nvPr/>
        </p:nvSpPr>
        <p:spPr>
          <a:xfrm>
            <a:off x="6064760" y="4427555"/>
            <a:ext cx="1221526" cy="113776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A1898926-6F5A-4212-B7E1-ABBBBA11F99A}"/>
              </a:ext>
            </a:extLst>
          </p:cNvPr>
          <p:cNvCxnSpPr/>
          <p:nvPr/>
        </p:nvCxnSpPr>
        <p:spPr>
          <a:xfrm>
            <a:off x="6064760" y="5565320"/>
            <a:ext cx="1591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F3B6EC88-8462-4709-9F80-4ABEC2AFD8C5}"/>
              </a:ext>
            </a:extLst>
          </p:cNvPr>
          <p:cNvCxnSpPr>
            <a:cxnSpLocks/>
          </p:cNvCxnSpPr>
          <p:nvPr/>
        </p:nvCxnSpPr>
        <p:spPr>
          <a:xfrm flipV="1">
            <a:off x="6064760" y="4198427"/>
            <a:ext cx="0" cy="13668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319AE42D-4616-4DD9-8EB6-33E2160923A8}"/>
              </a:ext>
            </a:extLst>
          </p:cNvPr>
          <p:cNvSpPr txBox="1"/>
          <p:nvPr/>
        </p:nvSpPr>
        <p:spPr>
          <a:xfrm>
            <a:off x="6323025" y="5683983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8C0E26D-4FF8-4F3A-ACA3-D185F901A8C2}"/>
              </a:ext>
            </a:extLst>
          </p:cNvPr>
          <p:cNvSpPr txBox="1"/>
          <p:nvPr/>
        </p:nvSpPr>
        <p:spPr>
          <a:xfrm>
            <a:off x="5547065" y="4811771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x2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3DCFA80-F3F4-402D-B744-BE8D13A341CC}"/>
              </a:ext>
            </a:extLst>
          </p:cNvPr>
          <p:cNvSpPr txBox="1"/>
          <p:nvPr/>
        </p:nvSpPr>
        <p:spPr>
          <a:xfrm>
            <a:off x="5844885" y="5499317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232892A-A50A-4D7C-A377-DE0E11AF2922}"/>
              </a:ext>
            </a:extLst>
          </p:cNvPr>
          <p:cNvSpPr txBox="1"/>
          <p:nvPr/>
        </p:nvSpPr>
        <p:spPr>
          <a:xfrm>
            <a:off x="7144356" y="5499317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B8E8149-56E1-49BE-9496-A1F96F9B909F}"/>
              </a:ext>
            </a:extLst>
          </p:cNvPr>
          <p:cNvSpPr txBox="1"/>
          <p:nvPr/>
        </p:nvSpPr>
        <p:spPr>
          <a:xfrm>
            <a:off x="5815389" y="4198427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0411FDD-B8A3-42B5-8DDD-230A0731D5B3}"/>
              </a:ext>
            </a:extLst>
          </p:cNvPr>
          <p:cNvSpPr txBox="1"/>
          <p:nvPr/>
        </p:nvSpPr>
        <p:spPr>
          <a:xfrm>
            <a:off x="6201625" y="3842311"/>
            <a:ext cx="166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Neurone</a:t>
            </a:r>
            <a:r>
              <a:rPr lang="en-US" dirty="0"/>
              <a:t> B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7E09C731-7E3E-46A1-8A63-3A97EA950290}"/>
              </a:ext>
            </a:extLst>
          </p:cNvPr>
          <p:cNvSpPr/>
          <p:nvPr/>
        </p:nvSpPr>
        <p:spPr>
          <a:xfrm>
            <a:off x="5986815" y="5499317"/>
            <a:ext cx="150073" cy="1402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082E1820-EC09-478F-A849-A855350E0AA4}"/>
              </a:ext>
            </a:extLst>
          </p:cNvPr>
          <p:cNvSpPr/>
          <p:nvPr/>
        </p:nvSpPr>
        <p:spPr>
          <a:xfrm>
            <a:off x="5986814" y="4364895"/>
            <a:ext cx="150073" cy="1402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1195B10E-7E21-448F-9E02-71DA4F5A4B1E}"/>
              </a:ext>
            </a:extLst>
          </p:cNvPr>
          <p:cNvSpPr/>
          <p:nvPr/>
        </p:nvSpPr>
        <p:spPr>
          <a:xfrm>
            <a:off x="7204645" y="4344237"/>
            <a:ext cx="150073" cy="14020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8E366A3D-79D5-4C90-ADAD-5BE7D7028C38}"/>
              </a:ext>
            </a:extLst>
          </p:cNvPr>
          <p:cNvSpPr/>
          <p:nvPr/>
        </p:nvSpPr>
        <p:spPr>
          <a:xfrm>
            <a:off x="7214158" y="5481050"/>
            <a:ext cx="150073" cy="1402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riangle rectangle 40">
            <a:extLst>
              <a:ext uri="{FF2B5EF4-FFF2-40B4-BE49-F238E27FC236}">
                <a16:creationId xmlns:a16="http://schemas.microsoft.com/office/drawing/2014/main" id="{7774D948-DB1E-4887-BF91-A6D223E77BC1}"/>
              </a:ext>
            </a:extLst>
          </p:cNvPr>
          <p:cNvSpPr/>
          <p:nvPr/>
        </p:nvSpPr>
        <p:spPr>
          <a:xfrm rot="10800000">
            <a:off x="6464955" y="4189093"/>
            <a:ext cx="1099352" cy="1137765"/>
          </a:xfrm>
          <a:prstGeom prst="rtTriangle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4D8EB753-EA05-47B4-925A-F83F4AE8CB1C}"/>
              </a:ext>
            </a:extLst>
          </p:cNvPr>
          <p:cNvSpPr/>
          <p:nvPr/>
        </p:nvSpPr>
        <p:spPr>
          <a:xfrm>
            <a:off x="6104314" y="4926564"/>
            <a:ext cx="36064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A10D8CD-F0B6-49FD-B43D-8CC1B26F6EE1}"/>
              </a:ext>
            </a:extLst>
          </p:cNvPr>
          <p:cNvSpPr/>
          <p:nvPr/>
        </p:nvSpPr>
        <p:spPr>
          <a:xfrm>
            <a:off x="6721887" y="4158645"/>
            <a:ext cx="36064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82C3ACE-3916-4998-9610-45EF5991A4BF}"/>
              </a:ext>
            </a:extLst>
          </p:cNvPr>
          <p:cNvSpPr txBox="1"/>
          <p:nvPr/>
        </p:nvSpPr>
        <p:spPr>
          <a:xfrm>
            <a:off x="7584106" y="4520012"/>
            <a:ext cx="1544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W0B=-1.5</a:t>
            </a:r>
          </a:p>
          <a:p>
            <a:r>
              <a:rPr lang="en-US" dirty="0"/>
              <a:t>W1B=1</a:t>
            </a:r>
          </a:p>
          <a:p>
            <a:r>
              <a:rPr lang="en-US" dirty="0"/>
              <a:t>W2B=1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D32701D-A72E-4EAC-B4D8-A526FF605B75}"/>
              </a:ext>
            </a:extLst>
          </p:cNvPr>
          <p:cNvSpPr/>
          <p:nvPr/>
        </p:nvSpPr>
        <p:spPr>
          <a:xfrm>
            <a:off x="9716560" y="2192911"/>
            <a:ext cx="1221526" cy="113776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A6F0EDEE-C5AE-4BBC-AA35-C7E956592873}"/>
              </a:ext>
            </a:extLst>
          </p:cNvPr>
          <p:cNvCxnSpPr/>
          <p:nvPr/>
        </p:nvCxnSpPr>
        <p:spPr>
          <a:xfrm>
            <a:off x="9716560" y="3330676"/>
            <a:ext cx="1591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FC0DFFBD-D87C-4B05-AD24-A67DA7FB665A}"/>
              </a:ext>
            </a:extLst>
          </p:cNvPr>
          <p:cNvCxnSpPr>
            <a:cxnSpLocks/>
          </p:cNvCxnSpPr>
          <p:nvPr/>
        </p:nvCxnSpPr>
        <p:spPr>
          <a:xfrm flipV="1">
            <a:off x="9716560" y="1963783"/>
            <a:ext cx="0" cy="13668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4B34E7FA-C272-491D-A480-F7249FD55FDF}"/>
              </a:ext>
            </a:extLst>
          </p:cNvPr>
          <p:cNvSpPr txBox="1"/>
          <p:nvPr/>
        </p:nvSpPr>
        <p:spPr>
          <a:xfrm>
            <a:off x="9974825" y="3449339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358CE4F6-4353-4805-AC12-660532580B0C}"/>
              </a:ext>
            </a:extLst>
          </p:cNvPr>
          <p:cNvSpPr txBox="1"/>
          <p:nvPr/>
        </p:nvSpPr>
        <p:spPr>
          <a:xfrm>
            <a:off x="9237828" y="2524374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EE0784A5-D651-4D8C-AE8A-7C55CF38E53B}"/>
              </a:ext>
            </a:extLst>
          </p:cNvPr>
          <p:cNvSpPr txBox="1"/>
          <p:nvPr/>
        </p:nvSpPr>
        <p:spPr>
          <a:xfrm>
            <a:off x="9496685" y="3264673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F9F34325-CF41-4D4D-ABB5-5AFA18209CD3}"/>
              </a:ext>
            </a:extLst>
          </p:cNvPr>
          <p:cNvSpPr txBox="1"/>
          <p:nvPr/>
        </p:nvSpPr>
        <p:spPr>
          <a:xfrm>
            <a:off x="10796156" y="3264673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01EAA3-C031-459B-B762-CCBD303DA2AC}"/>
              </a:ext>
            </a:extLst>
          </p:cNvPr>
          <p:cNvSpPr txBox="1"/>
          <p:nvPr/>
        </p:nvSpPr>
        <p:spPr>
          <a:xfrm>
            <a:off x="9467189" y="1963783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795EB299-CB58-45E7-BE45-3B8226A120D7}"/>
              </a:ext>
            </a:extLst>
          </p:cNvPr>
          <p:cNvSpPr txBox="1"/>
          <p:nvPr/>
        </p:nvSpPr>
        <p:spPr>
          <a:xfrm>
            <a:off x="9853425" y="1607667"/>
            <a:ext cx="166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Neurone</a:t>
            </a:r>
            <a:r>
              <a:rPr lang="en-US" dirty="0"/>
              <a:t> C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C666B973-6E80-485B-A3AC-D305A639362D}"/>
              </a:ext>
            </a:extLst>
          </p:cNvPr>
          <p:cNvSpPr/>
          <p:nvPr/>
        </p:nvSpPr>
        <p:spPr>
          <a:xfrm>
            <a:off x="9638615" y="3264673"/>
            <a:ext cx="150073" cy="1402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0FB8B074-6BC0-49AC-81FE-724B91224FEF}"/>
              </a:ext>
            </a:extLst>
          </p:cNvPr>
          <p:cNvSpPr/>
          <p:nvPr/>
        </p:nvSpPr>
        <p:spPr>
          <a:xfrm>
            <a:off x="9638614" y="2130251"/>
            <a:ext cx="150073" cy="14020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12B3DAEA-8A23-46F9-82BF-DC82572DBCB8}"/>
              </a:ext>
            </a:extLst>
          </p:cNvPr>
          <p:cNvSpPr/>
          <p:nvPr/>
        </p:nvSpPr>
        <p:spPr>
          <a:xfrm>
            <a:off x="10856445" y="2109593"/>
            <a:ext cx="150073" cy="14020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F45E5A3A-454E-48CF-AEA0-6B45A525B76F}"/>
              </a:ext>
            </a:extLst>
          </p:cNvPr>
          <p:cNvSpPr/>
          <p:nvPr/>
        </p:nvSpPr>
        <p:spPr>
          <a:xfrm>
            <a:off x="10865958" y="3246406"/>
            <a:ext cx="150073" cy="14020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riangle rectangle 57">
            <a:extLst>
              <a:ext uri="{FF2B5EF4-FFF2-40B4-BE49-F238E27FC236}">
                <a16:creationId xmlns:a16="http://schemas.microsoft.com/office/drawing/2014/main" id="{7C5C685B-8871-4E72-A8B7-D769C33EF3D4}"/>
              </a:ext>
            </a:extLst>
          </p:cNvPr>
          <p:cNvSpPr/>
          <p:nvPr/>
        </p:nvSpPr>
        <p:spPr>
          <a:xfrm rot="10800000">
            <a:off x="8739605" y="1923999"/>
            <a:ext cx="2496300" cy="2091219"/>
          </a:xfrm>
          <a:prstGeom prst="rtTriangle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47F9E89E-22CE-45A2-8BA9-0FA381A2B8BE}"/>
              </a:ext>
            </a:extLst>
          </p:cNvPr>
          <p:cNvSpPr/>
          <p:nvPr/>
        </p:nvSpPr>
        <p:spPr>
          <a:xfrm>
            <a:off x="9256695" y="2921841"/>
            <a:ext cx="36064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36284159-F349-4E4C-A3BF-C23B480E390B}"/>
              </a:ext>
            </a:extLst>
          </p:cNvPr>
          <p:cNvSpPr/>
          <p:nvPr/>
        </p:nvSpPr>
        <p:spPr>
          <a:xfrm>
            <a:off x="10429040" y="2355651"/>
            <a:ext cx="36064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68EA321A-56E0-4E6D-87FA-2D16032A5938}"/>
              </a:ext>
            </a:extLst>
          </p:cNvPr>
          <p:cNvSpPr txBox="1"/>
          <p:nvPr/>
        </p:nvSpPr>
        <p:spPr>
          <a:xfrm>
            <a:off x="11235906" y="2285368"/>
            <a:ext cx="1544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W0A=-1</a:t>
            </a:r>
          </a:p>
          <a:p>
            <a:r>
              <a:rPr lang="en-US" dirty="0"/>
              <a:t>W1A=2</a:t>
            </a:r>
          </a:p>
          <a:p>
            <a:r>
              <a:rPr lang="en-US" dirty="0"/>
              <a:t>W2A=2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FEA3614-C072-4F4E-BF83-36DC05C15BB0}"/>
              </a:ext>
            </a:extLst>
          </p:cNvPr>
          <p:cNvSpPr/>
          <p:nvPr/>
        </p:nvSpPr>
        <p:spPr>
          <a:xfrm>
            <a:off x="9458640" y="4968773"/>
            <a:ext cx="1221526" cy="1137765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79575C25-DF7D-433A-BE22-C1E941481592}"/>
              </a:ext>
            </a:extLst>
          </p:cNvPr>
          <p:cNvCxnSpPr/>
          <p:nvPr/>
        </p:nvCxnSpPr>
        <p:spPr>
          <a:xfrm>
            <a:off x="9458640" y="6106538"/>
            <a:ext cx="1591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CDCFB6F9-E863-49FA-B439-5EE8C9AB2E27}"/>
              </a:ext>
            </a:extLst>
          </p:cNvPr>
          <p:cNvCxnSpPr>
            <a:cxnSpLocks/>
          </p:cNvCxnSpPr>
          <p:nvPr/>
        </p:nvCxnSpPr>
        <p:spPr>
          <a:xfrm flipV="1">
            <a:off x="9458640" y="4739645"/>
            <a:ext cx="0" cy="13668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2E24C445-B20F-4A67-B2CF-9ACCE4B4DCD4}"/>
              </a:ext>
            </a:extLst>
          </p:cNvPr>
          <p:cNvSpPr txBox="1"/>
          <p:nvPr/>
        </p:nvSpPr>
        <p:spPr>
          <a:xfrm>
            <a:off x="9716905" y="6225201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96590997-1FDE-4552-A1EF-DFB7F28BCEEE}"/>
              </a:ext>
            </a:extLst>
          </p:cNvPr>
          <p:cNvSpPr txBox="1"/>
          <p:nvPr/>
        </p:nvSpPr>
        <p:spPr>
          <a:xfrm>
            <a:off x="8979908" y="5300236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x2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70294590-D942-4FBD-9CF0-2F77E927BE6D}"/>
              </a:ext>
            </a:extLst>
          </p:cNvPr>
          <p:cNvSpPr txBox="1"/>
          <p:nvPr/>
        </p:nvSpPr>
        <p:spPr>
          <a:xfrm>
            <a:off x="9238765" y="6040535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25DAFF1F-6660-431F-AACE-2A42817E0AEC}"/>
              </a:ext>
            </a:extLst>
          </p:cNvPr>
          <p:cNvSpPr txBox="1"/>
          <p:nvPr/>
        </p:nvSpPr>
        <p:spPr>
          <a:xfrm>
            <a:off x="10538236" y="6040535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E29C5CDB-EB65-4C2E-B487-12F452B9D260}"/>
              </a:ext>
            </a:extLst>
          </p:cNvPr>
          <p:cNvSpPr txBox="1"/>
          <p:nvPr/>
        </p:nvSpPr>
        <p:spPr>
          <a:xfrm>
            <a:off x="9209269" y="4739645"/>
            <a:ext cx="43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349095F6-49F1-47A7-BA81-DE8744A37290}"/>
              </a:ext>
            </a:extLst>
          </p:cNvPr>
          <p:cNvSpPr txBox="1"/>
          <p:nvPr/>
        </p:nvSpPr>
        <p:spPr>
          <a:xfrm>
            <a:off x="9595505" y="4383529"/>
            <a:ext cx="166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Neurone</a:t>
            </a:r>
            <a:r>
              <a:rPr lang="en-US" dirty="0"/>
              <a:t> C</a:t>
            </a:r>
          </a:p>
        </p:txBody>
      </p:sp>
      <p:sp>
        <p:nvSpPr>
          <p:cNvPr id="88" name="Ellipse 87">
            <a:extLst>
              <a:ext uri="{FF2B5EF4-FFF2-40B4-BE49-F238E27FC236}">
                <a16:creationId xmlns:a16="http://schemas.microsoft.com/office/drawing/2014/main" id="{AAB0FAF1-DC02-4069-9076-92B32EFDC900}"/>
              </a:ext>
            </a:extLst>
          </p:cNvPr>
          <p:cNvSpPr/>
          <p:nvPr/>
        </p:nvSpPr>
        <p:spPr>
          <a:xfrm>
            <a:off x="9380695" y="6040535"/>
            <a:ext cx="150073" cy="14020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Ellipse 88">
            <a:extLst>
              <a:ext uri="{FF2B5EF4-FFF2-40B4-BE49-F238E27FC236}">
                <a16:creationId xmlns:a16="http://schemas.microsoft.com/office/drawing/2014/main" id="{FAFC0261-71BA-40F6-A252-3395355910BD}"/>
              </a:ext>
            </a:extLst>
          </p:cNvPr>
          <p:cNvSpPr/>
          <p:nvPr/>
        </p:nvSpPr>
        <p:spPr>
          <a:xfrm>
            <a:off x="9380694" y="4906113"/>
            <a:ext cx="150073" cy="1402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Ellipse 89">
            <a:extLst>
              <a:ext uri="{FF2B5EF4-FFF2-40B4-BE49-F238E27FC236}">
                <a16:creationId xmlns:a16="http://schemas.microsoft.com/office/drawing/2014/main" id="{0647F870-6DE0-440F-9453-E376A44BC8DF}"/>
              </a:ext>
            </a:extLst>
          </p:cNvPr>
          <p:cNvSpPr/>
          <p:nvPr/>
        </p:nvSpPr>
        <p:spPr>
          <a:xfrm>
            <a:off x="10598525" y="4885455"/>
            <a:ext cx="150073" cy="14020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Ellipse 90">
            <a:extLst>
              <a:ext uri="{FF2B5EF4-FFF2-40B4-BE49-F238E27FC236}">
                <a16:creationId xmlns:a16="http://schemas.microsoft.com/office/drawing/2014/main" id="{AACCA4C7-1087-4A63-8C12-6CA91E55DA84}"/>
              </a:ext>
            </a:extLst>
          </p:cNvPr>
          <p:cNvSpPr/>
          <p:nvPr/>
        </p:nvSpPr>
        <p:spPr>
          <a:xfrm>
            <a:off x="10608038" y="6022268"/>
            <a:ext cx="150073" cy="1402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riangle rectangle 91">
            <a:extLst>
              <a:ext uri="{FF2B5EF4-FFF2-40B4-BE49-F238E27FC236}">
                <a16:creationId xmlns:a16="http://schemas.microsoft.com/office/drawing/2014/main" id="{A3E7CBE2-CFE1-4C79-AD54-ECC198D24C8C}"/>
              </a:ext>
            </a:extLst>
          </p:cNvPr>
          <p:cNvSpPr/>
          <p:nvPr/>
        </p:nvSpPr>
        <p:spPr>
          <a:xfrm rot="10800000">
            <a:off x="9892235" y="4805161"/>
            <a:ext cx="1037301" cy="1085464"/>
          </a:xfrm>
          <a:prstGeom prst="rtTriangle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Ellipse 92">
            <a:extLst>
              <a:ext uri="{FF2B5EF4-FFF2-40B4-BE49-F238E27FC236}">
                <a16:creationId xmlns:a16="http://schemas.microsoft.com/office/drawing/2014/main" id="{3AC77505-BE05-4A18-8B05-CEEC39042044}"/>
              </a:ext>
            </a:extLst>
          </p:cNvPr>
          <p:cNvSpPr/>
          <p:nvPr/>
        </p:nvSpPr>
        <p:spPr>
          <a:xfrm>
            <a:off x="9903616" y="5334985"/>
            <a:ext cx="36064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94" name="Ellipse 93">
            <a:extLst>
              <a:ext uri="{FF2B5EF4-FFF2-40B4-BE49-F238E27FC236}">
                <a16:creationId xmlns:a16="http://schemas.microsoft.com/office/drawing/2014/main" id="{BD284E86-060C-4A9E-A165-18EDBA1E7963}"/>
              </a:ext>
            </a:extLst>
          </p:cNvPr>
          <p:cNvSpPr/>
          <p:nvPr/>
        </p:nvSpPr>
        <p:spPr>
          <a:xfrm>
            <a:off x="10749458" y="4950039"/>
            <a:ext cx="36064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8955EAC1-5D17-485F-954E-A6734F8D1BB0}"/>
              </a:ext>
            </a:extLst>
          </p:cNvPr>
          <p:cNvSpPr txBox="1"/>
          <p:nvPr/>
        </p:nvSpPr>
        <p:spPr>
          <a:xfrm>
            <a:off x="11167041" y="5117205"/>
            <a:ext cx="1544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W0A=-1</a:t>
            </a:r>
          </a:p>
          <a:p>
            <a:r>
              <a:rPr lang="en-US" dirty="0"/>
              <a:t>W1A=2</a:t>
            </a:r>
          </a:p>
          <a:p>
            <a:r>
              <a:rPr lang="en-US" dirty="0"/>
              <a:t>W2A=2</a:t>
            </a:r>
          </a:p>
        </p:txBody>
      </p:sp>
      <p:sp>
        <p:nvSpPr>
          <p:cNvPr id="96" name="Triangle rectangle 95">
            <a:extLst>
              <a:ext uri="{FF2B5EF4-FFF2-40B4-BE49-F238E27FC236}">
                <a16:creationId xmlns:a16="http://schemas.microsoft.com/office/drawing/2014/main" id="{BD70798B-97D4-45BA-BFF9-AD555C227946}"/>
              </a:ext>
            </a:extLst>
          </p:cNvPr>
          <p:cNvSpPr/>
          <p:nvPr/>
        </p:nvSpPr>
        <p:spPr>
          <a:xfrm>
            <a:off x="9181926" y="5068070"/>
            <a:ext cx="1167255" cy="1288280"/>
          </a:xfrm>
          <a:prstGeom prst="rtTriangle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F3AF3029-24EA-4BF7-B767-30632E819862}"/>
              </a:ext>
            </a:extLst>
          </p:cNvPr>
          <p:cNvSpPr/>
          <p:nvPr/>
        </p:nvSpPr>
        <p:spPr>
          <a:xfrm>
            <a:off x="9548471" y="5793140"/>
            <a:ext cx="360641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7E062D8-4C2B-4282-9CE9-97EF8D2CCA4A}"/>
              </a:ext>
            </a:extLst>
          </p:cNvPr>
          <p:cNvSpPr txBox="1"/>
          <p:nvPr/>
        </p:nvSpPr>
        <p:spPr>
          <a:xfrm>
            <a:off x="8259944" y="4133914"/>
            <a:ext cx="4504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Réponse</a:t>
            </a:r>
            <a:r>
              <a:rPr lang="en-US" sz="1400" dirty="0"/>
              <a:t> de C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fonction</a:t>
            </a:r>
            <a:r>
              <a:rPr lang="en-US" sz="1400" dirty="0"/>
              <a:t> de </a:t>
            </a:r>
            <a:r>
              <a:rPr lang="en-US" sz="1400" dirty="0" err="1"/>
              <a:t>l’espace</a:t>
            </a:r>
            <a:r>
              <a:rPr lang="en-US" sz="1400" dirty="0"/>
              <a:t> </a:t>
            </a:r>
            <a:r>
              <a:rPr lang="en-US" sz="1400" dirty="0" err="1"/>
              <a:t>d’entrée</a:t>
            </a:r>
            <a:r>
              <a:rPr lang="en-US" sz="1400" dirty="0"/>
              <a:t> x1, x2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52120F31-C205-40C1-BA74-E62281E8647F}"/>
              </a:ext>
            </a:extLst>
          </p:cNvPr>
          <p:cNvSpPr txBox="1"/>
          <p:nvPr/>
        </p:nvSpPr>
        <p:spPr>
          <a:xfrm>
            <a:off x="8543803" y="1375608"/>
            <a:ext cx="4504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Réponse</a:t>
            </a:r>
            <a:r>
              <a:rPr lang="en-US" sz="1400" dirty="0"/>
              <a:t> de C </a:t>
            </a:r>
            <a:r>
              <a:rPr lang="en-US" sz="1400" dirty="0" err="1"/>
              <a:t>fonction</a:t>
            </a:r>
            <a:r>
              <a:rPr lang="en-US" sz="1400" dirty="0"/>
              <a:t> de </a:t>
            </a:r>
            <a:r>
              <a:rPr lang="en-US" sz="1400" dirty="0" err="1"/>
              <a:t>l’espace</a:t>
            </a:r>
            <a:r>
              <a:rPr lang="en-US" sz="1400" dirty="0"/>
              <a:t> </a:t>
            </a:r>
            <a:r>
              <a:rPr lang="en-US" sz="1400" dirty="0" err="1"/>
              <a:t>d’entrée</a:t>
            </a:r>
            <a:r>
              <a:rPr lang="en-US" sz="1400" dirty="0"/>
              <a:t> A, B</a:t>
            </a:r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A23F74C0-12BD-4CED-958F-BB7141AF8AEC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5221154" y="1793899"/>
            <a:ext cx="2102189" cy="180786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F905F0E7-9BE9-4559-8100-1748819F9BC0}"/>
              </a:ext>
            </a:extLst>
          </p:cNvPr>
          <p:cNvCxnSpPr>
            <a:cxnSpLocks/>
          </p:cNvCxnSpPr>
          <p:nvPr/>
        </p:nvCxnSpPr>
        <p:spPr>
          <a:xfrm>
            <a:off x="6441614" y="4185028"/>
            <a:ext cx="1121386" cy="1149957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A9517F73-0D24-4E45-8960-B2B2101C89C1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8737593" y="1932388"/>
            <a:ext cx="2498312" cy="208283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3A5DBDEF-25C3-4DA2-B5C3-56C33F1B4503}"/>
              </a:ext>
            </a:extLst>
          </p:cNvPr>
          <p:cNvCxnSpPr>
            <a:cxnSpLocks/>
            <a:endCxn id="96" idx="4"/>
          </p:cNvCxnSpPr>
          <p:nvPr/>
        </p:nvCxnSpPr>
        <p:spPr>
          <a:xfrm>
            <a:off x="9185068" y="5073876"/>
            <a:ext cx="1164113" cy="128247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9DC16906-AA28-4CEA-AE60-3C847E2A90CE}"/>
              </a:ext>
            </a:extLst>
          </p:cNvPr>
          <p:cNvCxnSpPr>
            <a:cxnSpLocks/>
            <a:endCxn id="92" idx="0"/>
          </p:cNvCxnSpPr>
          <p:nvPr/>
        </p:nvCxnSpPr>
        <p:spPr>
          <a:xfrm>
            <a:off x="9890595" y="4808280"/>
            <a:ext cx="1038941" cy="108234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70DD-F6CA-E883-5862-2C45FFA6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2" name="Titre 2">
            <a:extLst>
              <a:ext uri="{FF2B5EF4-FFF2-40B4-BE49-F238E27FC236}">
                <a16:creationId xmlns:a16="http://schemas.microsoft.com/office/drawing/2014/main" id="{4905B7BA-88CB-9CD1-6C10-C80521EFA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7449" y="53975"/>
            <a:ext cx="9865543" cy="1143000"/>
          </a:xfrm>
        </p:spPr>
        <p:txBody>
          <a:bodyPr/>
          <a:lstStyle/>
          <a:p>
            <a:r>
              <a:rPr lang="fr-CA" altLang="fr-FR" sz="3200" b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Activation </a:t>
            </a:r>
            <a:r>
              <a:rPr lang="fr-CA" altLang="fr-FR" sz="3200" b="1" dirty="0" err="1">
                <a:solidFill>
                  <a:schemeClr val="accent2"/>
                </a:solidFill>
                <a:ea typeface="ＭＳ Ｐゴシック" panose="020B0600070205080204" pitchFamily="34" charset="-128"/>
              </a:rPr>
              <a:t>Function</a:t>
            </a:r>
            <a:r>
              <a:rPr lang="fr-CA" altLang="fr-FR" sz="3200" b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 for a Multi-Layer Perceptron (1/2)</a:t>
            </a:r>
            <a:endParaRPr lang="fr-FR" altLang="fr-FR" sz="3200" b="1" dirty="0">
              <a:solidFill>
                <a:schemeClr val="accent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73" name="Espace réservé du numéro de diapositive 4">
            <a:extLst>
              <a:ext uri="{FF2B5EF4-FFF2-40B4-BE49-F238E27FC236}">
                <a16:creationId xmlns:a16="http://schemas.microsoft.com/office/drawing/2014/main" id="{4B180276-E1A0-8A14-5ABB-1D146CA2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1750" y="6346825"/>
            <a:ext cx="495300" cy="457200"/>
          </a:xfrm>
          <a:prstGeom prst="ellipse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C27EC5-89D5-A146-86E3-0FE915E21058}" type="slidenum">
              <a:rPr lang="en-US" altLang="fr-FR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fr-FR" sz="1400"/>
          </a:p>
        </p:txBody>
      </p:sp>
      <p:sp>
        <p:nvSpPr>
          <p:cNvPr id="35874" name="Espace réservé de la date 1">
            <a:extLst>
              <a:ext uri="{FF2B5EF4-FFF2-40B4-BE49-F238E27FC236}">
                <a16:creationId xmlns:a16="http://schemas.microsoft.com/office/drawing/2014/main" id="{3782CFA6-EA3A-C3A9-9E3F-BD3A49671DF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 dirty="0"/>
              <a:t>Mars 2025</a:t>
            </a:r>
          </a:p>
        </p:txBody>
      </p:sp>
      <p:sp>
        <p:nvSpPr>
          <p:cNvPr id="35875" name="Espace réservé du pied de page 2">
            <a:extLst>
              <a:ext uri="{FF2B5EF4-FFF2-40B4-BE49-F238E27FC236}">
                <a16:creationId xmlns:a16="http://schemas.microsoft.com/office/drawing/2014/main" id="{A98E98D3-3D5F-4F02-2501-37009A85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/>
              <a:t>Outils pour l'Intelligence Artificielle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2CF1B2F-BACC-9987-CD08-A822D68A09E1}"/>
              </a:ext>
            </a:extLst>
          </p:cNvPr>
          <p:cNvSpPr txBox="1"/>
          <p:nvPr/>
        </p:nvSpPr>
        <p:spPr>
          <a:xfrm>
            <a:off x="1523716" y="1376408"/>
            <a:ext cx="90730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ym typeface="Wingdings" pitchFamily="2" charset="2"/>
              </a:rPr>
              <a:t> Learning </a:t>
            </a:r>
            <a:r>
              <a:rPr lang="fr-FR" sz="2400" dirty="0" err="1">
                <a:sym typeface="Wingdings" pitchFamily="2" charset="2"/>
              </a:rPr>
              <a:t>method</a:t>
            </a:r>
            <a:r>
              <a:rPr lang="fr-FR" sz="2400" dirty="0">
                <a:sym typeface="Wingdings" pitchFamily="2" charset="2"/>
              </a:rPr>
              <a:t> to </a:t>
            </a:r>
            <a:r>
              <a:rPr lang="fr-FR" sz="2400" dirty="0" err="1">
                <a:sym typeface="Wingdings" pitchFamily="2" charset="2"/>
              </a:rPr>
              <a:t>automatically</a:t>
            </a:r>
            <a:r>
              <a:rPr lang="fr-FR" sz="2400" dirty="0">
                <a:sym typeface="Wingdings" pitchFamily="2" charset="2"/>
              </a:rPr>
              <a:t> set the </a:t>
            </a:r>
            <a:r>
              <a:rPr lang="fr-FR" sz="2400" dirty="0" err="1">
                <a:sym typeface="Wingdings" pitchFamily="2" charset="2"/>
              </a:rPr>
              <a:t>synaptic</a:t>
            </a:r>
            <a:r>
              <a:rPr lang="fr-FR" sz="2400" dirty="0">
                <a:sym typeface="Wingdings" pitchFamily="2" charset="2"/>
              </a:rPr>
              <a:t> </a:t>
            </a:r>
            <a:r>
              <a:rPr lang="fr-FR" sz="2400" dirty="0" err="1">
                <a:sym typeface="Wingdings" pitchFamily="2" charset="2"/>
              </a:rPr>
              <a:t>weights</a:t>
            </a:r>
            <a:endParaRPr lang="fr-FR" sz="2400" dirty="0">
              <a:sym typeface="Wingdings" pitchFamily="2" charset="2"/>
            </a:endParaRPr>
          </a:p>
          <a:p>
            <a:r>
              <a:rPr lang="fr-FR" sz="2400" dirty="0">
                <a:sym typeface="Wingdings" pitchFamily="2" charset="2"/>
              </a:rPr>
              <a:t></a:t>
            </a:r>
            <a:r>
              <a:rPr lang="fr-FR" sz="2400" dirty="0"/>
              <a:t> </a:t>
            </a:r>
            <a:r>
              <a:rPr lang="fr-FR" sz="2400" dirty="0" err="1"/>
              <a:t>Requires</a:t>
            </a:r>
            <a:r>
              <a:rPr lang="fr-FR" sz="2400" dirty="0"/>
              <a:t> a </a:t>
            </a:r>
            <a:r>
              <a:rPr lang="fr-FR" sz="2400" dirty="0" err="1"/>
              <a:t>derivable</a:t>
            </a:r>
            <a:r>
              <a:rPr lang="fr-FR" sz="2400" dirty="0"/>
              <a:t> activation </a:t>
            </a:r>
            <a:r>
              <a:rPr lang="fr-FR" sz="2400" dirty="0" err="1"/>
              <a:t>function</a:t>
            </a:r>
            <a:r>
              <a:rPr lang="fr-FR" sz="2400" dirty="0"/>
              <a:t> for the gradient </a:t>
            </a:r>
            <a:r>
              <a:rPr lang="fr-FR" sz="2400" dirty="0" err="1"/>
              <a:t>backpropagation</a:t>
            </a:r>
            <a:endParaRPr lang="fr-FR" sz="240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8DE256FC-E44F-FF53-9B1D-4162BE758721}"/>
              </a:ext>
            </a:extLst>
          </p:cNvPr>
          <p:cNvGrpSpPr/>
          <p:nvPr/>
        </p:nvGrpSpPr>
        <p:grpSpPr>
          <a:xfrm>
            <a:off x="2943341" y="2492897"/>
            <a:ext cx="8634412" cy="3577961"/>
            <a:chOff x="495052" y="2659351"/>
            <a:chExt cx="8634412" cy="3577961"/>
          </a:xfrm>
        </p:grpSpPr>
        <p:pic>
          <p:nvPicPr>
            <p:cNvPr id="4" name="Image 3" descr="1-XxxiA0jJvPrHEJHD4z893g-1.png">
              <a:extLst>
                <a:ext uri="{FF2B5EF4-FFF2-40B4-BE49-F238E27FC236}">
                  <a16:creationId xmlns:a16="http://schemas.microsoft.com/office/drawing/2014/main" id="{FF156CD9-1BD8-4E74-1BB8-CC0598231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0592" y="3429024"/>
              <a:ext cx="6981825" cy="2808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DA5C015F-CE7F-B073-C0C2-9CECC97BDB9C}"/>
                </a:ext>
              </a:extLst>
            </p:cNvPr>
            <p:cNvSpPr txBox="1"/>
            <p:nvPr/>
          </p:nvSpPr>
          <p:spPr>
            <a:xfrm>
              <a:off x="495052" y="2659351"/>
              <a:ext cx="863441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2400" dirty="0">
                  <a:sym typeface="Wingdings" pitchFamily="2" charset="2"/>
                </a:rPr>
                <a:t> </a:t>
              </a:r>
              <a:r>
                <a:rPr lang="fr-FR" sz="2400" dirty="0" err="1"/>
                <a:t>Using</a:t>
              </a:r>
              <a:r>
                <a:rPr lang="fr-FR" sz="2400" dirty="0"/>
                <a:t> </a:t>
              </a:r>
              <a:r>
                <a:rPr lang="fr-FR" sz="2400" b="1" dirty="0" err="1">
                  <a:solidFill>
                    <a:schemeClr val="accent2"/>
                  </a:solidFill>
                </a:rPr>
                <a:t>Sigmoid</a:t>
              </a:r>
              <a:r>
                <a:rPr lang="fr-FR" sz="2400" dirty="0"/>
                <a:t> for </a:t>
              </a:r>
              <a:r>
                <a:rPr lang="fr-FR" sz="2400" dirty="0" err="1">
                  <a:solidFill>
                    <a:schemeClr val="accent2"/>
                  </a:solidFill>
                </a:rPr>
                <a:t>hidden</a:t>
              </a:r>
              <a:r>
                <a:rPr lang="fr-FR" sz="2400" dirty="0"/>
                <a:t> </a:t>
              </a:r>
              <a:r>
                <a:rPr lang="fr-FR" sz="2400" dirty="0" err="1"/>
                <a:t>layers</a:t>
              </a:r>
              <a:r>
                <a:rPr lang="fr-FR" sz="2400" dirty="0"/>
                <a:t>: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461FDF1-4727-4772-B49A-962A442C7EDE}"/>
              </a:ext>
            </a:extLst>
          </p:cNvPr>
          <p:cNvSpPr/>
          <p:nvPr/>
        </p:nvSpPr>
        <p:spPr>
          <a:xfrm>
            <a:off x="7219793" y="3099188"/>
            <a:ext cx="3950766" cy="3043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5572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70DD-F6CA-E883-5862-2C45FFA6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2" name="Titre 2">
            <a:extLst>
              <a:ext uri="{FF2B5EF4-FFF2-40B4-BE49-F238E27FC236}">
                <a16:creationId xmlns:a16="http://schemas.microsoft.com/office/drawing/2014/main" id="{4905B7BA-88CB-9CD1-6C10-C80521EFA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7449" y="-243408"/>
            <a:ext cx="9865543" cy="1143000"/>
          </a:xfrm>
        </p:spPr>
        <p:txBody>
          <a:bodyPr/>
          <a:lstStyle/>
          <a:p>
            <a:r>
              <a:rPr lang="fr-CA" altLang="fr-FR" sz="3200" b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Activation </a:t>
            </a:r>
            <a:r>
              <a:rPr lang="fr-CA" altLang="fr-FR" sz="3200" b="1" dirty="0" err="1">
                <a:solidFill>
                  <a:schemeClr val="accent2"/>
                </a:solidFill>
                <a:ea typeface="ＭＳ Ｐゴシック" panose="020B0600070205080204" pitchFamily="34" charset="-128"/>
              </a:rPr>
              <a:t>Function</a:t>
            </a:r>
            <a:r>
              <a:rPr lang="fr-CA" altLang="fr-FR" sz="3200" b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 for a Multi-Layer Perceptron (1/2)</a:t>
            </a:r>
            <a:endParaRPr lang="fr-FR" altLang="fr-FR" sz="3200" b="1" dirty="0">
              <a:solidFill>
                <a:schemeClr val="accent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5873" name="Espace réservé du numéro de diapositive 4">
            <a:extLst>
              <a:ext uri="{FF2B5EF4-FFF2-40B4-BE49-F238E27FC236}">
                <a16:creationId xmlns:a16="http://schemas.microsoft.com/office/drawing/2014/main" id="{4B180276-E1A0-8A14-5ABB-1D146CA2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01750" y="6346825"/>
            <a:ext cx="495300" cy="457200"/>
          </a:xfrm>
          <a:prstGeom prst="ellipse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C27EC5-89D5-A146-86E3-0FE915E21058}" type="slidenum">
              <a:rPr lang="en-US" altLang="fr-FR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fr-FR" sz="1400"/>
          </a:p>
        </p:txBody>
      </p:sp>
      <p:sp>
        <p:nvSpPr>
          <p:cNvPr id="35874" name="Espace réservé de la date 1">
            <a:extLst>
              <a:ext uri="{FF2B5EF4-FFF2-40B4-BE49-F238E27FC236}">
                <a16:creationId xmlns:a16="http://schemas.microsoft.com/office/drawing/2014/main" id="{3782CFA6-EA3A-C3A9-9E3F-BD3A49671DF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/>
              <a:t>Mars 2025</a:t>
            </a:r>
          </a:p>
        </p:txBody>
      </p:sp>
      <p:sp>
        <p:nvSpPr>
          <p:cNvPr id="35875" name="Espace réservé du pied de page 2">
            <a:extLst>
              <a:ext uri="{FF2B5EF4-FFF2-40B4-BE49-F238E27FC236}">
                <a16:creationId xmlns:a16="http://schemas.microsoft.com/office/drawing/2014/main" id="{A98E98D3-3D5F-4F02-2501-37009A85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400"/>
              <a:t>Outils pour l'Intelligence Artificielle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FEA08AA-E253-4264-BC14-BFEBB9EDFF4B}"/>
              </a:ext>
            </a:extLst>
          </p:cNvPr>
          <p:cNvGrpSpPr/>
          <p:nvPr/>
        </p:nvGrpSpPr>
        <p:grpSpPr>
          <a:xfrm>
            <a:off x="2327875" y="1651134"/>
            <a:ext cx="7904493" cy="3365206"/>
            <a:chOff x="406400" y="2256615"/>
            <a:chExt cx="7904493" cy="3365206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4ACBB1CF-FCD3-451F-B022-69E38D2683D2}"/>
                </a:ext>
              </a:extLst>
            </p:cNvPr>
            <p:cNvSpPr txBox="1"/>
            <p:nvPr/>
          </p:nvSpPr>
          <p:spPr>
            <a:xfrm>
              <a:off x="406400" y="2256615"/>
              <a:ext cx="75452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CA" altLang="fr-FR" sz="2400" b="1" dirty="0">
                  <a:solidFill>
                    <a:schemeClr val="accent2"/>
                  </a:solidFill>
                  <a:ea typeface="ＭＳ Ｐゴシック" panose="020B0600070205080204" pitchFamily="34" charset="-128"/>
                </a:rPr>
                <a:t>Learning Back-Propagation </a:t>
              </a:r>
              <a:r>
                <a:rPr lang="fr-CA" altLang="fr-FR" sz="2400" b="1" dirty="0" err="1">
                  <a:solidFill>
                    <a:schemeClr val="accent2"/>
                  </a:solidFill>
                  <a:ea typeface="ＭＳ Ｐゴシック" panose="020B0600070205080204" pitchFamily="34" charset="-128"/>
                </a:rPr>
                <a:t>algorithm</a:t>
              </a:r>
              <a:r>
                <a:rPr lang="fr-CA" altLang="fr-FR" sz="2400" b="1" dirty="0">
                  <a:solidFill>
                    <a:schemeClr val="accent2"/>
                  </a:solidFill>
                  <a:ea typeface="ＭＳ Ｐゴシック" panose="020B0600070205080204" pitchFamily="34" charset="-128"/>
                </a:rPr>
                <a:t> </a:t>
              </a:r>
              <a:r>
                <a:rPr lang="fr-CA" altLang="fr-FR" sz="2400" b="1" dirty="0" err="1">
                  <a:solidFill>
                    <a:schemeClr val="accent2"/>
                  </a:solidFill>
                  <a:ea typeface="ＭＳ Ｐゴシック" panose="020B0600070205080204" pitchFamily="34" charset="-128"/>
                </a:rPr>
                <a:t>summary</a:t>
              </a:r>
              <a:r>
                <a:rPr lang="fr-CA" altLang="fr-FR" sz="2400" b="1" dirty="0">
                  <a:solidFill>
                    <a:schemeClr val="accent2"/>
                  </a:solidFill>
                  <a:ea typeface="ＭＳ Ｐゴシック" panose="020B0600070205080204" pitchFamily="34" charset="-128"/>
                </a:rPr>
                <a:t>: </a:t>
              </a:r>
              <a:endParaRPr lang="fr-FR" sz="2400" dirty="0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A884311-DCD1-4624-B68A-1AEDC8536501}"/>
                </a:ext>
              </a:extLst>
            </p:cNvPr>
            <p:cNvSpPr txBox="1"/>
            <p:nvPr/>
          </p:nvSpPr>
          <p:spPr>
            <a:xfrm>
              <a:off x="765605" y="2944165"/>
              <a:ext cx="7545288" cy="26776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fr-FR" sz="2400" b="1" dirty="0"/>
                <a:t>1- </a:t>
              </a:r>
              <a:r>
                <a:rPr lang="fr-FR" sz="2400" b="1" dirty="0" err="1"/>
                <a:t>Initialize</a:t>
              </a:r>
              <a:r>
                <a:rPr lang="fr-FR" sz="2400" b="1" dirty="0"/>
                <a:t> </a:t>
              </a:r>
              <a:r>
                <a:rPr lang="fr-FR" sz="2400" b="1" dirty="0" err="1"/>
                <a:t>weights</a:t>
              </a:r>
              <a:r>
                <a:rPr lang="fr-FR" sz="2400" b="1" dirty="0"/>
                <a:t> and </a:t>
              </a:r>
              <a:r>
                <a:rPr lang="fr-FR" sz="2400" b="1" dirty="0" err="1"/>
                <a:t>biases</a:t>
              </a:r>
              <a:r>
                <a:rPr lang="fr-FR" sz="2400" dirty="0"/>
                <a:t> </a:t>
              </a:r>
              <a:r>
                <a:rPr lang="fr-FR" sz="2400" dirty="0" err="1"/>
                <a:t>randomly</a:t>
              </a:r>
              <a:r>
                <a:rPr lang="fr-FR" sz="2400" dirty="0"/>
                <a:t>.</a:t>
              </a:r>
            </a:p>
            <a:p>
              <a:r>
                <a:rPr lang="fr-FR" sz="2400" b="1" dirty="0"/>
                <a:t>2- </a:t>
              </a:r>
              <a:r>
                <a:rPr lang="fr-FR" sz="2400" b="1" dirty="0" err="1"/>
                <a:t>Perform</a:t>
              </a:r>
              <a:r>
                <a:rPr lang="fr-FR" sz="2400" b="1" dirty="0"/>
                <a:t> </a:t>
              </a:r>
              <a:r>
                <a:rPr lang="fr-FR" sz="2400" b="1" dirty="0" err="1"/>
                <a:t>forward</a:t>
              </a:r>
              <a:r>
                <a:rPr lang="fr-FR" sz="2400" b="1" dirty="0"/>
                <a:t> </a:t>
              </a:r>
              <a:r>
                <a:rPr lang="fr-FR" sz="2400" b="1" dirty="0" err="1"/>
                <a:t>pass</a:t>
              </a:r>
              <a:r>
                <a:rPr lang="fr-FR" sz="2400" dirty="0"/>
                <a:t> to </a:t>
              </a:r>
              <a:r>
                <a:rPr lang="fr-FR" sz="2400" dirty="0" err="1"/>
                <a:t>calculate</a:t>
              </a:r>
              <a:r>
                <a:rPr lang="fr-FR" sz="2400" dirty="0"/>
                <a:t> the </a:t>
              </a:r>
              <a:r>
                <a:rPr lang="fr-FR" sz="2400" dirty="0" err="1"/>
                <a:t>predicted</a:t>
              </a:r>
              <a:r>
                <a:rPr lang="fr-FR" sz="2400" dirty="0"/>
                <a:t> output. </a:t>
              </a:r>
            </a:p>
            <a:p>
              <a:r>
                <a:rPr lang="fr-FR" sz="2400" b="1" dirty="0"/>
                <a:t>3- </a:t>
              </a:r>
              <a:r>
                <a:rPr lang="fr-FR" sz="2400" b="1" dirty="0" err="1"/>
                <a:t>Calculate</a:t>
              </a:r>
              <a:r>
                <a:rPr lang="fr-FR" sz="2400" b="1" dirty="0"/>
                <a:t> the </a:t>
              </a:r>
              <a:r>
                <a:rPr lang="fr-FR" sz="2400" b="1" dirty="0" err="1"/>
                <a:t>error</a:t>
              </a:r>
              <a:r>
                <a:rPr lang="fr-FR" sz="2400" dirty="0"/>
                <a:t> </a:t>
              </a:r>
              <a:r>
                <a:rPr lang="fr-FR" sz="2400" dirty="0" err="1"/>
                <a:t>using</a:t>
              </a:r>
              <a:r>
                <a:rPr lang="fr-FR" sz="2400" dirty="0"/>
                <a:t> MSE. </a:t>
              </a:r>
            </a:p>
            <a:p>
              <a:r>
                <a:rPr lang="fr-FR" sz="2400" b="1" dirty="0"/>
                <a:t>4- </a:t>
              </a:r>
              <a:r>
                <a:rPr lang="fr-FR" sz="2400" b="1" dirty="0" err="1"/>
                <a:t>Perform</a:t>
              </a:r>
              <a:r>
                <a:rPr lang="fr-FR" sz="2400" b="1" dirty="0"/>
                <a:t> </a:t>
              </a:r>
              <a:r>
                <a:rPr lang="fr-FR" sz="2400" b="1" dirty="0" err="1"/>
                <a:t>backpropagation</a:t>
              </a:r>
              <a:r>
                <a:rPr lang="fr-FR" sz="2400" dirty="0"/>
                <a:t> to </a:t>
              </a:r>
              <a:r>
                <a:rPr lang="fr-FR" sz="2400" dirty="0" err="1"/>
                <a:t>compute</a:t>
              </a:r>
              <a:r>
                <a:rPr lang="fr-FR" sz="2400" dirty="0"/>
                <a:t> gradients and update </a:t>
              </a:r>
              <a:r>
                <a:rPr lang="fr-FR" sz="2400" dirty="0" err="1"/>
                <a:t>weights</a:t>
              </a:r>
              <a:r>
                <a:rPr lang="fr-FR" sz="2400" dirty="0"/>
                <a:t> and </a:t>
              </a:r>
              <a:r>
                <a:rPr lang="fr-FR" sz="2400" dirty="0" err="1"/>
                <a:t>biases</a:t>
              </a:r>
              <a:r>
                <a:rPr lang="fr-FR" sz="2400" dirty="0"/>
                <a:t>. </a:t>
              </a:r>
            </a:p>
            <a:p>
              <a:endParaRPr lang="fr-FR" sz="2400" dirty="0"/>
            </a:p>
            <a:p>
              <a:r>
                <a:rPr lang="fr-FR" sz="2400" dirty="0" err="1"/>
                <a:t>Repeat</a:t>
              </a:r>
              <a:r>
                <a:rPr lang="fr-FR" sz="2400" dirty="0"/>
                <a:t> </a:t>
              </a:r>
              <a:r>
                <a:rPr lang="fr-FR" sz="2400" dirty="0" err="1"/>
                <a:t>until</a:t>
              </a:r>
              <a:r>
                <a:rPr lang="fr-FR" sz="2400" dirty="0"/>
                <a:t> the model converges (</a:t>
              </a:r>
              <a:r>
                <a:rPr lang="fr-FR" sz="2400" dirty="0" err="1"/>
                <a:t>loss</a:t>
              </a:r>
              <a:r>
                <a:rPr lang="fr-FR" sz="2400" dirty="0"/>
                <a:t> </a:t>
              </a:r>
              <a:r>
                <a:rPr lang="fr-FR" sz="2400" dirty="0" err="1"/>
                <a:t>is</a:t>
              </a:r>
              <a:r>
                <a:rPr lang="fr-FR" sz="2400" dirty="0"/>
                <a:t> </a:t>
              </a:r>
              <a:r>
                <a:rPr lang="fr-FR" sz="2400" dirty="0" err="1"/>
                <a:t>minimized</a:t>
              </a:r>
              <a:r>
                <a:rPr lang="fr-FR" sz="2400" dirty="0"/>
                <a:t>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928432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65A39C-2172-4A89-9B12-5D0DB6BFF70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77326" y="305410"/>
            <a:ext cx="8420100" cy="646331"/>
          </a:xfrm>
        </p:spPr>
        <p:txBody>
          <a:bodyPr vert="horz">
            <a:spAutoFit/>
          </a:bodyPr>
          <a:lstStyle/>
          <a:p>
            <a:pPr lvl="0" rtl="0"/>
            <a:r>
              <a:rPr lang="fr-FR" dirty="0"/>
              <a:t>Descente de gradient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97B69B-E280-4C5C-8B65-56F4D447E25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50373" y="1424946"/>
            <a:ext cx="3611172" cy="4428272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fr-FR"/>
              <a:t>Déterminer les poids synaptiques afin de minimiser  l'erreur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30ED9E99-4543-437A-A80D-EACDADD5B0A8}"/>
              </a:ext>
            </a:extLst>
          </p:cNvPr>
          <p:cNvSpPr/>
          <p:nvPr/>
        </p:nvSpPr>
        <p:spPr>
          <a:xfrm>
            <a:off x="2023408" y="1489909"/>
            <a:ext cx="3973203" cy="4556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81612" tIns="40806" rIns="81612" bIns="40806" anchor="ctr" anchorCtr="0" compatLnSpc="0">
            <a:noAutofit/>
          </a:bodyPr>
          <a:lstStyle/>
          <a:p>
            <a:endParaRPr lang="en-US" sz="1632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D092D9F9-BED4-4FDA-B3F5-247D66EBF8BD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Connecteur droit 5">
            <a:extLst>
              <a:ext uri="{FF2B5EF4-FFF2-40B4-BE49-F238E27FC236}">
                <a16:creationId xmlns:a16="http://schemas.microsoft.com/office/drawing/2014/main" id="{03F4ED50-FA69-4477-9422-3EC404982027}"/>
              </a:ext>
            </a:extLst>
          </p:cNvPr>
          <p:cNvSpPr/>
          <p:nvPr/>
        </p:nvSpPr>
        <p:spPr>
          <a:xfrm flipV="1">
            <a:off x="2563680" y="1919191"/>
            <a:ext cx="9467" cy="3673523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4DD6C440-F3AC-420C-907A-AE9813DE6C82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7174AA85-515E-4637-B117-998DE6E40C21}"/>
              </a:ext>
            </a:extLst>
          </p:cNvPr>
          <p:cNvSpPr/>
          <p:nvPr/>
        </p:nvSpPr>
        <p:spPr>
          <a:xfrm>
            <a:off x="3696130" y="3644470"/>
            <a:ext cx="325795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84DD9954-6918-4039-A5AD-8C4CD38FB753}"/>
              </a:ext>
            </a:extLst>
          </p:cNvPr>
          <p:cNvSpPr/>
          <p:nvPr/>
        </p:nvSpPr>
        <p:spPr>
          <a:xfrm flipV="1">
            <a:off x="3877960" y="3483530"/>
            <a:ext cx="0" cy="30718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4CA7AF8-E5DA-465E-B55B-D4BB2C588935}"/>
              </a:ext>
            </a:extLst>
          </p:cNvPr>
          <p:cNvSpPr txBox="1"/>
          <p:nvPr/>
        </p:nvSpPr>
        <p:spPr>
          <a:xfrm>
            <a:off x="3945209" y="5700440"/>
            <a:ext cx="362373" cy="323116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>
            <a:spAutoFit/>
          </a:bodyPr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W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96DA852-1369-4B8D-9754-25D555BD8B00}"/>
              </a:ext>
            </a:extLst>
          </p:cNvPr>
          <p:cNvSpPr txBox="1"/>
          <p:nvPr/>
        </p:nvSpPr>
        <p:spPr>
          <a:xfrm>
            <a:off x="2095553" y="3278520"/>
            <a:ext cx="468127" cy="546148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/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Eq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9C5C47-6A5D-413B-8B79-E9A2154DB8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50373" y="1424946"/>
            <a:ext cx="3611172" cy="4428272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Minimisation de l'erreur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Descente de la « pente » d'erreur.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La pente d'erreur est donnée par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B6BEA69F-B168-4E58-BA84-97A8F0EC278A}"/>
              </a:ext>
            </a:extLst>
          </p:cNvPr>
          <p:cNvSpPr/>
          <p:nvPr/>
        </p:nvSpPr>
        <p:spPr>
          <a:xfrm>
            <a:off x="2023408" y="1489909"/>
            <a:ext cx="3973203" cy="4556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81612" tIns="40806" rIns="81612" bIns="40806" anchor="ctr" anchorCtr="0" compatLnSpc="0">
            <a:noAutofit/>
          </a:bodyPr>
          <a:lstStyle/>
          <a:p>
            <a:endParaRPr lang="en-US" sz="1632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FF544B30-C409-4FC0-BA3D-D9B2C4516F14}"/>
              </a:ext>
            </a:extLst>
          </p:cNvPr>
          <p:cNvSpPr/>
          <p:nvPr/>
        </p:nvSpPr>
        <p:spPr>
          <a:xfrm>
            <a:off x="3877960" y="3644470"/>
            <a:ext cx="278460" cy="597401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  <a:tailEnd type="arrow"/>
          </a:ln>
        </p:spPr>
        <p:txBody>
          <a:bodyPr wrap="none" lIns="16322" tIns="16322" rIns="16322" bIns="16322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4001C84D-C1AF-43C7-8B95-BD863630A2D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563CF6C7-749E-41B5-AD92-E5AC86477964}"/>
              </a:ext>
            </a:extLst>
          </p:cNvPr>
          <p:cNvSpPr/>
          <p:nvPr/>
        </p:nvSpPr>
        <p:spPr>
          <a:xfrm flipV="1">
            <a:off x="2563680" y="1919191"/>
            <a:ext cx="9467" cy="3673523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23067E21-A1AB-4824-8542-07503A56F51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15DDC15E-0F40-4D60-9C03-9540354C4EE3}"/>
              </a:ext>
            </a:extLst>
          </p:cNvPr>
          <p:cNvSpPr/>
          <p:nvPr/>
        </p:nvSpPr>
        <p:spPr>
          <a:xfrm>
            <a:off x="3696130" y="3644470"/>
            <a:ext cx="325795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720B6AAF-082D-4F48-AE99-AD82CAF92341}"/>
              </a:ext>
            </a:extLst>
          </p:cNvPr>
          <p:cNvSpPr/>
          <p:nvPr/>
        </p:nvSpPr>
        <p:spPr>
          <a:xfrm flipV="1">
            <a:off x="3877960" y="3483530"/>
            <a:ext cx="0" cy="30718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DE767C6-2A5A-4EDF-B081-B42183FA066D}"/>
              </a:ext>
            </a:extLst>
          </p:cNvPr>
          <p:cNvSpPr txBox="1"/>
          <p:nvPr/>
        </p:nvSpPr>
        <p:spPr>
          <a:xfrm>
            <a:off x="3945209" y="5700440"/>
            <a:ext cx="362373" cy="323116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>
            <a:spAutoFit/>
          </a:bodyPr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W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751E69F-2650-41A4-9FC5-70BC5A28DC44}"/>
              </a:ext>
            </a:extLst>
          </p:cNvPr>
          <p:cNvSpPr txBox="1"/>
          <p:nvPr/>
        </p:nvSpPr>
        <p:spPr>
          <a:xfrm>
            <a:off x="2095553" y="3278520"/>
            <a:ext cx="468127" cy="546148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/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Eq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3859026" y="3190630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𝐸𝑞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026" y="3190630"/>
                <a:ext cx="995668" cy="10377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re 1">
            <a:extLst>
              <a:ext uri="{FF2B5EF4-FFF2-40B4-BE49-F238E27FC236}">
                <a16:creationId xmlns:a16="http://schemas.microsoft.com/office/drawing/2014/main" id="{BE31AA83-1E4B-46BD-8B0E-C3BE2A5988E9}"/>
              </a:ext>
            </a:extLst>
          </p:cNvPr>
          <p:cNvSpPr txBox="1">
            <a:spLocks/>
          </p:cNvSpPr>
          <p:nvPr/>
        </p:nvSpPr>
        <p:spPr bwMode="auto">
          <a:xfrm>
            <a:off x="1977326" y="243855"/>
            <a:ext cx="8420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fr-FR" kern="0"/>
              <a:t>Descente de gradient</a:t>
            </a:r>
            <a:endParaRPr lang="fr-FR" kern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9C5C47-6A5D-413B-8B79-E9A2154DB8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50373" y="1424946"/>
            <a:ext cx="3611172" cy="4428272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Minimisation de l'erreur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Descente de la « pente » d'erreur.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La pente d'erreur est donnée par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B6BEA69F-B168-4E58-BA84-97A8F0EC278A}"/>
              </a:ext>
            </a:extLst>
          </p:cNvPr>
          <p:cNvSpPr/>
          <p:nvPr/>
        </p:nvSpPr>
        <p:spPr>
          <a:xfrm>
            <a:off x="2023408" y="1489909"/>
            <a:ext cx="3973203" cy="4556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81612" tIns="40806" rIns="81612" bIns="40806" anchor="ctr" anchorCtr="0" compatLnSpc="0">
            <a:noAutofit/>
          </a:bodyPr>
          <a:lstStyle/>
          <a:p>
            <a:endParaRPr lang="en-US" sz="1632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FF544B30-C409-4FC0-BA3D-D9B2C4516F14}"/>
              </a:ext>
            </a:extLst>
          </p:cNvPr>
          <p:cNvSpPr/>
          <p:nvPr/>
        </p:nvSpPr>
        <p:spPr>
          <a:xfrm>
            <a:off x="3877960" y="3644470"/>
            <a:ext cx="278460" cy="597401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  <a:tailEnd type="arrow"/>
          </a:ln>
        </p:spPr>
        <p:txBody>
          <a:bodyPr wrap="none" lIns="16322" tIns="16322" rIns="16322" bIns="16322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4001C84D-C1AF-43C7-8B95-BD863630A2D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563CF6C7-749E-41B5-AD92-E5AC86477964}"/>
              </a:ext>
            </a:extLst>
          </p:cNvPr>
          <p:cNvSpPr/>
          <p:nvPr/>
        </p:nvSpPr>
        <p:spPr>
          <a:xfrm flipV="1">
            <a:off x="2563680" y="1919191"/>
            <a:ext cx="9467" cy="3673523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23067E21-A1AB-4824-8542-07503A56F51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15DDC15E-0F40-4D60-9C03-9540354C4EE3}"/>
              </a:ext>
            </a:extLst>
          </p:cNvPr>
          <p:cNvSpPr/>
          <p:nvPr/>
        </p:nvSpPr>
        <p:spPr>
          <a:xfrm>
            <a:off x="3696130" y="3644470"/>
            <a:ext cx="325795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720B6AAF-082D-4F48-AE99-AD82CAF92341}"/>
              </a:ext>
            </a:extLst>
          </p:cNvPr>
          <p:cNvSpPr/>
          <p:nvPr/>
        </p:nvSpPr>
        <p:spPr>
          <a:xfrm flipV="1">
            <a:off x="3877960" y="3483530"/>
            <a:ext cx="0" cy="30718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DE767C6-2A5A-4EDF-B081-B42183FA066D}"/>
              </a:ext>
            </a:extLst>
          </p:cNvPr>
          <p:cNvSpPr txBox="1"/>
          <p:nvPr/>
        </p:nvSpPr>
        <p:spPr>
          <a:xfrm>
            <a:off x="3945209" y="5700440"/>
            <a:ext cx="362373" cy="323116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>
            <a:spAutoFit/>
          </a:bodyPr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W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751E69F-2650-41A4-9FC5-70BC5A28DC44}"/>
              </a:ext>
            </a:extLst>
          </p:cNvPr>
          <p:cNvSpPr txBox="1"/>
          <p:nvPr/>
        </p:nvSpPr>
        <p:spPr>
          <a:xfrm>
            <a:off x="2095553" y="3278520"/>
            <a:ext cx="468127" cy="546148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/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Eq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3859026" y="3190630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𝐸𝑞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026" y="3190630"/>
                <a:ext cx="995668" cy="10377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necteur droit 14">
            <a:extLst>
              <a:ext uri="{FF2B5EF4-FFF2-40B4-BE49-F238E27FC236}">
                <a16:creationId xmlns:a16="http://schemas.microsoft.com/office/drawing/2014/main" id="{996E9B4A-F7A0-4C39-81AF-ACEB783D3C3E}"/>
              </a:ext>
            </a:extLst>
          </p:cNvPr>
          <p:cNvSpPr/>
          <p:nvPr/>
        </p:nvSpPr>
        <p:spPr>
          <a:xfrm>
            <a:off x="3942376" y="4249216"/>
            <a:ext cx="325795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2046C4F4-8CC7-4973-872B-4FDD5BB334D6}"/>
              </a:ext>
            </a:extLst>
          </p:cNvPr>
          <p:cNvSpPr/>
          <p:nvPr/>
        </p:nvSpPr>
        <p:spPr>
          <a:xfrm flipV="1">
            <a:off x="4124206" y="4088276"/>
            <a:ext cx="0" cy="307188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CCAC979F-D1D2-4A19-ADFE-CB9D6E8A804B}"/>
              </a:ext>
            </a:extLst>
          </p:cNvPr>
          <p:cNvSpPr txBox="1">
            <a:spLocks/>
          </p:cNvSpPr>
          <p:nvPr/>
        </p:nvSpPr>
        <p:spPr bwMode="auto">
          <a:xfrm>
            <a:off x="1977326" y="243855"/>
            <a:ext cx="8420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fr-FR" kern="0"/>
              <a:t>Descente de gradient</a:t>
            </a:r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2947511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9C5C47-6A5D-413B-8B79-E9A2154DB8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50373" y="1424946"/>
            <a:ext cx="3611172" cy="4428272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Minimisation de l'erreur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Descente de la « pente » d'erreur.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La pente d'erreur est donnée par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B6BEA69F-B168-4E58-BA84-97A8F0EC278A}"/>
              </a:ext>
            </a:extLst>
          </p:cNvPr>
          <p:cNvSpPr/>
          <p:nvPr/>
        </p:nvSpPr>
        <p:spPr>
          <a:xfrm>
            <a:off x="2023408" y="1489909"/>
            <a:ext cx="3973203" cy="4556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81612" tIns="40806" rIns="81612" bIns="40806" anchor="ctr" anchorCtr="0" compatLnSpc="0">
            <a:noAutofit/>
          </a:bodyPr>
          <a:lstStyle/>
          <a:p>
            <a:endParaRPr lang="en-US" sz="1632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FF544B30-C409-4FC0-BA3D-D9B2C4516F14}"/>
              </a:ext>
            </a:extLst>
          </p:cNvPr>
          <p:cNvSpPr/>
          <p:nvPr/>
        </p:nvSpPr>
        <p:spPr>
          <a:xfrm>
            <a:off x="4124206" y="4259011"/>
            <a:ext cx="325787" cy="234376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  <a:tailEnd type="arrow"/>
          </a:ln>
        </p:spPr>
        <p:txBody>
          <a:bodyPr wrap="none" lIns="16322" tIns="16322" rIns="16322" bIns="16322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4001C84D-C1AF-43C7-8B95-BD863630A2D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563CF6C7-749E-41B5-AD92-E5AC86477964}"/>
              </a:ext>
            </a:extLst>
          </p:cNvPr>
          <p:cNvSpPr/>
          <p:nvPr/>
        </p:nvSpPr>
        <p:spPr>
          <a:xfrm flipV="1">
            <a:off x="2563680" y="1919191"/>
            <a:ext cx="9467" cy="3673523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23067E21-A1AB-4824-8542-07503A56F51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15DDC15E-0F40-4D60-9C03-9540354C4EE3}"/>
              </a:ext>
            </a:extLst>
          </p:cNvPr>
          <p:cNvSpPr/>
          <p:nvPr/>
        </p:nvSpPr>
        <p:spPr>
          <a:xfrm>
            <a:off x="3696130" y="3644470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720B6AAF-082D-4F48-AE99-AD82CAF92341}"/>
              </a:ext>
            </a:extLst>
          </p:cNvPr>
          <p:cNvSpPr/>
          <p:nvPr/>
        </p:nvSpPr>
        <p:spPr>
          <a:xfrm flipV="1">
            <a:off x="3877960" y="3483530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DE767C6-2A5A-4EDF-B081-B42183FA066D}"/>
              </a:ext>
            </a:extLst>
          </p:cNvPr>
          <p:cNvSpPr txBox="1"/>
          <p:nvPr/>
        </p:nvSpPr>
        <p:spPr>
          <a:xfrm>
            <a:off x="3945209" y="5700440"/>
            <a:ext cx="362373" cy="323116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>
            <a:spAutoFit/>
          </a:bodyPr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W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751E69F-2650-41A4-9FC5-70BC5A28DC44}"/>
              </a:ext>
            </a:extLst>
          </p:cNvPr>
          <p:cNvSpPr txBox="1"/>
          <p:nvPr/>
        </p:nvSpPr>
        <p:spPr>
          <a:xfrm>
            <a:off x="2095553" y="3278520"/>
            <a:ext cx="468127" cy="546148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/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Eq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4059792" y="3442318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𝐸𝑞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792" y="3442318"/>
                <a:ext cx="995668" cy="10377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necteur droit 14">
            <a:extLst>
              <a:ext uri="{FF2B5EF4-FFF2-40B4-BE49-F238E27FC236}">
                <a16:creationId xmlns:a16="http://schemas.microsoft.com/office/drawing/2014/main" id="{996E9B4A-F7A0-4C39-81AF-ACEB783D3C3E}"/>
              </a:ext>
            </a:extLst>
          </p:cNvPr>
          <p:cNvSpPr/>
          <p:nvPr/>
        </p:nvSpPr>
        <p:spPr>
          <a:xfrm>
            <a:off x="3942376" y="4249216"/>
            <a:ext cx="325795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2046C4F4-8CC7-4973-872B-4FDD5BB334D6}"/>
              </a:ext>
            </a:extLst>
          </p:cNvPr>
          <p:cNvSpPr/>
          <p:nvPr/>
        </p:nvSpPr>
        <p:spPr>
          <a:xfrm flipV="1">
            <a:off x="4124206" y="4088276"/>
            <a:ext cx="0" cy="307188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989516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9C5C47-6A5D-413B-8B79-E9A2154DB8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50373" y="1424946"/>
            <a:ext cx="3611172" cy="4428272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Minimisation de l'erreur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Descente de la « pente » d'erreur.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La pente d'erreur est donnée par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B6BEA69F-B168-4E58-BA84-97A8F0EC278A}"/>
              </a:ext>
            </a:extLst>
          </p:cNvPr>
          <p:cNvSpPr/>
          <p:nvPr/>
        </p:nvSpPr>
        <p:spPr>
          <a:xfrm>
            <a:off x="2023408" y="1489909"/>
            <a:ext cx="3973203" cy="4556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81612" tIns="40806" rIns="81612" bIns="40806" anchor="ctr" anchorCtr="0" compatLnSpc="0">
            <a:noAutofit/>
          </a:bodyPr>
          <a:lstStyle/>
          <a:p>
            <a:endParaRPr lang="en-US" sz="1632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FF544B30-C409-4FC0-BA3D-D9B2C4516F14}"/>
              </a:ext>
            </a:extLst>
          </p:cNvPr>
          <p:cNvSpPr/>
          <p:nvPr/>
        </p:nvSpPr>
        <p:spPr>
          <a:xfrm>
            <a:off x="4124206" y="4259011"/>
            <a:ext cx="325787" cy="234376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  <a:tailEnd type="arrow"/>
          </a:ln>
        </p:spPr>
        <p:txBody>
          <a:bodyPr wrap="none" lIns="16322" tIns="16322" rIns="16322" bIns="16322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4001C84D-C1AF-43C7-8B95-BD863630A2D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563CF6C7-749E-41B5-AD92-E5AC86477964}"/>
              </a:ext>
            </a:extLst>
          </p:cNvPr>
          <p:cNvSpPr/>
          <p:nvPr/>
        </p:nvSpPr>
        <p:spPr>
          <a:xfrm flipV="1">
            <a:off x="2563680" y="1919191"/>
            <a:ext cx="9467" cy="3673523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23067E21-A1AB-4824-8542-07503A56F51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15DDC15E-0F40-4D60-9C03-9540354C4EE3}"/>
              </a:ext>
            </a:extLst>
          </p:cNvPr>
          <p:cNvSpPr/>
          <p:nvPr/>
        </p:nvSpPr>
        <p:spPr>
          <a:xfrm>
            <a:off x="3696130" y="3644470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720B6AAF-082D-4F48-AE99-AD82CAF92341}"/>
              </a:ext>
            </a:extLst>
          </p:cNvPr>
          <p:cNvSpPr/>
          <p:nvPr/>
        </p:nvSpPr>
        <p:spPr>
          <a:xfrm flipV="1">
            <a:off x="3877960" y="3483530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DE767C6-2A5A-4EDF-B081-B42183FA066D}"/>
              </a:ext>
            </a:extLst>
          </p:cNvPr>
          <p:cNvSpPr txBox="1"/>
          <p:nvPr/>
        </p:nvSpPr>
        <p:spPr>
          <a:xfrm>
            <a:off x="3945209" y="5700440"/>
            <a:ext cx="362373" cy="323116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>
            <a:spAutoFit/>
          </a:bodyPr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W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751E69F-2650-41A4-9FC5-70BC5A28DC44}"/>
              </a:ext>
            </a:extLst>
          </p:cNvPr>
          <p:cNvSpPr txBox="1"/>
          <p:nvPr/>
        </p:nvSpPr>
        <p:spPr>
          <a:xfrm>
            <a:off x="2095553" y="3278520"/>
            <a:ext cx="468127" cy="546148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/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Eq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4059792" y="3442318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𝐸𝑞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792" y="3442318"/>
                <a:ext cx="995668" cy="10377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necteur droit 14">
            <a:extLst>
              <a:ext uri="{FF2B5EF4-FFF2-40B4-BE49-F238E27FC236}">
                <a16:creationId xmlns:a16="http://schemas.microsoft.com/office/drawing/2014/main" id="{996E9B4A-F7A0-4C39-81AF-ACEB783D3C3E}"/>
              </a:ext>
            </a:extLst>
          </p:cNvPr>
          <p:cNvSpPr/>
          <p:nvPr/>
        </p:nvSpPr>
        <p:spPr>
          <a:xfrm>
            <a:off x="3942376" y="4249216"/>
            <a:ext cx="325795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2046C4F4-8CC7-4973-872B-4FDD5BB334D6}"/>
              </a:ext>
            </a:extLst>
          </p:cNvPr>
          <p:cNvSpPr/>
          <p:nvPr/>
        </p:nvSpPr>
        <p:spPr>
          <a:xfrm flipV="1">
            <a:off x="4124206" y="4088276"/>
            <a:ext cx="0" cy="307188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7" name="Connecteur droit 16">
            <a:extLst>
              <a:ext uri="{FF2B5EF4-FFF2-40B4-BE49-F238E27FC236}">
                <a16:creationId xmlns:a16="http://schemas.microsoft.com/office/drawing/2014/main" id="{A029DF9D-DBEA-4486-AFBD-639C175E476D}"/>
              </a:ext>
            </a:extLst>
          </p:cNvPr>
          <p:cNvSpPr/>
          <p:nvPr/>
        </p:nvSpPr>
        <p:spPr>
          <a:xfrm>
            <a:off x="4215223" y="4500733"/>
            <a:ext cx="325795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Connecteur droit 17">
            <a:extLst>
              <a:ext uri="{FF2B5EF4-FFF2-40B4-BE49-F238E27FC236}">
                <a16:creationId xmlns:a16="http://schemas.microsoft.com/office/drawing/2014/main" id="{FBC9F732-4BE8-417A-9BFC-74AF0E757046}"/>
              </a:ext>
            </a:extLst>
          </p:cNvPr>
          <p:cNvSpPr/>
          <p:nvPr/>
        </p:nvSpPr>
        <p:spPr>
          <a:xfrm flipV="1">
            <a:off x="4397053" y="4339793"/>
            <a:ext cx="0" cy="307188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601E2FD8-68A9-431E-8581-39D1D1535E47}"/>
              </a:ext>
            </a:extLst>
          </p:cNvPr>
          <p:cNvSpPr txBox="1">
            <a:spLocks/>
          </p:cNvSpPr>
          <p:nvPr/>
        </p:nvSpPr>
        <p:spPr bwMode="auto">
          <a:xfrm>
            <a:off x="1977326" y="243855"/>
            <a:ext cx="8420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fr-FR" kern="0"/>
              <a:t>Descente de gradient</a:t>
            </a:r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3813378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9C5C47-6A5D-413B-8B79-E9A2154DB8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50373" y="1424946"/>
            <a:ext cx="3611172" cy="4428272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Minimisation de l'erreur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Descente de la « pente » d'erreur.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La pente d'erreur est donnée par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B6BEA69F-B168-4E58-BA84-97A8F0EC278A}"/>
              </a:ext>
            </a:extLst>
          </p:cNvPr>
          <p:cNvSpPr/>
          <p:nvPr/>
        </p:nvSpPr>
        <p:spPr>
          <a:xfrm>
            <a:off x="2023408" y="1489909"/>
            <a:ext cx="3973203" cy="4556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81612" tIns="40806" rIns="81612" bIns="40806" anchor="ctr" anchorCtr="0" compatLnSpc="0">
            <a:noAutofit/>
          </a:bodyPr>
          <a:lstStyle/>
          <a:p>
            <a:endParaRPr lang="en-US" sz="1632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FF544B30-C409-4FC0-BA3D-D9B2C4516F14}"/>
              </a:ext>
            </a:extLst>
          </p:cNvPr>
          <p:cNvSpPr/>
          <p:nvPr/>
        </p:nvSpPr>
        <p:spPr>
          <a:xfrm>
            <a:off x="4381860" y="4493387"/>
            <a:ext cx="455685" cy="163384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  <a:tailEnd type="arrow"/>
          </a:ln>
        </p:spPr>
        <p:txBody>
          <a:bodyPr wrap="none" lIns="16322" tIns="16322" rIns="16322" bIns="16322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4001C84D-C1AF-43C7-8B95-BD863630A2D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563CF6C7-749E-41B5-AD92-E5AC86477964}"/>
              </a:ext>
            </a:extLst>
          </p:cNvPr>
          <p:cNvSpPr/>
          <p:nvPr/>
        </p:nvSpPr>
        <p:spPr>
          <a:xfrm flipV="1">
            <a:off x="2563680" y="1919191"/>
            <a:ext cx="9467" cy="3673523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23067E21-A1AB-4824-8542-07503A56F51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15DDC15E-0F40-4D60-9C03-9540354C4EE3}"/>
              </a:ext>
            </a:extLst>
          </p:cNvPr>
          <p:cNvSpPr/>
          <p:nvPr/>
        </p:nvSpPr>
        <p:spPr>
          <a:xfrm>
            <a:off x="3696130" y="3644470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720B6AAF-082D-4F48-AE99-AD82CAF92341}"/>
              </a:ext>
            </a:extLst>
          </p:cNvPr>
          <p:cNvSpPr/>
          <p:nvPr/>
        </p:nvSpPr>
        <p:spPr>
          <a:xfrm flipV="1">
            <a:off x="3877960" y="3483530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DE767C6-2A5A-4EDF-B081-B42183FA066D}"/>
              </a:ext>
            </a:extLst>
          </p:cNvPr>
          <p:cNvSpPr txBox="1"/>
          <p:nvPr/>
        </p:nvSpPr>
        <p:spPr>
          <a:xfrm>
            <a:off x="3945209" y="5700440"/>
            <a:ext cx="362373" cy="323116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>
            <a:spAutoFit/>
          </a:bodyPr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W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751E69F-2650-41A4-9FC5-70BC5A28DC44}"/>
              </a:ext>
            </a:extLst>
          </p:cNvPr>
          <p:cNvSpPr txBox="1"/>
          <p:nvPr/>
        </p:nvSpPr>
        <p:spPr>
          <a:xfrm>
            <a:off x="2095553" y="3278520"/>
            <a:ext cx="468127" cy="546148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/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Eq</a:t>
            </a:r>
          </a:p>
        </p:txBody>
      </p:sp>
      <p:sp>
        <p:nvSpPr>
          <p:cNvPr id="15" name="Connecteur droit 14">
            <a:extLst>
              <a:ext uri="{FF2B5EF4-FFF2-40B4-BE49-F238E27FC236}">
                <a16:creationId xmlns:a16="http://schemas.microsoft.com/office/drawing/2014/main" id="{996E9B4A-F7A0-4C39-81AF-ACEB783D3C3E}"/>
              </a:ext>
            </a:extLst>
          </p:cNvPr>
          <p:cNvSpPr/>
          <p:nvPr/>
        </p:nvSpPr>
        <p:spPr>
          <a:xfrm>
            <a:off x="3942376" y="4249216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2046C4F4-8CC7-4973-872B-4FDD5BB334D6}"/>
              </a:ext>
            </a:extLst>
          </p:cNvPr>
          <p:cNvSpPr/>
          <p:nvPr/>
        </p:nvSpPr>
        <p:spPr>
          <a:xfrm flipV="1">
            <a:off x="4124206" y="4088276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7" name="Connecteur droit 16">
            <a:extLst>
              <a:ext uri="{FF2B5EF4-FFF2-40B4-BE49-F238E27FC236}">
                <a16:creationId xmlns:a16="http://schemas.microsoft.com/office/drawing/2014/main" id="{A029DF9D-DBEA-4486-AFBD-639C175E476D}"/>
              </a:ext>
            </a:extLst>
          </p:cNvPr>
          <p:cNvSpPr/>
          <p:nvPr/>
        </p:nvSpPr>
        <p:spPr>
          <a:xfrm>
            <a:off x="4215223" y="4500733"/>
            <a:ext cx="325795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Connecteur droit 17">
            <a:extLst>
              <a:ext uri="{FF2B5EF4-FFF2-40B4-BE49-F238E27FC236}">
                <a16:creationId xmlns:a16="http://schemas.microsoft.com/office/drawing/2014/main" id="{FBC9F732-4BE8-417A-9BFC-74AF0E757046}"/>
              </a:ext>
            </a:extLst>
          </p:cNvPr>
          <p:cNvSpPr/>
          <p:nvPr/>
        </p:nvSpPr>
        <p:spPr>
          <a:xfrm flipV="1">
            <a:off x="4397053" y="4339793"/>
            <a:ext cx="0" cy="307188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F60E42CF-B9BE-4C3F-BABE-470102B54B94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4140014" y="4483770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𝐸𝑞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F60E42CF-B9BE-4C3F-BABE-470102B54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014" y="4483770"/>
                <a:ext cx="995668" cy="10377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re 1">
            <a:extLst>
              <a:ext uri="{FF2B5EF4-FFF2-40B4-BE49-F238E27FC236}">
                <a16:creationId xmlns:a16="http://schemas.microsoft.com/office/drawing/2014/main" id="{7CB4E04C-5D14-4096-ADD9-472540E7615C}"/>
              </a:ext>
            </a:extLst>
          </p:cNvPr>
          <p:cNvSpPr txBox="1">
            <a:spLocks/>
          </p:cNvSpPr>
          <p:nvPr/>
        </p:nvSpPr>
        <p:spPr bwMode="auto">
          <a:xfrm>
            <a:off x="1977326" y="243855"/>
            <a:ext cx="8420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fr-FR" kern="0"/>
              <a:t>Descente de gradient</a:t>
            </a:r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678586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9C5C47-6A5D-413B-8B79-E9A2154DB8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50373" y="1424946"/>
            <a:ext cx="3611172" cy="4428272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Minimisation de l'erreur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Descente de la « pente » d'erreur.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La pente d'erreur est donnée par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B6BEA69F-B168-4E58-BA84-97A8F0EC278A}"/>
              </a:ext>
            </a:extLst>
          </p:cNvPr>
          <p:cNvSpPr/>
          <p:nvPr/>
        </p:nvSpPr>
        <p:spPr>
          <a:xfrm>
            <a:off x="2023408" y="1489909"/>
            <a:ext cx="3973203" cy="4556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81612" tIns="40806" rIns="81612" bIns="40806" anchor="ctr" anchorCtr="0" compatLnSpc="0">
            <a:noAutofit/>
          </a:bodyPr>
          <a:lstStyle/>
          <a:p>
            <a:endParaRPr lang="en-US" sz="1632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FF544B30-C409-4FC0-BA3D-D9B2C4516F14}"/>
              </a:ext>
            </a:extLst>
          </p:cNvPr>
          <p:cNvSpPr/>
          <p:nvPr/>
        </p:nvSpPr>
        <p:spPr>
          <a:xfrm>
            <a:off x="4381860" y="4493387"/>
            <a:ext cx="455685" cy="163384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  <a:tailEnd type="arrow"/>
          </a:ln>
        </p:spPr>
        <p:txBody>
          <a:bodyPr wrap="none" lIns="16322" tIns="16322" rIns="16322" bIns="16322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4001C84D-C1AF-43C7-8B95-BD863630A2D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563CF6C7-749E-41B5-AD92-E5AC86477964}"/>
              </a:ext>
            </a:extLst>
          </p:cNvPr>
          <p:cNvSpPr/>
          <p:nvPr/>
        </p:nvSpPr>
        <p:spPr>
          <a:xfrm flipV="1">
            <a:off x="2563680" y="1919191"/>
            <a:ext cx="9467" cy="3673523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23067E21-A1AB-4824-8542-07503A56F51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15DDC15E-0F40-4D60-9C03-9540354C4EE3}"/>
              </a:ext>
            </a:extLst>
          </p:cNvPr>
          <p:cNvSpPr/>
          <p:nvPr/>
        </p:nvSpPr>
        <p:spPr>
          <a:xfrm>
            <a:off x="3696130" y="3644470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720B6AAF-082D-4F48-AE99-AD82CAF92341}"/>
              </a:ext>
            </a:extLst>
          </p:cNvPr>
          <p:cNvSpPr/>
          <p:nvPr/>
        </p:nvSpPr>
        <p:spPr>
          <a:xfrm flipV="1">
            <a:off x="3877960" y="3483530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DE767C6-2A5A-4EDF-B081-B42183FA066D}"/>
              </a:ext>
            </a:extLst>
          </p:cNvPr>
          <p:cNvSpPr txBox="1"/>
          <p:nvPr/>
        </p:nvSpPr>
        <p:spPr>
          <a:xfrm>
            <a:off x="3945209" y="5700440"/>
            <a:ext cx="362373" cy="323116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>
            <a:spAutoFit/>
          </a:bodyPr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W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751E69F-2650-41A4-9FC5-70BC5A28DC44}"/>
              </a:ext>
            </a:extLst>
          </p:cNvPr>
          <p:cNvSpPr txBox="1"/>
          <p:nvPr/>
        </p:nvSpPr>
        <p:spPr>
          <a:xfrm>
            <a:off x="2095553" y="3278520"/>
            <a:ext cx="468127" cy="546148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/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Eq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4140014" y="4483770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𝐸𝑞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014" y="4483770"/>
                <a:ext cx="995668" cy="10377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necteur droit 14">
            <a:extLst>
              <a:ext uri="{FF2B5EF4-FFF2-40B4-BE49-F238E27FC236}">
                <a16:creationId xmlns:a16="http://schemas.microsoft.com/office/drawing/2014/main" id="{996E9B4A-F7A0-4C39-81AF-ACEB783D3C3E}"/>
              </a:ext>
            </a:extLst>
          </p:cNvPr>
          <p:cNvSpPr/>
          <p:nvPr/>
        </p:nvSpPr>
        <p:spPr>
          <a:xfrm>
            <a:off x="3942376" y="4249216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2046C4F4-8CC7-4973-872B-4FDD5BB334D6}"/>
              </a:ext>
            </a:extLst>
          </p:cNvPr>
          <p:cNvSpPr/>
          <p:nvPr/>
        </p:nvSpPr>
        <p:spPr>
          <a:xfrm flipV="1">
            <a:off x="4124206" y="4088276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7" name="Connecteur droit 16">
            <a:extLst>
              <a:ext uri="{FF2B5EF4-FFF2-40B4-BE49-F238E27FC236}">
                <a16:creationId xmlns:a16="http://schemas.microsoft.com/office/drawing/2014/main" id="{A029DF9D-DBEA-4486-AFBD-639C175E476D}"/>
              </a:ext>
            </a:extLst>
          </p:cNvPr>
          <p:cNvSpPr/>
          <p:nvPr/>
        </p:nvSpPr>
        <p:spPr>
          <a:xfrm>
            <a:off x="4215223" y="4500733"/>
            <a:ext cx="325795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Connecteur droit 17">
            <a:extLst>
              <a:ext uri="{FF2B5EF4-FFF2-40B4-BE49-F238E27FC236}">
                <a16:creationId xmlns:a16="http://schemas.microsoft.com/office/drawing/2014/main" id="{FBC9F732-4BE8-417A-9BFC-74AF0E757046}"/>
              </a:ext>
            </a:extLst>
          </p:cNvPr>
          <p:cNvSpPr/>
          <p:nvPr/>
        </p:nvSpPr>
        <p:spPr>
          <a:xfrm flipV="1">
            <a:off x="4397053" y="4339793"/>
            <a:ext cx="0" cy="307188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6BF3CEA5-4D25-4694-B2AB-A9952A64197A}"/>
              </a:ext>
            </a:extLst>
          </p:cNvPr>
          <p:cNvSpPr/>
          <p:nvPr/>
        </p:nvSpPr>
        <p:spPr>
          <a:xfrm>
            <a:off x="4792496" y="4402810"/>
            <a:ext cx="325795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D9192A2E-C9AE-44D8-BE30-546861F1F22A}"/>
              </a:ext>
            </a:extLst>
          </p:cNvPr>
          <p:cNvSpPr/>
          <p:nvPr/>
        </p:nvSpPr>
        <p:spPr>
          <a:xfrm flipV="1">
            <a:off x="4974326" y="4241870"/>
            <a:ext cx="0" cy="307188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17E1CD9F-8BBC-4244-BDC1-DDF84BC5E6EE}"/>
              </a:ext>
            </a:extLst>
          </p:cNvPr>
          <p:cNvSpPr txBox="1">
            <a:spLocks/>
          </p:cNvSpPr>
          <p:nvPr/>
        </p:nvSpPr>
        <p:spPr bwMode="auto">
          <a:xfrm>
            <a:off x="1977326" y="243855"/>
            <a:ext cx="8420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fr-FR" kern="0"/>
              <a:t>Descente de gradient</a:t>
            </a:r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1741572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9C5C47-6A5D-413B-8B79-E9A2154DB8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50373" y="1424946"/>
            <a:ext cx="3611172" cy="4428272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Minimisation de l'erreur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Descente de la « pente » d'erreur.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La pente d'erreur est donnée par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B6BEA69F-B168-4E58-BA84-97A8F0EC278A}"/>
              </a:ext>
            </a:extLst>
          </p:cNvPr>
          <p:cNvSpPr/>
          <p:nvPr/>
        </p:nvSpPr>
        <p:spPr>
          <a:xfrm>
            <a:off x="2023408" y="1489909"/>
            <a:ext cx="3973203" cy="4556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81612" tIns="40806" rIns="81612" bIns="40806" anchor="ctr" anchorCtr="0" compatLnSpc="0">
            <a:noAutofit/>
          </a:bodyPr>
          <a:lstStyle/>
          <a:p>
            <a:endParaRPr lang="en-US" sz="1632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FF544B30-C409-4FC0-BA3D-D9B2C4516F14}"/>
              </a:ext>
            </a:extLst>
          </p:cNvPr>
          <p:cNvSpPr/>
          <p:nvPr/>
        </p:nvSpPr>
        <p:spPr>
          <a:xfrm flipH="1">
            <a:off x="4699216" y="4412606"/>
            <a:ext cx="275110" cy="136447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  <a:tailEnd type="arrow"/>
          </a:ln>
        </p:spPr>
        <p:txBody>
          <a:bodyPr wrap="none" lIns="16322" tIns="16322" rIns="16322" bIns="16322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4001C84D-C1AF-43C7-8B95-BD863630A2D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563CF6C7-749E-41B5-AD92-E5AC86477964}"/>
              </a:ext>
            </a:extLst>
          </p:cNvPr>
          <p:cNvSpPr/>
          <p:nvPr/>
        </p:nvSpPr>
        <p:spPr>
          <a:xfrm flipV="1">
            <a:off x="2563680" y="1919191"/>
            <a:ext cx="9467" cy="3673523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23067E21-A1AB-4824-8542-07503A56F51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15DDC15E-0F40-4D60-9C03-9540354C4EE3}"/>
              </a:ext>
            </a:extLst>
          </p:cNvPr>
          <p:cNvSpPr/>
          <p:nvPr/>
        </p:nvSpPr>
        <p:spPr>
          <a:xfrm>
            <a:off x="3696130" y="3644470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720B6AAF-082D-4F48-AE99-AD82CAF92341}"/>
              </a:ext>
            </a:extLst>
          </p:cNvPr>
          <p:cNvSpPr/>
          <p:nvPr/>
        </p:nvSpPr>
        <p:spPr>
          <a:xfrm flipV="1">
            <a:off x="3877960" y="3483530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DE767C6-2A5A-4EDF-B081-B42183FA066D}"/>
              </a:ext>
            </a:extLst>
          </p:cNvPr>
          <p:cNvSpPr txBox="1"/>
          <p:nvPr/>
        </p:nvSpPr>
        <p:spPr>
          <a:xfrm>
            <a:off x="3945209" y="5700440"/>
            <a:ext cx="362373" cy="323116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>
            <a:spAutoFit/>
          </a:bodyPr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W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751E69F-2650-41A4-9FC5-70BC5A28DC44}"/>
              </a:ext>
            </a:extLst>
          </p:cNvPr>
          <p:cNvSpPr txBox="1"/>
          <p:nvPr/>
        </p:nvSpPr>
        <p:spPr>
          <a:xfrm>
            <a:off x="2095553" y="3278520"/>
            <a:ext cx="468127" cy="546148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/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Eq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4592922" y="4339794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𝐸𝑞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922" y="4339794"/>
                <a:ext cx="995668" cy="10377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necteur droit 14">
            <a:extLst>
              <a:ext uri="{FF2B5EF4-FFF2-40B4-BE49-F238E27FC236}">
                <a16:creationId xmlns:a16="http://schemas.microsoft.com/office/drawing/2014/main" id="{996E9B4A-F7A0-4C39-81AF-ACEB783D3C3E}"/>
              </a:ext>
            </a:extLst>
          </p:cNvPr>
          <p:cNvSpPr/>
          <p:nvPr/>
        </p:nvSpPr>
        <p:spPr>
          <a:xfrm>
            <a:off x="3942376" y="4249216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2046C4F4-8CC7-4973-872B-4FDD5BB334D6}"/>
              </a:ext>
            </a:extLst>
          </p:cNvPr>
          <p:cNvSpPr/>
          <p:nvPr/>
        </p:nvSpPr>
        <p:spPr>
          <a:xfrm flipV="1">
            <a:off x="4124206" y="4088276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7" name="Connecteur droit 16">
            <a:extLst>
              <a:ext uri="{FF2B5EF4-FFF2-40B4-BE49-F238E27FC236}">
                <a16:creationId xmlns:a16="http://schemas.microsoft.com/office/drawing/2014/main" id="{A029DF9D-DBEA-4486-AFBD-639C175E476D}"/>
              </a:ext>
            </a:extLst>
          </p:cNvPr>
          <p:cNvSpPr/>
          <p:nvPr/>
        </p:nvSpPr>
        <p:spPr>
          <a:xfrm>
            <a:off x="4215223" y="4500733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Connecteur droit 17">
            <a:extLst>
              <a:ext uri="{FF2B5EF4-FFF2-40B4-BE49-F238E27FC236}">
                <a16:creationId xmlns:a16="http://schemas.microsoft.com/office/drawing/2014/main" id="{FBC9F732-4BE8-417A-9BFC-74AF0E757046}"/>
              </a:ext>
            </a:extLst>
          </p:cNvPr>
          <p:cNvSpPr/>
          <p:nvPr/>
        </p:nvSpPr>
        <p:spPr>
          <a:xfrm flipV="1">
            <a:off x="4397053" y="4339793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6BF3CEA5-4D25-4694-B2AB-A9952A64197A}"/>
              </a:ext>
            </a:extLst>
          </p:cNvPr>
          <p:cNvSpPr/>
          <p:nvPr/>
        </p:nvSpPr>
        <p:spPr>
          <a:xfrm>
            <a:off x="4792496" y="4402810"/>
            <a:ext cx="325795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D9192A2E-C9AE-44D8-BE30-546861F1F22A}"/>
              </a:ext>
            </a:extLst>
          </p:cNvPr>
          <p:cNvSpPr/>
          <p:nvPr/>
        </p:nvSpPr>
        <p:spPr>
          <a:xfrm flipV="1">
            <a:off x="4974326" y="4241870"/>
            <a:ext cx="0" cy="307188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93A5F9F5-E273-48E5-B82E-82759A6E94B4}"/>
              </a:ext>
            </a:extLst>
          </p:cNvPr>
          <p:cNvSpPr txBox="1">
            <a:spLocks/>
          </p:cNvSpPr>
          <p:nvPr/>
        </p:nvSpPr>
        <p:spPr bwMode="auto">
          <a:xfrm>
            <a:off x="1977326" y="243855"/>
            <a:ext cx="8420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fr-FR" kern="0"/>
              <a:t>Descente de gradient</a:t>
            </a:r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208237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9C5C47-6A5D-413B-8B79-E9A2154DB8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50373" y="1424946"/>
            <a:ext cx="3611172" cy="4428272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Minimisation de l'erreur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Descente de la « pente » d'erreur.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La pente d'erreur est donnée par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B6BEA69F-B168-4E58-BA84-97A8F0EC278A}"/>
              </a:ext>
            </a:extLst>
          </p:cNvPr>
          <p:cNvSpPr/>
          <p:nvPr/>
        </p:nvSpPr>
        <p:spPr>
          <a:xfrm>
            <a:off x="2023408" y="1489909"/>
            <a:ext cx="3973203" cy="4556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81612" tIns="40806" rIns="81612" bIns="40806" anchor="ctr" anchorCtr="0" compatLnSpc="0">
            <a:noAutofit/>
          </a:bodyPr>
          <a:lstStyle/>
          <a:p>
            <a:endParaRPr lang="en-US" sz="1632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FF544B30-C409-4FC0-BA3D-D9B2C4516F14}"/>
              </a:ext>
            </a:extLst>
          </p:cNvPr>
          <p:cNvSpPr/>
          <p:nvPr/>
        </p:nvSpPr>
        <p:spPr>
          <a:xfrm flipH="1">
            <a:off x="4699216" y="4412606"/>
            <a:ext cx="275110" cy="136447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  <a:tailEnd type="arrow"/>
          </a:ln>
        </p:spPr>
        <p:txBody>
          <a:bodyPr wrap="none" lIns="16322" tIns="16322" rIns="16322" bIns="16322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4001C84D-C1AF-43C7-8B95-BD863630A2D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563CF6C7-749E-41B5-AD92-E5AC86477964}"/>
              </a:ext>
            </a:extLst>
          </p:cNvPr>
          <p:cNvSpPr/>
          <p:nvPr/>
        </p:nvSpPr>
        <p:spPr>
          <a:xfrm flipV="1">
            <a:off x="2563680" y="1919191"/>
            <a:ext cx="9467" cy="3673523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23067E21-A1AB-4824-8542-07503A56F51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15DDC15E-0F40-4D60-9C03-9540354C4EE3}"/>
              </a:ext>
            </a:extLst>
          </p:cNvPr>
          <p:cNvSpPr/>
          <p:nvPr/>
        </p:nvSpPr>
        <p:spPr>
          <a:xfrm>
            <a:off x="3696130" y="3644470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720B6AAF-082D-4F48-AE99-AD82CAF92341}"/>
              </a:ext>
            </a:extLst>
          </p:cNvPr>
          <p:cNvSpPr/>
          <p:nvPr/>
        </p:nvSpPr>
        <p:spPr>
          <a:xfrm flipV="1">
            <a:off x="3877960" y="3483530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DE767C6-2A5A-4EDF-B081-B42183FA066D}"/>
              </a:ext>
            </a:extLst>
          </p:cNvPr>
          <p:cNvSpPr txBox="1"/>
          <p:nvPr/>
        </p:nvSpPr>
        <p:spPr>
          <a:xfrm>
            <a:off x="3945209" y="5700440"/>
            <a:ext cx="362373" cy="323116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>
            <a:spAutoFit/>
          </a:bodyPr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W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751E69F-2650-41A4-9FC5-70BC5A28DC44}"/>
              </a:ext>
            </a:extLst>
          </p:cNvPr>
          <p:cNvSpPr txBox="1"/>
          <p:nvPr/>
        </p:nvSpPr>
        <p:spPr>
          <a:xfrm>
            <a:off x="2095553" y="3278520"/>
            <a:ext cx="468127" cy="546148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/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Eq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4592922" y="4339794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𝐸𝑞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165A0FF5-F5FF-4A09-9489-0D03BB1C1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922" y="4339794"/>
                <a:ext cx="995668" cy="10377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onnecteur droit 14">
            <a:extLst>
              <a:ext uri="{FF2B5EF4-FFF2-40B4-BE49-F238E27FC236}">
                <a16:creationId xmlns:a16="http://schemas.microsoft.com/office/drawing/2014/main" id="{996E9B4A-F7A0-4C39-81AF-ACEB783D3C3E}"/>
              </a:ext>
            </a:extLst>
          </p:cNvPr>
          <p:cNvSpPr/>
          <p:nvPr/>
        </p:nvSpPr>
        <p:spPr>
          <a:xfrm>
            <a:off x="3942376" y="4249216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2046C4F4-8CC7-4973-872B-4FDD5BB334D6}"/>
              </a:ext>
            </a:extLst>
          </p:cNvPr>
          <p:cNvSpPr/>
          <p:nvPr/>
        </p:nvSpPr>
        <p:spPr>
          <a:xfrm flipV="1">
            <a:off x="4124206" y="4088276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7" name="Connecteur droit 16">
            <a:extLst>
              <a:ext uri="{FF2B5EF4-FFF2-40B4-BE49-F238E27FC236}">
                <a16:creationId xmlns:a16="http://schemas.microsoft.com/office/drawing/2014/main" id="{A029DF9D-DBEA-4486-AFBD-639C175E476D}"/>
              </a:ext>
            </a:extLst>
          </p:cNvPr>
          <p:cNvSpPr/>
          <p:nvPr/>
        </p:nvSpPr>
        <p:spPr>
          <a:xfrm>
            <a:off x="4215223" y="4500733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Connecteur droit 17">
            <a:extLst>
              <a:ext uri="{FF2B5EF4-FFF2-40B4-BE49-F238E27FC236}">
                <a16:creationId xmlns:a16="http://schemas.microsoft.com/office/drawing/2014/main" id="{FBC9F732-4BE8-417A-9BFC-74AF0E757046}"/>
              </a:ext>
            </a:extLst>
          </p:cNvPr>
          <p:cNvSpPr/>
          <p:nvPr/>
        </p:nvSpPr>
        <p:spPr>
          <a:xfrm flipV="1">
            <a:off x="4397053" y="4339793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6BF3CEA5-4D25-4694-B2AB-A9952A64197A}"/>
              </a:ext>
            </a:extLst>
          </p:cNvPr>
          <p:cNvSpPr/>
          <p:nvPr/>
        </p:nvSpPr>
        <p:spPr>
          <a:xfrm>
            <a:off x="4792496" y="4402810"/>
            <a:ext cx="325795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D9192A2E-C9AE-44D8-BE30-546861F1F22A}"/>
              </a:ext>
            </a:extLst>
          </p:cNvPr>
          <p:cNvSpPr/>
          <p:nvPr/>
        </p:nvSpPr>
        <p:spPr>
          <a:xfrm flipV="1">
            <a:off x="4974326" y="4241870"/>
            <a:ext cx="0" cy="307188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1" name="Connecteur droit 20">
            <a:extLst>
              <a:ext uri="{FF2B5EF4-FFF2-40B4-BE49-F238E27FC236}">
                <a16:creationId xmlns:a16="http://schemas.microsoft.com/office/drawing/2014/main" id="{5638BF94-B6DF-4677-AFCD-6E2C2918C8E6}"/>
              </a:ext>
            </a:extLst>
          </p:cNvPr>
          <p:cNvSpPr/>
          <p:nvPr/>
        </p:nvSpPr>
        <p:spPr>
          <a:xfrm>
            <a:off x="4511003" y="4607004"/>
            <a:ext cx="325795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5EBFF7BF-BEFD-457D-8B5B-1FE76369395C}"/>
              </a:ext>
            </a:extLst>
          </p:cNvPr>
          <p:cNvSpPr/>
          <p:nvPr/>
        </p:nvSpPr>
        <p:spPr>
          <a:xfrm flipV="1">
            <a:off x="4692833" y="4446064"/>
            <a:ext cx="0" cy="307188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E15C35BE-F590-4A39-B1C8-4599BE1D116F}"/>
              </a:ext>
            </a:extLst>
          </p:cNvPr>
          <p:cNvSpPr txBox="1">
            <a:spLocks/>
          </p:cNvSpPr>
          <p:nvPr/>
        </p:nvSpPr>
        <p:spPr bwMode="auto">
          <a:xfrm>
            <a:off x="1977326" y="243855"/>
            <a:ext cx="8420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fr-FR" kern="0"/>
              <a:t>Descente de gradient</a:t>
            </a:r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3388730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9C5C47-6A5D-413B-8B79-E9A2154DB8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50373" y="1424946"/>
            <a:ext cx="3611172" cy="4428272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Minimisation de l'erreur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Descente de la « pente » d'erreur.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La pente d'erreur est donnée par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B6BEA69F-B168-4E58-BA84-97A8F0EC278A}"/>
              </a:ext>
            </a:extLst>
          </p:cNvPr>
          <p:cNvSpPr/>
          <p:nvPr/>
        </p:nvSpPr>
        <p:spPr>
          <a:xfrm>
            <a:off x="2023408" y="1489909"/>
            <a:ext cx="3973203" cy="4556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81612" tIns="40806" rIns="81612" bIns="40806" anchor="ctr" anchorCtr="0" compatLnSpc="0">
            <a:noAutofit/>
          </a:bodyPr>
          <a:lstStyle/>
          <a:p>
            <a:endParaRPr lang="en-US" sz="1632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4001C84D-C1AF-43C7-8B95-BD863630A2D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563CF6C7-749E-41B5-AD92-E5AC86477964}"/>
              </a:ext>
            </a:extLst>
          </p:cNvPr>
          <p:cNvSpPr/>
          <p:nvPr/>
        </p:nvSpPr>
        <p:spPr>
          <a:xfrm flipV="1">
            <a:off x="2563680" y="1919191"/>
            <a:ext cx="9467" cy="3673523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23067E21-A1AB-4824-8542-07503A56F51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15DDC15E-0F40-4D60-9C03-9540354C4EE3}"/>
              </a:ext>
            </a:extLst>
          </p:cNvPr>
          <p:cNvSpPr/>
          <p:nvPr/>
        </p:nvSpPr>
        <p:spPr>
          <a:xfrm>
            <a:off x="3696130" y="3644470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720B6AAF-082D-4F48-AE99-AD82CAF92341}"/>
              </a:ext>
            </a:extLst>
          </p:cNvPr>
          <p:cNvSpPr/>
          <p:nvPr/>
        </p:nvSpPr>
        <p:spPr>
          <a:xfrm flipV="1">
            <a:off x="3877960" y="3483530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DE767C6-2A5A-4EDF-B081-B42183FA066D}"/>
              </a:ext>
            </a:extLst>
          </p:cNvPr>
          <p:cNvSpPr txBox="1"/>
          <p:nvPr/>
        </p:nvSpPr>
        <p:spPr>
          <a:xfrm>
            <a:off x="3945209" y="5700440"/>
            <a:ext cx="362373" cy="323116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>
            <a:spAutoFit/>
          </a:bodyPr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W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751E69F-2650-41A4-9FC5-70BC5A28DC44}"/>
              </a:ext>
            </a:extLst>
          </p:cNvPr>
          <p:cNvSpPr txBox="1"/>
          <p:nvPr/>
        </p:nvSpPr>
        <p:spPr>
          <a:xfrm>
            <a:off x="2095553" y="3278520"/>
            <a:ext cx="468127" cy="546148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/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Eq</a:t>
            </a:r>
          </a:p>
        </p:txBody>
      </p:sp>
      <p:sp>
        <p:nvSpPr>
          <p:cNvPr id="15" name="Connecteur droit 14">
            <a:extLst>
              <a:ext uri="{FF2B5EF4-FFF2-40B4-BE49-F238E27FC236}">
                <a16:creationId xmlns:a16="http://schemas.microsoft.com/office/drawing/2014/main" id="{996E9B4A-F7A0-4C39-81AF-ACEB783D3C3E}"/>
              </a:ext>
            </a:extLst>
          </p:cNvPr>
          <p:cNvSpPr/>
          <p:nvPr/>
        </p:nvSpPr>
        <p:spPr>
          <a:xfrm>
            <a:off x="3942376" y="4249216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2046C4F4-8CC7-4973-872B-4FDD5BB334D6}"/>
              </a:ext>
            </a:extLst>
          </p:cNvPr>
          <p:cNvSpPr/>
          <p:nvPr/>
        </p:nvSpPr>
        <p:spPr>
          <a:xfrm flipV="1">
            <a:off x="4124206" y="4088276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7" name="Connecteur droit 16">
            <a:extLst>
              <a:ext uri="{FF2B5EF4-FFF2-40B4-BE49-F238E27FC236}">
                <a16:creationId xmlns:a16="http://schemas.microsoft.com/office/drawing/2014/main" id="{A029DF9D-DBEA-4486-AFBD-639C175E476D}"/>
              </a:ext>
            </a:extLst>
          </p:cNvPr>
          <p:cNvSpPr/>
          <p:nvPr/>
        </p:nvSpPr>
        <p:spPr>
          <a:xfrm>
            <a:off x="4215223" y="4500733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Connecteur droit 17">
            <a:extLst>
              <a:ext uri="{FF2B5EF4-FFF2-40B4-BE49-F238E27FC236}">
                <a16:creationId xmlns:a16="http://schemas.microsoft.com/office/drawing/2014/main" id="{FBC9F732-4BE8-417A-9BFC-74AF0E757046}"/>
              </a:ext>
            </a:extLst>
          </p:cNvPr>
          <p:cNvSpPr/>
          <p:nvPr/>
        </p:nvSpPr>
        <p:spPr>
          <a:xfrm flipV="1">
            <a:off x="4397053" y="4339793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6BF3CEA5-4D25-4694-B2AB-A9952A64197A}"/>
              </a:ext>
            </a:extLst>
          </p:cNvPr>
          <p:cNvSpPr/>
          <p:nvPr/>
        </p:nvSpPr>
        <p:spPr>
          <a:xfrm>
            <a:off x="4792496" y="4402810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D9192A2E-C9AE-44D8-BE30-546861F1F22A}"/>
              </a:ext>
            </a:extLst>
          </p:cNvPr>
          <p:cNvSpPr/>
          <p:nvPr/>
        </p:nvSpPr>
        <p:spPr>
          <a:xfrm flipV="1">
            <a:off x="4974326" y="4241870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1" name="Connecteur droit 20">
            <a:extLst>
              <a:ext uri="{FF2B5EF4-FFF2-40B4-BE49-F238E27FC236}">
                <a16:creationId xmlns:a16="http://schemas.microsoft.com/office/drawing/2014/main" id="{5638BF94-B6DF-4677-AFCD-6E2C2918C8E6}"/>
              </a:ext>
            </a:extLst>
          </p:cNvPr>
          <p:cNvSpPr/>
          <p:nvPr/>
        </p:nvSpPr>
        <p:spPr>
          <a:xfrm>
            <a:off x="4511003" y="4607004"/>
            <a:ext cx="325795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5EBFF7BF-BEFD-457D-8B5B-1FE76369395C}"/>
              </a:ext>
            </a:extLst>
          </p:cNvPr>
          <p:cNvSpPr/>
          <p:nvPr/>
        </p:nvSpPr>
        <p:spPr>
          <a:xfrm flipV="1">
            <a:off x="4692833" y="4446064"/>
            <a:ext cx="0" cy="307188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B4EBAD8B-BC8B-4AD9-B59A-DD756FB46472}"/>
              </a:ext>
            </a:extLst>
          </p:cNvPr>
          <p:cNvSpPr txBox="1">
            <a:spLocks/>
          </p:cNvSpPr>
          <p:nvPr/>
        </p:nvSpPr>
        <p:spPr bwMode="auto">
          <a:xfrm>
            <a:off x="1977326" y="243855"/>
            <a:ext cx="8420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fr-FR" kern="0"/>
              <a:t>Descente de gradient</a:t>
            </a:r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2312951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9C5C47-6A5D-413B-8B79-E9A2154DB84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50373" y="1424946"/>
            <a:ext cx="3611172" cy="4428272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Minimisation de l'erreur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Descente de la « pente » d'erreur.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 dirty="0"/>
              <a:t>La pente d'erreur est donnée par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B6BEA69F-B168-4E58-BA84-97A8F0EC278A}"/>
              </a:ext>
            </a:extLst>
          </p:cNvPr>
          <p:cNvSpPr/>
          <p:nvPr/>
        </p:nvSpPr>
        <p:spPr>
          <a:xfrm>
            <a:off x="2023408" y="1489909"/>
            <a:ext cx="3973203" cy="4556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81612" tIns="40806" rIns="81612" bIns="40806" anchor="ctr" anchorCtr="0" compatLnSpc="0">
            <a:noAutofit/>
          </a:bodyPr>
          <a:lstStyle/>
          <a:p>
            <a:endParaRPr lang="en-US" sz="1632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CF1EF6B-6D7E-4164-A547-BF88C3F2B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4001C84D-C1AF-43C7-8B95-BD863630A2D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563CF6C7-749E-41B5-AD92-E5AC86477964}"/>
              </a:ext>
            </a:extLst>
          </p:cNvPr>
          <p:cNvSpPr/>
          <p:nvPr/>
        </p:nvSpPr>
        <p:spPr>
          <a:xfrm flipV="1">
            <a:off x="2563680" y="1919191"/>
            <a:ext cx="9467" cy="3673523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23067E21-A1AB-4824-8542-07503A56F519}"/>
              </a:ext>
            </a:extLst>
          </p:cNvPr>
          <p:cNvSpPr/>
          <p:nvPr/>
        </p:nvSpPr>
        <p:spPr>
          <a:xfrm>
            <a:off x="2563680" y="5602507"/>
            <a:ext cx="3195277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15DDC15E-0F40-4D60-9C03-9540354C4EE3}"/>
              </a:ext>
            </a:extLst>
          </p:cNvPr>
          <p:cNvSpPr/>
          <p:nvPr/>
        </p:nvSpPr>
        <p:spPr>
          <a:xfrm>
            <a:off x="3696130" y="3644470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720B6AAF-082D-4F48-AE99-AD82CAF92341}"/>
              </a:ext>
            </a:extLst>
          </p:cNvPr>
          <p:cNvSpPr/>
          <p:nvPr/>
        </p:nvSpPr>
        <p:spPr>
          <a:xfrm flipV="1">
            <a:off x="3877960" y="3483530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DE767C6-2A5A-4EDF-B081-B42183FA066D}"/>
              </a:ext>
            </a:extLst>
          </p:cNvPr>
          <p:cNvSpPr txBox="1"/>
          <p:nvPr/>
        </p:nvSpPr>
        <p:spPr>
          <a:xfrm>
            <a:off x="3945209" y="5700440"/>
            <a:ext cx="362373" cy="323116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>
            <a:spAutoFit/>
          </a:bodyPr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W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751E69F-2650-41A4-9FC5-70BC5A28DC44}"/>
              </a:ext>
            </a:extLst>
          </p:cNvPr>
          <p:cNvSpPr txBox="1"/>
          <p:nvPr/>
        </p:nvSpPr>
        <p:spPr>
          <a:xfrm>
            <a:off x="2095553" y="3278520"/>
            <a:ext cx="468127" cy="546148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/>
          <a:lstStyle/>
          <a:p>
            <a:r>
              <a:rPr lang="en-US" sz="1632" b="1">
                <a:solidFill>
                  <a:srgbClr val="000000"/>
                </a:solidFill>
                <a:latin typeface="Liberation Sans" pitchFamily="18"/>
                <a:ea typeface="DejaVu Sans" pitchFamily="2"/>
                <a:cs typeface="Lohit Hindi" pitchFamily="2"/>
              </a:rPr>
              <a:t>Eq</a:t>
            </a:r>
          </a:p>
        </p:txBody>
      </p:sp>
      <p:sp>
        <p:nvSpPr>
          <p:cNvPr id="15" name="Connecteur droit 14">
            <a:extLst>
              <a:ext uri="{FF2B5EF4-FFF2-40B4-BE49-F238E27FC236}">
                <a16:creationId xmlns:a16="http://schemas.microsoft.com/office/drawing/2014/main" id="{996E9B4A-F7A0-4C39-81AF-ACEB783D3C3E}"/>
              </a:ext>
            </a:extLst>
          </p:cNvPr>
          <p:cNvSpPr/>
          <p:nvPr/>
        </p:nvSpPr>
        <p:spPr>
          <a:xfrm>
            <a:off x="3942376" y="4249216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2046C4F4-8CC7-4973-872B-4FDD5BB334D6}"/>
              </a:ext>
            </a:extLst>
          </p:cNvPr>
          <p:cNvSpPr/>
          <p:nvPr/>
        </p:nvSpPr>
        <p:spPr>
          <a:xfrm flipV="1">
            <a:off x="4124206" y="4088276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7" name="Connecteur droit 16">
            <a:extLst>
              <a:ext uri="{FF2B5EF4-FFF2-40B4-BE49-F238E27FC236}">
                <a16:creationId xmlns:a16="http://schemas.microsoft.com/office/drawing/2014/main" id="{A029DF9D-DBEA-4486-AFBD-639C175E476D}"/>
              </a:ext>
            </a:extLst>
          </p:cNvPr>
          <p:cNvSpPr/>
          <p:nvPr/>
        </p:nvSpPr>
        <p:spPr>
          <a:xfrm>
            <a:off x="4215223" y="4500733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Connecteur droit 17">
            <a:extLst>
              <a:ext uri="{FF2B5EF4-FFF2-40B4-BE49-F238E27FC236}">
                <a16:creationId xmlns:a16="http://schemas.microsoft.com/office/drawing/2014/main" id="{FBC9F732-4BE8-417A-9BFC-74AF0E757046}"/>
              </a:ext>
            </a:extLst>
          </p:cNvPr>
          <p:cNvSpPr/>
          <p:nvPr/>
        </p:nvSpPr>
        <p:spPr>
          <a:xfrm flipV="1">
            <a:off x="4397053" y="4339793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6BF3CEA5-4D25-4694-B2AB-A9952A64197A}"/>
              </a:ext>
            </a:extLst>
          </p:cNvPr>
          <p:cNvSpPr/>
          <p:nvPr/>
        </p:nvSpPr>
        <p:spPr>
          <a:xfrm>
            <a:off x="4792496" y="4402810"/>
            <a:ext cx="325795" cy="0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D9192A2E-C9AE-44D8-BE30-546861F1F22A}"/>
              </a:ext>
            </a:extLst>
          </p:cNvPr>
          <p:cNvSpPr/>
          <p:nvPr/>
        </p:nvSpPr>
        <p:spPr>
          <a:xfrm flipV="1">
            <a:off x="4974326" y="4241870"/>
            <a:ext cx="0" cy="307188"/>
          </a:xfrm>
          <a:prstGeom prst="line">
            <a:avLst/>
          </a:prstGeom>
          <a:noFill/>
          <a:ln w="25400">
            <a:solidFill>
              <a:schemeClr val="bg2">
                <a:lumMod val="60000"/>
                <a:lumOff val="40000"/>
              </a:schemeClr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1" name="Connecteur droit 20">
            <a:extLst>
              <a:ext uri="{FF2B5EF4-FFF2-40B4-BE49-F238E27FC236}">
                <a16:creationId xmlns:a16="http://schemas.microsoft.com/office/drawing/2014/main" id="{5638BF94-B6DF-4677-AFCD-6E2C2918C8E6}"/>
              </a:ext>
            </a:extLst>
          </p:cNvPr>
          <p:cNvSpPr/>
          <p:nvPr/>
        </p:nvSpPr>
        <p:spPr>
          <a:xfrm>
            <a:off x="4511003" y="4607004"/>
            <a:ext cx="325795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 dirty="0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5EBFF7BF-BEFD-457D-8B5B-1FE76369395C}"/>
              </a:ext>
            </a:extLst>
          </p:cNvPr>
          <p:cNvSpPr/>
          <p:nvPr/>
        </p:nvSpPr>
        <p:spPr>
          <a:xfrm flipV="1">
            <a:off x="4692833" y="4446064"/>
            <a:ext cx="0" cy="307188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F3CF192A-0BE9-457F-ABED-ED325F9DCFD1}"/>
              </a:ext>
            </a:extLst>
          </p:cNvPr>
          <p:cNvSpPr/>
          <p:nvPr/>
        </p:nvSpPr>
        <p:spPr>
          <a:xfrm rot="5050200">
            <a:off x="3416076" y="2317281"/>
            <a:ext cx="2422247" cy="218883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421" h="6706">
                <a:moveTo>
                  <a:pt x="0" y="6681"/>
                </a:moveTo>
                <a:cubicBezTo>
                  <a:pt x="522" y="6790"/>
                  <a:pt x="991" y="6515"/>
                  <a:pt x="1486" y="6429"/>
                </a:cubicBezTo>
                <a:cubicBezTo>
                  <a:pt x="2011" y="6338"/>
                  <a:pt x="2489" y="6101"/>
                  <a:pt x="2997" y="5957"/>
                </a:cubicBezTo>
                <a:cubicBezTo>
                  <a:pt x="3492" y="5818"/>
                  <a:pt x="4010" y="5736"/>
                  <a:pt x="4499" y="5574"/>
                </a:cubicBezTo>
                <a:cubicBezTo>
                  <a:pt x="4995" y="5410"/>
                  <a:pt x="5540" y="5371"/>
                  <a:pt x="6005" y="5147"/>
                </a:cubicBezTo>
                <a:cubicBezTo>
                  <a:pt x="6522" y="4897"/>
                  <a:pt x="7185" y="4654"/>
                  <a:pt x="7346" y="4076"/>
                </a:cubicBezTo>
                <a:cubicBezTo>
                  <a:pt x="7474" y="3620"/>
                  <a:pt x="7478" y="3051"/>
                  <a:pt x="7026" y="2700"/>
                </a:cubicBezTo>
                <a:cubicBezTo>
                  <a:pt x="6545" y="2325"/>
                  <a:pt x="6216" y="1808"/>
                  <a:pt x="5721" y="1448"/>
                </a:cubicBezTo>
                <a:cubicBezTo>
                  <a:pt x="5302" y="1142"/>
                  <a:pt x="4802" y="941"/>
                  <a:pt x="4299" y="765"/>
                </a:cubicBezTo>
                <a:cubicBezTo>
                  <a:pt x="3837" y="604"/>
                  <a:pt x="3343" y="577"/>
                  <a:pt x="2889" y="397"/>
                </a:cubicBezTo>
                <a:cubicBezTo>
                  <a:pt x="2438" y="219"/>
                  <a:pt x="1944" y="181"/>
                  <a:pt x="1472" y="73"/>
                </a:cubicBezTo>
                <a:lnTo>
                  <a:pt x="994" y="24"/>
                </a:lnTo>
                <a:lnTo>
                  <a:pt x="754" y="0"/>
                </a:lnTo>
              </a:path>
            </a:pathLst>
          </a:custGeom>
          <a:noFill/>
          <a:ln w="25400">
            <a:solidFill>
              <a:srgbClr val="000000"/>
            </a:solidFill>
            <a:custDash>
              <a:ds d="360000" sp="100000"/>
              <a:ds d="360000" sp="100000"/>
              <a:ds d="287717" sp="100000"/>
            </a:custDash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6E1343B3-B355-4193-A5BA-76331B98C647}"/>
              </a:ext>
            </a:extLst>
          </p:cNvPr>
          <p:cNvSpPr txBox="1">
            <a:spLocks/>
          </p:cNvSpPr>
          <p:nvPr/>
        </p:nvSpPr>
        <p:spPr bwMode="auto">
          <a:xfrm>
            <a:off x="1977326" y="243855"/>
            <a:ext cx="8420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fr-FR" kern="0"/>
              <a:t>Descente de gradient</a:t>
            </a:r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2695532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F781B8-B112-44E9-A75F-91705C052EB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450373" y="1424946"/>
            <a:ext cx="3611172" cy="4428272"/>
          </a:xfrm>
        </p:spPr>
        <p:txBody>
          <a:bodyPr vert="horz"/>
          <a:lstStyle/>
          <a:p>
            <a:pPr lvl="0" rtl="0">
              <a:buSzPct val="45000"/>
              <a:buFont typeface="StarSymbol"/>
              <a:buChar char="●"/>
            </a:pPr>
            <a:r>
              <a:rPr lang="fr-FR"/>
              <a:t>Minimisation de l'erreur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/>
              <a:t>Descente de la « pente » d'erreur.</a:t>
            </a:r>
          </a:p>
          <a:p>
            <a:pPr lvl="0" rtl="0">
              <a:buSzPct val="45000"/>
              <a:buFont typeface="StarSymbol"/>
              <a:buChar char="●"/>
            </a:pPr>
            <a:r>
              <a:rPr lang="fr-FR"/>
              <a:t>La pente d'erreur est donnée par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90D180F0-4067-4C3D-A49E-02BBDDC69C6E}"/>
              </a:ext>
            </a:extLst>
          </p:cNvPr>
          <p:cNvSpPr/>
          <p:nvPr/>
        </p:nvSpPr>
        <p:spPr>
          <a:xfrm>
            <a:off x="2023408" y="1489909"/>
            <a:ext cx="3973203" cy="45562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wrap="none" lIns="81612" tIns="40806" rIns="81612" bIns="40806" anchor="ctr" anchorCtr="0" compatLnSpc="0">
            <a:noAutofit/>
          </a:bodyPr>
          <a:lstStyle/>
          <a:p>
            <a:endParaRPr lang="en-US" sz="1632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01725194-4EF3-41A3-9906-FE378B20EE38}"/>
              </a:ext>
            </a:extLst>
          </p:cNvPr>
          <p:cNvSpPr/>
          <p:nvPr/>
        </p:nvSpPr>
        <p:spPr>
          <a:xfrm rot="5020800">
            <a:off x="2582078" y="2156459"/>
            <a:ext cx="3323570" cy="3255343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182" h="9973">
                <a:moveTo>
                  <a:pt x="0" y="9935"/>
                </a:moveTo>
                <a:cubicBezTo>
                  <a:pt x="716" y="10098"/>
                  <a:pt x="1360" y="9689"/>
                  <a:pt x="2039" y="9561"/>
                </a:cubicBezTo>
                <a:cubicBezTo>
                  <a:pt x="2759" y="9425"/>
                  <a:pt x="3415" y="9072"/>
                  <a:pt x="4112" y="8859"/>
                </a:cubicBezTo>
                <a:cubicBezTo>
                  <a:pt x="4792" y="8651"/>
                  <a:pt x="5502" y="8530"/>
                  <a:pt x="6173" y="8289"/>
                </a:cubicBezTo>
                <a:cubicBezTo>
                  <a:pt x="6854" y="8045"/>
                  <a:pt x="7601" y="7986"/>
                  <a:pt x="8239" y="7653"/>
                </a:cubicBezTo>
                <a:cubicBezTo>
                  <a:pt x="8949" y="7282"/>
                  <a:pt x="9858" y="6920"/>
                  <a:pt x="10080" y="6060"/>
                </a:cubicBezTo>
                <a:cubicBezTo>
                  <a:pt x="10255" y="5382"/>
                  <a:pt x="10260" y="4536"/>
                  <a:pt x="9640" y="4014"/>
                </a:cubicBezTo>
                <a:cubicBezTo>
                  <a:pt x="8980" y="3457"/>
                  <a:pt x="8529" y="2688"/>
                  <a:pt x="7850" y="2152"/>
                </a:cubicBezTo>
                <a:cubicBezTo>
                  <a:pt x="7274" y="1697"/>
                  <a:pt x="6589" y="1399"/>
                  <a:pt x="5899" y="1137"/>
                </a:cubicBezTo>
                <a:cubicBezTo>
                  <a:pt x="5265" y="897"/>
                  <a:pt x="4587" y="858"/>
                  <a:pt x="3964" y="590"/>
                </a:cubicBezTo>
                <a:cubicBezTo>
                  <a:pt x="3345" y="325"/>
                  <a:pt x="2667" y="269"/>
                  <a:pt x="2020" y="109"/>
                </a:cubicBezTo>
                <a:lnTo>
                  <a:pt x="1363" y="36"/>
                </a:lnTo>
                <a:lnTo>
                  <a:pt x="1034" y="0"/>
                </a:lnTo>
              </a:path>
            </a:pathLst>
          </a:custGeom>
          <a:noFill/>
          <a:ln w="25400">
            <a:solidFill>
              <a:srgbClr val="000000"/>
            </a:solidFill>
            <a:custDash>
              <a:ds d="360000" sp="100000"/>
              <a:ds d="360000" sp="100000"/>
              <a:ds d="287717" sp="100000"/>
            </a:custDash>
          </a:ln>
        </p:spPr>
        <p:txBody>
          <a:bodyPr wrap="none" lIns="0" tIns="0" rIns="0" bIns="0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7FB04EB2-AD0C-43DE-8FDE-CF6C3C12A960}"/>
              </a:ext>
            </a:extLst>
          </p:cNvPr>
          <p:cNvSpPr/>
          <p:nvPr/>
        </p:nvSpPr>
        <p:spPr>
          <a:xfrm>
            <a:off x="2714498" y="2720622"/>
            <a:ext cx="616008" cy="60490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>
            <a:noFill/>
            <a:prstDash val="solid"/>
          </a:ln>
        </p:spPr>
        <p:txBody>
          <a:bodyPr wrap="none" lIns="81612" tIns="40806" rIns="81612" bIns="40806" anchor="ctr" anchorCtr="0" compatLnSpc="0">
            <a:noAutofit/>
          </a:bodyPr>
          <a:lstStyle/>
          <a:p>
            <a:endParaRPr lang="en-US" sz="1632">
              <a:latin typeface="Liberation Sans" pitchFamily="18"/>
              <a:ea typeface="DejaVu Sans" pitchFamily="2"/>
              <a:cs typeface="Lohit Hindi" pitchFamily="2"/>
            </a:endParaRPr>
          </a:p>
        </p:txBody>
      </p:sp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730A93F6-CCF1-42CB-A2E6-5874E6422FAC}"/>
              </a:ext>
            </a:extLst>
          </p:cNvPr>
          <p:cNvSpPr/>
          <p:nvPr/>
        </p:nvSpPr>
        <p:spPr>
          <a:xfrm>
            <a:off x="3179361" y="3325531"/>
            <a:ext cx="355829" cy="776947"/>
          </a:xfrm>
          <a:prstGeom prst="line">
            <a:avLst/>
          </a:prstGeom>
          <a:noFill/>
          <a:ln w="36000">
            <a:solidFill>
              <a:srgbClr val="000000"/>
            </a:solidFill>
            <a:prstDash val="solid"/>
            <a:tailEnd type="arrow"/>
          </a:ln>
        </p:spPr>
        <p:txBody>
          <a:bodyPr wrap="none" lIns="16322" tIns="16322" rIns="16322" bIns="16322" anchor="ctr" compatLnSpc="0"/>
          <a:lstStyle/>
          <a:p>
            <a:pPr lvl="0" hangingPunct="0">
              <a:buNone/>
              <a:tabLst/>
            </a:pPr>
            <a:endParaRPr lang="en-US" sz="2176">
              <a:latin typeface="Times New Roman" pitchFamily="18"/>
              <a:ea typeface="DejaVu Sans" pitchFamily="2"/>
              <a:cs typeface="DejaVu 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1A511854-9A8D-4C6C-B931-75AD164D7681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 anchorCtr="1" compatLnSpc="0">
                <a:noAutofit/>
              </a:bodyPr>
              <a:lstStyle/>
              <a:p>
                <a:pPr lvl="0" hangingPunct="0"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14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814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14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sz="1814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1A511854-9A8D-4C6C-B931-75AD164D7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472" y="4599659"/>
                <a:ext cx="995668" cy="1037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re 1">
            <a:extLst>
              <a:ext uri="{FF2B5EF4-FFF2-40B4-BE49-F238E27FC236}">
                <a16:creationId xmlns:a16="http://schemas.microsoft.com/office/drawing/2014/main" id="{F2CC636B-30F1-4EA2-99D6-1DA5F5612817}"/>
              </a:ext>
            </a:extLst>
          </p:cNvPr>
          <p:cNvSpPr txBox="1">
            <a:spLocks/>
          </p:cNvSpPr>
          <p:nvPr/>
        </p:nvSpPr>
        <p:spPr bwMode="auto">
          <a:xfrm>
            <a:off x="1977326" y="243855"/>
            <a:ext cx="84201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  <a:ea typeface="ＭＳ Ｐゴシック" charset="-128"/>
                <a:cs typeface="ＭＳ Ｐゴシック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fr-FR" kern="0"/>
              <a:t>Descente de gradient</a:t>
            </a:r>
            <a:endParaRPr lang="fr-FR" kern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97F170-D40B-42D9-9CC0-BCEE853E0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D1FFA2-CB58-4AA0-BE0B-26D27A42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32</a:t>
            </a:fld>
            <a:endParaRPr lang="en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5F3F9D8-6ED7-4E0C-A634-EF002A773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407" y="1399749"/>
            <a:ext cx="6234706" cy="502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848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ANN in a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view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10993348" cy="5221448"/>
          </a:xfrm>
        </p:spPr>
        <p:txBody>
          <a:bodyPr>
            <a:normAutofit/>
          </a:bodyPr>
          <a:lstStyle/>
          <a:p>
            <a:r>
              <a:rPr lang="fr-FR" dirty="0"/>
              <a:t>A graph of </a:t>
            </a:r>
            <a:r>
              <a:rPr lang="fr-FR" dirty="0" err="1"/>
              <a:t>tensor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 in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parameters</a:t>
            </a:r>
            <a:r>
              <a:rPr lang="fr-FR" dirty="0"/>
              <a:t> are </a:t>
            </a:r>
            <a:r>
              <a:rPr lang="fr-FR" dirty="0" err="1"/>
              <a:t>tuned</a:t>
            </a:r>
            <a:r>
              <a:rPr lang="fr-FR" dirty="0"/>
              <a:t> to </a:t>
            </a:r>
            <a:r>
              <a:rPr lang="fr-FR" dirty="0" err="1"/>
              <a:t>minimize</a:t>
            </a:r>
            <a:r>
              <a:rPr lang="fr-FR" dirty="0"/>
              <a:t> the </a:t>
            </a:r>
            <a:r>
              <a:rPr lang="fr-FR" dirty="0" err="1"/>
              <a:t>errors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the </a:t>
            </a:r>
            <a:r>
              <a:rPr lang="fr-FR" dirty="0" err="1"/>
              <a:t>computed</a:t>
            </a:r>
            <a:r>
              <a:rPr lang="fr-FR" dirty="0"/>
              <a:t> outputs (Y) and the </a:t>
            </a:r>
            <a:r>
              <a:rPr lang="fr-FR" dirty="0" err="1"/>
              <a:t>target</a:t>
            </a:r>
            <a:r>
              <a:rPr lang="fr-FR" dirty="0"/>
              <a:t> outputs (Y*) </a:t>
            </a:r>
            <a:r>
              <a:rPr lang="fr-FR" dirty="0" err="1"/>
              <a:t>given</a:t>
            </a:r>
            <a:r>
              <a:rPr lang="fr-FR" dirty="0"/>
              <a:t> the inputs (X). The </a:t>
            </a:r>
            <a:r>
              <a:rPr lang="fr-FR" dirty="0" err="1"/>
              <a:t>parameters</a:t>
            </a:r>
            <a:r>
              <a:rPr lang="fr-FR" dirty="0"/>
              <a:t> are </a:t>
            </a:r>
            <a:r>
              <a:rPr lang="fr-FR" dirty="0" err="1"/>
              <a:t>modified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 gradient of the </a:t>
            </a:r>
            <a:r>
              <a:rPr lang="fr-FR" dirty="0" err="1"/>
              <a:t>error</a:t>
            </a:r>
            <a:r>
              <a:rPr lang="fr-FR" dirty="0"/>
              <a:t> (E) </a:t>
            </a:r>
            <a:r>
              <a:rPr lang="fr-FR" dirty="0" err="1"/>
              <a:t>relatively</a:t>
            </a:r>
            <a:r>
              <a:rPr lang="fr-FR" dirty="0"/>
              <a:t> to </a:t>
            </a:r>
            <a:r>
              <a:rPr lang="fr-FR" dirty="0" err="1"/>
              <a:t>them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33</a:t>
            </a:fld>
            <a:endParaRPr lang="en-CA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2CE432-C933-4E95-9162-2E5FEA58C260}"/>
              </a:ext>
            </a:extLst>
          </p:cNvPr>
          <p:cNvSpPr txBox="1"/>
          <p:nvPr/>
        </p:nvSpPr>
        <p:spPr>
          <a:xfrm>
            <a:off x="722870" y="4726459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5E408BB-0998-49FD-B4CE-B2BBDAD9F92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68859" y="4911125"/>
            <a:ext cx="321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737997B4-DC90-4ABE-8DA4-71AB5EBED1C1}"/>
              </a:ext>
            </a:extLst>
          </p:cNvPr>
          <p:cNvSpPr txBox="1"/>
          <p:nvPr/>
        </p:nvSpPr>
        <p:spPr>
          <a:xfrm>
            <a:off x="1390134" y="472645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C86EA22-7D98-4E1F-87AC-3B318FCD37B1}"/>
              </a:ext>
            </a:extLst>
          </p:cNvPr>
          <p:cNvSpPr txBox="1"/>
          <p:nvPr/>
        </p:nvSpPr>
        <p:spPr>
          <a:xfrm>
            <a:off x="2648464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81E3082-864D-415E-A6C9-400F385B7478}"/>
              </a:ext>
            </a:extLst>
          </p:cNvPr>
          <p:cNvSpPr txBox="1"/>
          <p:nvPr/>
        </p:nvSpPr>
        <p:spPr>
          <a:xfrm>
            <a:off x="2648464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OP3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C756C0A-03BF-4465-A6A1-CF8D1154BA92}"/>
              </a:ext>
            </a:extLst>
          </p:cNvPr>
          <p:cNvSpPr txBox="1"/>
          <p:nvPr/>
        </p:nvSpPr>
        <p:spPr>
          <a:xfrm>
            <a:off x="3883098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OP4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712B3FB-BC5E-4ED1-9F18-DC0802B203B1}"/>
              </a:ext>
            </a:extLst>
          </p:cNvPr>
          <p:cNvSpPr txBox="1"/>
          <p:nvPr/>
        </p:nvSpPr>
        <p:spPr>
          <a:xfrm>
            <a:off x="5117732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OP6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E5BDEA9-7C5E-460D-A630-808A278BE895}"/>
              </a:ext>
            </a:extLst>
          </p:cNvPr>
          <p:cNvSpPr txBox="1"/>
          <p:nvPr/>
        </p:nvSpPr>
        <p:spPr>
          <a:xfrm>
            <a:off x="3906794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4D4C577-66DD-4FB9-92E6-BCCA83EDDF22}"/>
              </a:ext>
            </a:extLst>
          </p:cNvPr>
          <p:cNvSpPr txBox="1"/>
          <p:nvPr/>
        </p:nvSpPr>
        <p:spPr>
          <a:xfrm>
            <a:off x="6466134" y="472645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OP7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980D146-2A14-475D-92FE-61FB012F5ABA}"/>
              </a:ext>
            </a:extLst>
          </p:cNvPr>
          <p:cNvSpPr txBox="1"/>
          <p:nvPr/>
        </p:nvSpPr>
        <p:spPr>
          <a:xfrm>
            <a:off x="5117732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OP8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CDA1C7E-05B2-42F3-9B50-7D75D704D975}"/>
              </a:ext>
            </a:extLst>
          </p:cNvPr>
          <p:cNvSpPr txBox="1"/>
          <p:nvPr/>
        </p:nvSpPr>
        <p:spPr>
          <a:xfrm>
            <a:off x="7607077" y="4730198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OP9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A40DC3F-68F4-4FA1-8E69-37AB96AD1F7C}"/>
              </a:ext>
            </a:extLst>
          </p:cNvPr>
          <p:cNvSpPr txBox="1"/>
          <p:nvPr/>
        </p:nvSpPr>
        <p:spPr>
          <a:xfrm>
            <a:off x="8638883" y="4726459"/>
            <a:ext cx="776429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OP10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A42D5D0A-E436-4F96-827D-5B8C7C6D9F73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1995616" y="4356515"/>
            <a:ext cx="652848" cy="564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0FFBBAF1-45AA-4180-9EAA-01B3EE8B8B6F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000764" y="4924550"/>
            <a:ext cx="647700" cy="397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D8C9CDC-17AA-43A3-AE4B-CD6924CF75F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253946" y="4356515"/>
            <a:ext cx="6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8D259E0A-BA87-483B-81FF-59C02B6E73F9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253946" y="5322026"/>
            <a:ext cx="652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4C5C883E-97E3-4151-8032-B1BE1B8EA14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488580" y="4356515"/>
            <a:ext cx="6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770F82A-2E06-4A3A-BCC5-B8ABDBFF114A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488580" y="5319281"/>
            <a:ext cx="629152" cy="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89BDD4CF-2CA2-4A96-9217-63DE5E57633D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5723214" y="4356515"/>
            <a:ext cx="742920" cy="554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ADBB7C58-9AAB-42BA-8DBC-9210EF366355}"/>
              </a:ext>
            </a:extLst>
          </p:cNvPr>
          <p:cNvCxnSpPr>
            <a:cxnSpLocks/>
            <a:stCxn id="19" idx="3"/>
            <a:endCxn id="18" idx="1"/>
          </p:cNvCxnSpPr>
          <p:nvPr/>
        </p:nvCxnSpPr>
        <p:spPr>
          <a:xfrm flipV="1">
            <a:off x="5723214" y="4911125"/>
            <a:ext cx="742920" cy="410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F6DD2059-00B3-4CD4-BD2E-7526F4474406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7071616" y="4911125"/>
            <a:ext cx="535461" cy="3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F4EA3FE1-8B37-434E-9D54-AED64BB36AC6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8212559" y="4911125"/>
            <a:ext cx="426324" cy="3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90431A16-05A1-4CEB-BF4B-670BE4CE63BD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9415312" y="4906742"/>
            <a:ext cx="487304" cy="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0636B8AF-EC62-41D2-AD3B-E1C8ACCA3460}"/>
              </a:ext>
            </a:extLst>
          </p:cNvPr>
          <p:cNvSpPr txBox="1"/>
          <p:nvPr/>
        </p:nvSpPr>
        <p:spPr>
          <a:xfrm>
            <a:off x="9902616" y="4730198"/>
            <a:ext cx="776429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loss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D45B8318-321E-4EC6-ADBF-5019B76474DC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10290830" y="4356515"/>
            <a:ext cx="1" cy="373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8C17F6BB-956D-45B8-AFC6-28C6BD714C8D}"/>
              </a:ext>
            </a:extLst>
          </p:cNvPr>
          <p:cNvCxnSpPr>
            <a:cxnSpLocks/>
          </p:cNvCxnSpPr>
          <p:nvPr/>
        </p:nvCxnSpPr>
        <p:spPr>
          <a:xfrm>
            <a:off x="10679045" y="4897670"/>
            <a:ext cx="487304" cy="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F0E359AC-EAB8-4E31-92FF-8879D91F2701}"/>
              </a:ext>
            </a:extLst>
          </p:cNvPr>
          <p:cNvSpPr txBox="1"/>
          <p:nvPr/>
        </p:nvSpPr>
        <p:spPr>
          <a:xfrm>
            <a:off x="2648464" y="5792961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W3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6CB745CA-29F9-40DD-8443-8E8E8ED87062}"/>
              </a:ext>
            </a:extLst>
          </p:cNvPr>
          <p:cNvSpPr txBox="1"/>
          <p:nvPr/>
        </p:nvSpPr>
        <p:spPr>
          <a:xfrm>
            <a:off x="5169218" y="3504428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W6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4F59B98-EBFE-4ADF-8363-846FFBBDDFE7}"/>
              </a:ext>
            </a:extLst>
          </p:cNvPr>
          <p:cNvSpPr txBox="1"/>
          <p:nvPr/>
        </p:nvSpPr>
        <p:spPr>
          <a:xfrm>
            <a:off x="7637969" y="5425390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W9</a:t>
            </a: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DAEBA182-871F-4D12-BD80-FEF13CA4E746}"/>
              </a:ext>
            </a:extLst>
          </p:cNvPr>
          <p:cNvCxnSpPr>
            <a:cxnSpLocks/>
            <a:stCxn id="54" idx="0"/>
            <a:endCxn id="13" idx="2"/>
          </p:cNvCxnSpPr>
          <p:nvPr/>
        </p:nvCxnSpPr>
        <p:spPr>
          <a:xfrm flipV="1">
            <a:off x="2921343" y="5506692"/>
            <a:ext cx="29862" cy="28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84326789-52E8-420C-9B2C-FDABAEB19FDC}"/>
              </a:ext>
            </a:extLst>
          </p:cNvPr>
          <p:cNvCxnSpPr>
            <a:stCxn id="56" idx="2"/>
            <a:endCxn id="16" idx="0"/>
          </p:cNvCxnSpPr>
          <p:nvPr/>
        </p:nvCxnSpPr>
        <p:spPr>
          <a:xfrm flipH="1">
            <a:off x="5420473" y="3873760"/>
            <a:ext cx="21624" cy="298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AC23BA98-0AC2-4812-810E-4FE520DF5434}"/>
              </a:ext>
            </a:extLst>
          </p:cNvPr>
          <p:cNvCxnSpPr>
            <a:stCxn id="57" idx="0"/>
            <a:endCxn id="20" idx="2"/>
          </p:cNvCxnSpPr>
          <p:nvPr/>
        </p:nvCxnSpPr>
        <p:spPr>
          <a:xfrm flipH="1" flipV="1">
            <a:off x="7909818" y="5099530"/>
            <a:ext cx="1030" cy="325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02838A65-FEEB-4F2E-A38E-E70E08E571DF}"/>
              </a:ext>
            </a:extLst>
          </p:cNvPr>
          <p:cNvSpPr txBox="1"/>
          <p:nvPr/>
        </p:nvSpPr>
        <p:spPr>
          <a:xfrm>
            <a:off x="9480478" y="4509527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A47F1F6-1E83-4B95-BC6F-AE290525C20F}"/>
              </a:ext>
            </a:extLst>
          </p:cNvPr>
          <p:cNvSpPr txBox="1"/>
          <p:nvPr/>
        </p:nvSpPr>
        <p:spPr>
          <a:xfrm>
            <a:off x="10117835" y="3939895"/>
            <a:ext cx="47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Y*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1E36A499-4DB0-4F40-AE69-4BF0160AE513}"/>
              </a:ext>
            </a:extLst>
          </p:cNvPr>
          <p:cNvSpPr txBox="1"/>
          <p:nvPr/>
        </p:nvSpPr>
        <p:spPr>
          <a:xfrm>
            <a:off x="10784920" y="4504807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5CF4329B-2D54-4DA5-A7A7-AB987157F69A}"/>
              </a:ext>
            </a:extLst>
          </p:cNvPr>
          <p:cNvSpPr txBox="1"/>
          <p:nvPr/>
        </p:nvSpPr>
        <p:spPr>
          <a:xfrm>
            <a:off x="1385123" y="5299415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W1</a:t>
            </a:r>
          </a:p>
        </p:txBody>
      </p: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A8CA5B3A-3A3B-460C-A7AF-5002B3860B86}"/>
              </a:ext>
            </a:extLst>
          </p:cNvPr>
          <p:cNvCxnSpPr>
            <a:cxnSpLocks/>
          </p:cNvCxnSpPr>
          <p:nvPr/>
        </p:nvCxnSpPr>
        <p:spPr>
          <a:xfrm flipV="1">
            <a:off x="1691330" y="5109848"/>
            <a:ext cx="29862" cy="28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29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ANN in a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view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10993348" cy="5221448"/>
          </a:xfrm>
        </p:spPr>
        <p:txBody>
          <a:bodyPr>
            <a:normAutofit/>
          </a:bodyPr>
          <a:lstStyle/>
          <a:p>
            <a:r>
              <a:rPr lang="fr-FR" dirty="0"/>
              <a:t>A graph of </a:t>
            </a:r>
            <a:r>
              <a:rPr lang="fr-FR" dirty="0" err="1"/>
              <a:t>tensor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 in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parameters</a:t>
            </a:r>
            <a:r>
              <a:rPr lang="fr-FR" dirty="0"/>
              <a:t> are </a:t>
            </a:r>
            <a:r>
              <a:rPr lang="fr-FR" dirty="0" err="1"/>
              <a:t>tuned</a:t>
            </a:r>
            <a:r>
              <a:rPr lang="fr-FR" dirty="0"/>
              <a:t> to </a:t>
            </a:r>
            <a:r>
              <a:rPr lang="fr-FR" dirty="0" err="1"/>
              <a:t>minimize</a:t>
            </a:r>
            <a:r>
              <a:rPr lang="fr-FR" dirty="0"/>
              <a:t> the </a:t>
            </a:r>
            <a:r>
              <a:rPr lang="fr-FR" dirty="0" err="1"/>
              <a:t>errors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the </a:t>
            </a:r>
            <a:r>
              <a:rPr lang="fr-FR" dirty="0" err="1"/>
              <a:t>computed</a:t>
            </a:r>
            <a:r>
              <a:rPr lang="fr-FR" dirty="0"/>
              <a:t> outputs (Y) and the </a:t>
            </a:r>
            <a:r>
              <a:rPr lang="fr-FR" dirty="0" err="1"/>
              <a:t>target</a:t>
            </a:r>
            <a:r>
              <a:rPr lang="fr-FR" dirty="0"/>
              <a:t> outputs (Y*) </a:t>
            </a:r>
            <a:r>
              <a:rPr lang="fr-FR" dirty="0" err="1"/>
              <a:t>given</a:t>
            </a:r>
            <a:r>
              <a:rPr lang="fr-FR" dirty="0"/>
              <a:t> the inputs (X). The </a:t>
            </a:r>
            <a:r>
              <a:rPr lang="fr-FR" dirty="0" err="1"/>
              <a:t>parameters</a:t>
            </a:r>
            <a:r>
              <a:rPr lang="fr-FR" dirty="0"/>
              <a:t> are </a:t>
            </a:r>
            <a:r>
              <a:rPr lang="fr-FR" dirty="0" err="1"/>
              <a:t>modified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 gradient of the </a:t>
            </a:r>
            <a:r>
              <a:rPr lang="fr-FR" dirty="0" err="1"/>
              <a:t>error</a:t>
            </a:r>
            <a:r>
              <a:rPr lang="fr-FR" dirty="0"/>
              <a:t> (E) </a:t>
            </a:r>
            <a:r>
              <a:rPr lang="fr-FR" dirty="0" err="1"/>
              <a:t>relatively</a:t>
            </a:r>
            <a:r>
              <a:rPr lang="fr-FR" dirty="0"/>
              <a:t> to </a:t>
            </a:r>
            <a:r>
              <a:rPr lang="fr-FR" dirty="0" err="1"/>
              <a:t>them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34</a:t>
            </a:fld>
            <a:endParaRPr lang="en-CA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2CE432-C933-4E95-9162-2E5FEA58C260}"/>
              </a:ext>
            </a:extLst>
          </p:cNvPr>
          <p:cNvSpPr txBox="1"/>
          <p:nvPr/>
        </p:nvSpPr>
        <p:spPr>
          <a:xfrm>
            <a:off x="722870" y="4726459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5E408BB-0998-49FD-B4CE-B2BBDAD9F92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68859" y="4911125"/>
            <a:ext cx="321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737997B4-DC90-4ABE-8DA4-71AB5EBED1C1}"/>
              </a:ext>
            </a:extLst>
          </p:cNvPr>
          <p:cNvSpPr txBox="1"/>
          <p:nvPr/>
        </p:nvSpPr>
        <p:spPr>
          <a:xfrm>
            <a:off x="1390134" y="472645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C86EA22-7D98-4E1F-87AC-3B318FCD37B1}"/>
              </a:ext>
            </a:extLst>
          </p:cNvPr>
          <p:cNvSpPr txBox="1"/>
          <p:nvPr/>
        </p:nvSpPr>
        <p:spPr>
          <a:xfrm>
            <a:off x="2648464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81E3082-864D-415E-A6C9-400F385B7478}"/>
              </a:ext>
            </a:extLst>
          </p:cNvPr>
          <p:cNvSpPr txBox="1"/>
          <p:nvPr/>
        </p:nvSpPr>
        <p:spPr>
          <a:xfrm>
            <a:off x="2648464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OP3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C756C0A-03BF-4465-A6A1-CF8D1154BA92}"/>
              </a:ext>
            </a:extLst>
          </p:cNvPr>
          <p:cNvSpPr txBox="1"/>
          <p:nvPr/>
        </p:nvSpPr>
        <p:spPr>
          <a:xfrm>
            <a:off x="3883098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OP4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712B3FB-BC5E-4ED1-9F18-DC0802B203B1}"/>
              </a:ext>
            </a:extLst>
          </p:cNvPr>
          <p:cNvSpPr txBox="1"/>
          <p:nvPr/>
        </p:nvSpPr>
        <p:spPr>
          <a:xfrm>
            <a:off x="5117732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OP6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E5BDEA9-7C5E-460D-A630-808A278BE895}"/>
              </a:ext>
            </a:extLst>
          </p:cNvPr>
          <p:cNvSpPr txBox="1"/>
          <p:nvPr/>
        </p:nvSpPr>
        <p:spPr>
          <a:xfrm>
            <a:off x="3906794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4D4C577-66DD-4FB9-92E6-BCCA83EDDF22}"/>
              </a:ext>
            </a:extLst>
          </p:cNvPr>
          <p:cNvSpPr txBox="1"/>
          <p:nvPr/>
        </p:nvSpPr>
        <p:spPr>
          <a:xfrm>
            <a:off x="6466134" y="472645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OP8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980D146-2A14-475D-92FE-61FB012F5ABA}"/>
              </a:ext>
            </a:extLst>
          </p:cNvPr>
          <p:cNvSpPr txBox="1"/>
          <p:nvPr/>
        </p:nvSpPr>
        <p:spPr>
          <a:xfrm>
            <a:off x="5117732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OP7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CDA1C7E-05B2-42F3-9B50-7D75D704D975}"/>
              </a:ext>
            </a:extLst>
          </p:cNvPr>
          <p:cNvSpPr txBox="1"/>
          <p:nvPr/>
        </p:nvSpPr>
        <p:spPr>
          <a:xfrm>
            <a:off x="7607077" y="4730198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OP9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A40DC3F-68F4-4FA1-8E69-37AB96AD1F7C}"/>
              </a:ext>
            </a:extLst>
          </p:cNvPr>
          <p:cNvSpPr txBox="1"/>
          <p:nvPr/>
        </p:nvSpPr>
        <p:spPr>
          <a:xfrm>
            <a:off x="8638883" y="4726459"/>
            <a:ext cx="776429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OP10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D8C9CDC-17AA-43A3-AE4B-CD6924CF75F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253946" y="4356515"/>
            <a:ext cx="6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8D259E0A-BA87-483B-81FF-59C02B6E73F9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253946" y="5322026"/>
            <a:ext cx="652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4C5C883E-97E3-4151-8032-B1BE1B8EA14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488580" y="4356515"/>
            <a:ext cx="6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770F82A-2E06-4A3A-BCC5-B8ABDBFF114A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488580" y="5319281"/>
            <a:ext cx="629152" cy="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89BDD4CF-2CA2-4A96-9217-63DE5E57633D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5723214" y="4356515"/>
            <a:ext cx="742920" cy="554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ADBB7C58-9AAB-42BA-8DBC-9210EF366355}"/>
              </a:ext>
            </a:extLst>
          </p:cNvPr>
          <p:cNvCxnSpPr>
            <a:cxnSpLocks/>
            <a:stCxn id="19" idx="3"/>
            <a:endCxn id="18" idx="1"/>
          </p:cNvCxnSpPr>
          <p:nvPr/>
        </p:nvCxnSpPr>
        <p:spPr>
          <a:xfrm flipV="1">
            <a:off x="5723214" y="4911125"/>
            <a:ext cx="742920" cy="410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F6DD2059-00B3-4CD4-BD2E-7526F4474406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7071616" y="4911125"/>
            <a:ext cx="535461" cy="3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F4EA3FE1-8B37-434E-9D54-AED64BB36AC6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8212559" y="4911125"/>
            <a:ext cx="426324" cy="3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90431A16-05A1-4CEB-BF4B-670BE4CE63BD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9415312" y="4906742"/>
            <a:ext cx="487304" cy="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0636B8AF-EC62-41D2-AD3B-E1C8ACCA3460}"/>
              </a:ext>
            </a:extLst>
          </p:cNvPr>
          <p:cNvSpPr txBox="1"/>
          <p:nvPr/>
        </p:nvSpPr>
        <p:spPr>
          <a:xfrm>
            <a:off x="9902616" y="4730198"/>
            <a:ext cx="776429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loss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D45B8318-321E-4EC6-ADBF-5019B76474DC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10290830" y="4356515"/>
            <a:ext cx="1" cy="373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8C17F6BB-956D-45B8-AFC6-28C6BD714C8D}"/>
              </a:ext>
            </a:extLst>
          </p:cNvPr>
          <p:cNvCxnSpPr>
            <a:cxnSpLocks/>
          </p:cNvCxnSpPr>
          <p:nvPr/>
        </p:nvCxnSpPr>
        <p:spPr>
          <a:xfrm>
            <a:off x="10679045" y="4897670"/>
            <a:ext cx="487304" cy="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F0E359AC-EAB8-4E31-92FF-8879D91F2701}"/>
              </a:ext>
            </a:extLst>
          </p:cNvPr>
          <p:cNvSpPr txBox="1"/>
          <p:nvPr/>
        </p:nvSpPr>
        <p:spPr>
          <a:xfrm>
            <a:off x="2648464" y="5792961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W3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6CB745CA-29F9-40DD-8443-8E8E8ED87062}"/>
              </a:ext>
            </a:extLst>
          </p:cNvPr>
          <p:cNvSpPr txBox="1"/>
          <p:nvPr/>
        </p:nvSpPr>
        <p:spPr>
          <a:xfrm>
            <a:off x="5169218" y="3504428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W6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4F59B98-EBFE-4ADF-8363-846FFBBDDFE7}"/>
              </a:ext>
            </a:extLst>
          </p:cNvPr>
          <p:cNvSpPr txBox="1"/>
          <p:nvPr/>
        </p:nvSpPr>
        <p:spPr>
          <a:xfrm>
            <a:off x="7637969" y="5425390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W9</a:t>
            </a: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DAEBA182-871F-4D12-BD80-FEF13CA4E746}"/>
              </a:ext>
            </a:extLst>
          </p:cNvPr>
          <p:cNvCxnSpPr>
            <a:cxnSpLocks/>
            <a:stCxn id="54" idx="0"/>
            <a:endCxn id="13" idx="2"/>
          </p:cNvCxnSpPr>
          <p:nvPr/>
        </p:nvCxnSpPr>
        <p:spPr>
          <a:xfrm flipV="1">
            <a:off x="2921343" y="5506692"/>
            <a:ext cx="29862" cy="28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84326789-52E8-420C-9B2C-FDABAEB19FDC}"/>
              </a:ext>
            </a:extLst>
          </p:cNvPr>
          <p:cNvCxnSpPr>
            <a:stCxn id="56" idx="2"/>
            <a:endCxn id="16" idx="0"/>
          </p:cNvCxnSpPr>
          <p:nvPr/>
        </p:nvCxnSpPr>
        <p:spPr>
          <a:xfrm flipH="1">
            <a:off x="5420473" y="3873760"/>
            <a:ext cx="21624" cy="298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AC23BA98-0AC2-4812-810E-4FE520DF5434}"/>
              </a:ext>
            </a:extLst>
          </p:cNvPr>
          <p:cNvCxnSpPr>
            <a:stCxn id="57" idx="0"/>
            <a:endCxn id="20" idx="2"/>
          </p:cNvCxnSpPr>
          <p:nvPr/>
        </p:nvCxnSpPr>
        <p:spPr>
          <a:xfrm flipH="1" flipV="1">
            <a:off x="7909818" y="5099530"/>
            <a:ext cx="1030" cy="325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02838A65-FEEB-4F2E-A38E-E70E08E571DF}"/>
              </a:ext>
            </a:extLst>
          </p:cNvPr>
          <p:cNvSpPr txBox="1"/>
          <p:nvPr/>
        </p:nvSpPr>
        <p:spPr>
          <a:xfrm>
            <a:off x="9480478" y="4509527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A47F1F6-1E83-4B95-BC6F-AE290525C20F}"/>
              </a:ext>
            </a:extLst>
          </p:cNvPr>
          <p:cNvSpPr txBox="1"/>
          <p:nvPr/>
        </p:nvSpPr>
        <p:spPr>
          <a:xfrm>
            <a:off x="10117835" y="3939895"/>
            <a:ext cx="47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Y*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1E36A499-4DB0-4F40-AE69-4BF0160AE513}"/>
              </a:ext>
            </a:extLst>
          </p:cNvPr>
          <p:cNvSpPr txBox="1"/>
          <p:nvPr/>
        </p:nvSpPr>
        <p:spPr>
          <a:xfrm>
            <a:off x="10784920" y="4504807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4D8509D-7CE6-421C-9B7C-34B1FBAAA42C}"/>
              </a:ext>
            </a:extLst>
          </p:cNvPr>
          <p:cNvSpPr txBox="1"/>
          <p:nvPr/>
        </p:nvSpPr>
        <p:spPr>
          <a:xfrm>
            <a:off x="8205487" y="4509527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Y9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DE80B3F-4CF0-44D6-905D-A3E09B77F3AA}"/>
              </a:ext>
            </a:extLst>
          </p:cNvPr>
          <p:cNvSpPr txBox="1"/>
          <p:nvPr/>
        </p:nvSpPr>
        <p:spPr>
          <a:xfrm>
            <a:off x="7123351" y="4525589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Y8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F009D77-B5C2-46C5-8CFC-00D443524CD0}"/>
              </a:ext>
            </a:extLst>
          </p:cNvPr>
          <p:cNvSpPr txBox="1"/>
          <p:nvPr/>
        </p:nvSpPr>
        <p:spPr>
          <a:xfrm>
            <a:off x="5927313" y="4264488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Y6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536C636-D80F-435F-91D7-9B30943415DB}"/>
              </a:ext>
            </a:extLst>
          </p:cNvPr>
          <p:cNvSpPr txBox="1"/>
          <p:nvPr/>
        </p:nvSpPr>
        <p:spPr>
          <a:xfrm>
            <a:off x="5952480" y="5075550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Y7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A585B845-2A5D-4C89-ABCB-FC24CCE128A2}"/>
              </a:ext>
            </a:extLst>
          </p:cNvPr>
          <p:cNvSpPr txBox="1"/>
          <p:nvPr/>
        </p:nvSpPr>
        <p:spPr>
          <a:xfrm>
            <a:off x="4556650" y="3955338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Y4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07AF985-46A8-4E70-A24F-C202A68D6D4B}"/>
              </a:ext>
            </a:extLst>
          </p:cNvPr>
          <p:cNvSpPr txBox="1"/>
          <p:nvPr/>
        </p:nvSpPr>
        <p:spPr>
          <a:xfrm>
            <a:off x="4592887" y="4938622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Y5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BCB19EF5-6181-4015-AC24-D139B6850125}"/>
              </a:ext>
            </a:extLst>
          </p:cNvPr>
          <p:cNvSpPr txBox="1"/>
          <p:nvPr/>
        </p:nvSpPr>
        <p:spPr>
          <a:xfrm>
            <a:off x="3339976" y="4931909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Y3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F644DC0-8451-482C-A642-5D932C5EF792}"/>
              </a:ext>
            </a:extLst>
          </p:cNvPr>
          <p:cNvSpPr txBox="1"/>
          <p:nvPr/>
        </p:nvSpPr>
        <p:spPr>
          <a:xfrm>
            <a:off x="3296607" y="3930322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Y2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722B3CC8-34F3-48CE-AC98-32A5BAE7B66D}"/>
              </a:ext>
            </a:extLst>
          </p:cNvPr>
          <p:cNvSpPr txBox="1"/>
          <p:nvPr/>
        </p:nvSpPr>
        <p:spPr>
          <a:xfrm>
            <a:off x="1956140" y="4541793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Y1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501C3EE-1F6E-4168-84C6-1359C174F331}"/>
              </a:ext>
            </a:extLst>
          </p:cNvPr>
          <p:cNvCxnSpPr/>
          <p:nvPr/>
        </p:nvCxnSpPr>
        <p:spPr>
          <a:xfrm>
            <a:off x="1995616" y="4905792"/>
            <a:ext cx="475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59E6E643-09C7-47EB-B7DF-725A7D162807}"/>
              </a:ext>
            </a:extLst>
          </p:cNvPr>
          <p:cNvCxnSpPr>
            <a:endCxn id="11" idx="1"/>
          </p:cNvCxnSpPr>
          <p:nvPr/>
        </p:nvCxnSpPr>
        <p:spPr>
          <a:xfrm flipV="1">
            <a:off x="2471351" y="4356515"/>
            <a:ext cx="177113" cy="538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0E4694A1-F14F-460C-8FDF-C8D69369FA9E}"/>
              </a:ext>
            </a:extLst>
          </p:cNvPr>
          <p:cNvCxnSpPr>
            <a:endCxn id="13" idx="1"/>
          </p:cNvCxnSpPr>
          <p:nvPr/>
        </p:nvCxnSpPr>
        <p:spPr>
          <a:xfrm>
            <a:off x="2477517" y="4897670"/>
            <a:ext cx="170947" cy="4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ZoneTexte 58">
            <a:extLst>
              <a:ext uri="{FF2B5EF4-FFF2-40B4-BE49-F238E27FC236}">
                <a16:creationId xmlns:a16="http://schemas.microsoft.com/office/drawing/2014/main" id="{8D1DF33B-D160-4DE6-B5F2-FBCAEF5C039F}"/>
              </a:ext>
            </a:extLst>
          </p:cNvPr>
          <p:cNvSpPr txBox="1"/>
          <p:nvPr/>
        </p:nvSpPr>
        <p:spPr>
          <a:xfrm>
            <a:off x="1385123" y="5299415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W1</a:t>
            </a:r>
          </a:p>
        </p:txBody>
      </p: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42C155BD-FD2A-4A2E-8E5B-43DA0DF40409}"/>
              </a:ext>
            </a:extLst>
          </p:cNvPr>
          <p:cNvCxnSpPr>
            <a:cxnSpLocks/>
          </p:cNvCxnSpPr>
          <p:nvPr/>
        </p:nvCxnSpPr>
        <p:spPr>
          <a:xfrm flipV="1">
            <a:off x="1691330" y="5109848"/>
            <a:ext cx="29862" cy="28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0791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ANN in a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view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10731820" cy="1628360"/>
          </a:xfrm>
        </p:spPr>
        <p:txBody>
          <a:bodyPr>
            <a:normAutofit fontScale="92500"/>
          </a:bodyPr>
          <a:lstStyle/>
          <a:p>
            <a:r>
              <a:rPr lang="fr-FR" dirty="0"/>
              <a:t>A graph of </a:t>
            </a:r>
            <a:r>
              <a:rPr lang="fr-FR" dirty="0" err="1"/>
              <a:t>tensor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 in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parameters</a:t>
            </a:r>
            <a:r>
              <a:rPr lang="fr-FR" dirty="0"/>
              <a:t> are </a:t>
            </a:r>
            <a:r>
              <a:rPr lang="fr-FR" dirty="0" err="1"/>
              <a:t>tuned</a:t>
            </a:r>
            <a:r>
              <a:rPr lang="fr-FR" dirty="0"/>
              <a:t> to </a:t>
            </a:r>
            <a:r>
              <a:rPr lang="fr-FR" dirty="0" err="1"/>
              <a:t>minimize</a:t>
            </a:r>
            <a:r>
              <a:rPr lang="fr-FR" dirty="0"/>
              <a:t> the </a:t>
            </a:r>
            <a:r>
              <a:rPr lang="fr-FR" dirty="0" err="1"/>
              <a:t>errors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the </a:t>
            </a:r>
            <a:r>
              <a:rPr lang="fr-FR" dirty="0" err="1"/>
              <a:t>computed</a:t>
            </a:r>
            <a:r>
              <a:rPr lang="fr-FR" dirty="0"/>
              <a:t> outputs (Y) and the </a:t>
            </a:r>
            <a:r>
              <a:rPr lang="fr-FR" dirty="0" err="1"/>
              <a:t>target</a:t>
            </a:r>
            <a:r>
              <a:rPr lang="fr-FR" dirty="0"/>
              <a:t> outputs (Y*) </a:t>
            </a:r>
            <a:r>
              <a:rPr lang="fr-FR" dirty="0" err="1"/>
              <a:t>given</a:t>
            </a:r>
            <a:r>
              <a:rPr lang="fr-FR" dirty="0"/>
              <a:t> the inputs (X). The </a:t>
            </a:r>
            <a:r>
              <a:rPr lang="fr-FR" dirty="0" err="1"/>
              <a:t>parameters</a:t>
            </a:r>
            <a:r>
              <a:rPr lang="fr-FR" dirty="0"/>
              <a:t> are </a:t>
            </a:r>
            <a:r>
              <a:rPr lang="fr-FR" dirty="0" err="1"/>
              <a:t>modified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 gradient of the </a:t>
            </a:r>
            <a:r>
              <a:rPr lang="fr-FR" dirty="0" err="1"/>
              <a:t>error</a:t>
            </a:r>
            <a:r>
              <a:rPr lang="fr-FR" dirty="0"/>
              <a:t> (E) </a:t>
            </a:r>
            <a:r>
              <a:rPr lang="fr-FR" dirty="0" err="1"/>
              <a:t>relatively</a:t>
            </a:r>
            <a:r>
              <a:rPr lang="fr-FR" dirty="0"/>
              <a:t> to </a:t>
            </a:r>
            <a:r>
              <a:rPr lang="fr-FR" dirty="0" err="1"/>
              <a:t>them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35</a:t>
            </a:fld>
            <a:endParaRPr lang="en-CA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2CE432-C933-4E95-9162-2E5FEA58C260}"/>
              </a:ext>
            </a:extLst>
          </p:cNvPr>
          <p:cNvSpPr txBox="1"/>
          <p:nvPr/>
        </p:nvSpPr>
        <p:spPr>
          <a:xfrm>
            <a:off x="722870" y="4726459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5E408BB-0998-49FD-B4CE-B2BBDAD9F92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68859" y="4911125"/>
            <a:ext cx="321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737997B4-DC90-4ABE-8DA4-71AB5EBED1C1}"/>
              </a:ext>
            </a:extLst>
          </p:cNvPr>
          <p:cNvSpPr txBox="1"/>
          <p:nvPr/>
        </p:nvSpPr>
        <p:spPr>
          <a:xfrm>
            <a:off x="1390134" y="472645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C86EA22-7D98-4E1F-87AC-3B318FCD37B1}"/>
              </a:ext>
            </a:extLst>
          </p:cNvPr>
          <p:cNvSpPr txBox="1"/>
          <p:nvPr/>
        </p:nvSpPr>
        <p:spPr>
          <a:xfrm>
            <a:off x="2648464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81E3082-864D-415E-A6C9-400F385B7478}"/>
              </a:ext>
            </a:extLst>
          </p:cNvPr>
          <p:cNvSpPr txBox="1"/>
          <p:nvPr/>
        </p:nvSpPr>
        <p:spPr>
          <a:xfrm>
            <a:off x="2648464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OP3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C756C0A-03BF-4465-A6A1-CF8D1154BA92}"/>
              </a:ext>
            </a:extLst>
          </p:cNvPr>
          <p:cNvSpPr txBox="1"/>
          <p:nvPr/>
        </p:nvSpPr>
        <p:spPr>
          <a:xfrm>
            <a:off x="3883098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OP4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712B3FB-BC5E-4ED1-9F18-DC0802B203B1}"/>
              </a:ext>
            </a:extLst>
          </p:cNvPr>
          <p:cNvSpPr txBox="1"/>
          <p:nvPr/>
        </p:nvSpPr>
        <p:spPr>
          <a:xfrm>
            <a:off x="5117732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OP6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E5BDEA9-7C5E-460D-A630-808A278BE895}"/>
              </a:ext>
            </a:extLst>
          </p:cNvPr>
          <p:cNvSpPr txBox="1"/>
          <p:nvPr/>
        </p:nvSpPr>
        <p:spPr>
          <a:xfrm>
            <a:off x="3906794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4D4C577-66DD-4FB9-92E6-BCCA83EDDF22}"/>
              </a:ext>
            </a:extLst>
          </p:cNvPr>
          <p:cNvSpPr txBox="1"/>
          <p:nvPr/>
        </p:nvSpPr>
        <p:spPr>
          <a:xfrm>
            <a:off x="6466134" y="472645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OP8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980D146-2A14-475D-92FE-61FB012F5ABA}"/>
              </a:ext>
            </a:extLst>
          </p:cNvPr>
          <p:cNvSpPr txBox="1"/>
          <p:nvPr/>
        </p:nvSpPr>
        <p:spPr>
          <a:xfrm>
            <a:off x="5117732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OP7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CDA1C7E-05B2-42F3-9B50-7D75D704D975}"/>
              </a:ext>
            </a:extLst>
          </p:cNvPr>
          <p:cNvSpPr txBox="1"/>
          <p:nvPr/>
        </p:nvSpPr>
        <p:spPr>
          <a:xfrm>
            <a:off x="7607077" y="4730198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OP9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A40DC3F-68F4-4FA1-8E69-37AB96AD1F7C}"/>
              </a:ext>
            </a:extLst>
          </p:cNvPr>
          <p:cNvSpPr txBox="1"/>
          <p:nvPr/>
        </p:nvSpPr>
        <p:spPr>
          <a:xfrm>
            <a:off x="8638883" y="4726459"/>
            <a:ext cx="776429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OP10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D8C9CDC-17AA-43A3-AE4B-CD6924CF75F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253946" y="4356515"/>
            <a:ext cx="6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8D259E0A-BA87-483B-81FF-59C02B6E73F9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253946" y="5322026"/>
            <a:ext cx="652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4C5C883E-97E3-4151-8032-B1BE1B8EA14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488580" y="4356515"/>
            <a:ext cx="6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770F82A-2E06-4A3A-BCC5-B8ABDBFF114A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488580" y="5319281"/>
            <a:ext cx="629152" cy="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89BDD4CF-2CA2-4A96-9217-63DE5E57633D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5723214" y="4356515"/>
            <a:ext cx="742920" cy="554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ADBB7C58-9AAB-42BA-8DBC-9210EF366355}"/>
              </a:ext>
            </a:extLst>
          </p:cNvPr>
          <p:cNvCxnSpPr>
            <a:cxnSpLocks/>
            <a:stCxn id="19" idx="3"/>
            <a:endCxn id="18" idx="1"/>
          </p:cNvCxnSpPr>
          <p:nvPr/>
        </p:nvCxnSpPr>
        <p:spPr>
          <a:xfrm flipV="1">
            <a:off x="5723214" y="4911125"/>
            <a:ext cx="742920" cy="410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F6DD2059-00B3-4CD4-BD2E-7526F4474406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7071616" y="4911125"/>
            <a:ext cx="535461" cy="3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F4EA3FE1-8B37-434E-9D54-AED64BB36AC6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8212559" y="4911125"/>
            <a:ext cx="426324" cy="3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90431A16-05A1-4CEB-BF4B-670BE4CE63BD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9415312" y="4906742"/>
            <a:ext cx="487304" cy="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0636B8AF-EC62-41D2-AD3B-E1C8ACCA3460}"/>
              </a:ext>
            </a:extLst>
          </p:cNvPr>
          <p:cNvSpPr txBox="1"/>
          <p:nvPr/>
        </p:nvSpPr>
        <p:spPr>
          <a:xfrm>
            <a:off x="9902616" y="4730198"/>
            <a:ext cx="776429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loss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D45B8318-321E-4EC6-ADBF-5019B76474DC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10290830" y="4356515"/>
            <a:ext cx="1" cy="373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8C17F6BB-956D-45B8-AFC6-28C6BD714C8D}"/>
              </a:ext>
            </a:extLst>
          </p:cNvPr>
          <p:cNvCxnSpPr>
            <a:cxnSpLocks/>
          </p:cNvCxnSpPr>
          <p:nvPr/>
        </p:nvCxnSpPr>
        <p:spPr>
          <a:xfrm>
            <a:off x="10679045" y="4897670"/>
            <a:ext cx="487304" cy="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F0E359AC-EAB8-4E31-92FF-8879D91F2701}"/>
              </a:ext>
            </a:extLst>
          </p:cNvPr>
          <p:cNvSpPr txBox="1"/>
          <p:nvPr/>
        </p:nvSpPr>
        <p:spPr>
          <a:xfrm>
            <a:off x="2648464" y="5792961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W3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6CB745CA-29F9-40DD-8443-8E8E8ED87062}"/>
              </a:ext>
            </a:extLst>
          </p:cNvPr>
          <p:cNvSpPr txBox="1"/>
          <p:nvPr/>
        </p:nvSpPr>
        <p:spPr>
          <a:xfrm>
            <a:off x="5169218" y="3504428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W6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4F59B98-EBFE-4ADF-8363-846FFBBDDFE7}"/>
              </a:ext>
            </a:extLst>
          </p:cNvPr>
          <p:cNvSpPr txBox="1"/>
          <p:nvPr/>
        </p:nvSpPr>
        <p:spPr>
          <a:xfrm>
            <a:off x="7637969" y="5425390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W9</a:t>
            </a: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DAEBA182-871F-4D12-BD80-FEF13CA4E746}"/>
              </a:ext>
            </a:extLst>
          </p:cNvPr>
          <p:cNvCxnSpPr>
            <a:cxnSpLocks/>
            <a:stCxn id="54" idx="0"/>
            <a:endCxn id="13" idx="2"/>
          </p:cNvCxnSpPr>
          <p:nvPr/>
        </p:nvCxnSpPr>
        <p:spPr>
          <a:xfrm flipV="1">
            <a:off x="2921343" y="5506692"/>
            <a:ext cx="29862" cy="28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84326789-52E8-420C-9B2C-FDABAEB19FDC}"/>
              </a:ext>
            </a:extLst>
          </p:cNvPr>
          <p:cNvCxnSpPr>
            <a:stCxn id="56" idx="2"/>
            <a:endCxn id="16" idx="0"/>
          </p:cNvCxnSpPr>
          <p:nvPr/>
        </p:nvCxnSpPr>
        <p:spPr>
          <a:xfrm flipH="1">
            <a:off x="5420473" y="3873760"/>
            <a:ext cx="21624" cy="298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AC23BA98-0AC2-4812-810E-4FE520DF5434}"/>
              </a:ext>
            </a:extLst>
          </p:cNvPr>
          <p:cNvCxnSpPr>
            <a:cxnSpLocks/>
            <a:stCxn id="57" idx="0"/>
            <a:endCxn id="20" idx="2"/>
          </p:cNvCxnSpPr>
          <p:nvPr/>
        </p:nvCxnSpPr>
        <p:spPr>
          <a:xfrm flipH="1" flipV="1">
            <a:off x="7909818" y="5099530"/>
            <a:ext cx="1030" cy="325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02838A65-FEEB-4F2E-A38E-E70E08E571DF}"/>
              </a:ext>
            </a:extLst>
          </p:cNvPr>
          <p:cNvSpPr txBox="1"/>
          <p:nvPr/>
        </p:nvSpPr>
        <p:spPr>
          <a:xfrm>
            <a:off x="9480478" y="4509527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A47F1F6-1E83-4B95-BC6F-AE290525C20F}"/>
              </a:ext>
            </a:extLst>
          </p:cNvPr>
          <p:cNvSpPr txBox="1"/>
          <p:nvPr/>
        </p:nvSpPr>
        <p:spPr>
          <a:xfrm>
            <a:off x="10117835" y="3939895"/>
            <a:ext cx="47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Y*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1E36A499-4DB0-4F40-AE69-4BF0160AE513}"/>
              </a:ext>
            </a:extLst>
          </p:cNvPr>
          <p:cNvSpPr txBox="1"/>
          <p:nvPr/>
        </p:nvSpPr>
        <p:spPr>
          <a:xfrm>
            <a:off x="10784920" y="4504807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4D8509D-7CE6-421C-9B7C-34B1FBAAA42C}"/>
              </a:ext>
            </a:extLst>
          </p:cNvPr>
          <p:cNvSpPr txBox="1"/>
          <p:nvPr/>
        </p:nvSpPr>
        <p:spPr>
          <a:xfrm>
            <a:off x="8205487" y="4509527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Y9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DE80B3F-4CF0-44D6-905D-A3E09B77F3AA}"/>
              </a:ext>
            </a:extLst>
          </p:cNvPr>
          <p:cNvSpPr txBox="1"/>
          <p:nvPr/>
        </p:nvSpPr>
        <p:spPr>
          <a:xfrm>
            <a:off x="7123351" y="4525589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Y8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F009D77-B5C2-46C5-8CFC-00D443524CD0}"/>
              </a:ext>
            </a:extLst>
          </p:cNvPr>
          <p:cNvSpPr txBox="1"/>
          <p:nvPr/>
        </p:nvSpPr>
        <p:spPr>
          <a:xfrm>
            <a:off x="5927313" y="4264488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Y6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536C636-D80F-435F-91D7-9B30943415DB}"/>
              </a:ext>
            </a:extLst>
          </p:cNvPr>
          <p:cNvSpPr txBox="1"/>
          <p:nvPr/>
        </p:nvSpPr>
        <p:spPr>
          <a:xfrm>
            <a:off x="5952480" y="5075550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Y7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A585B845-2A5D-4C89-ABCB-FC24CCE128A2}"/>
              </a:ext>
            </a:extLst>
          </p:cNvPr>
          <p:cNvSpPr txBox="1"/>
          <p:nvPr/>
        </p:nvSpPr>
        <p:spPr>
          <a:xfrm>
            <a:off x="4556650" y="3955338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Y4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07AF985-46A8-4E70-A24F-C202A68D6D4B}"/>
              </a:ext>
            </a:extLst>
          </p:cNvPr>
          <p:cNvSpPr txBox="1"/>
          <p:nvPr/>
        </p:nvSpPr>
        <p:spPr>
          <a:xfrm>
            <a:off x="4592887" y="4938622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Y5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BCB19EF5-6181-4015-AC24-D139B6850125}"/>
              </a:ext>
            </a:extLst>
          </p:cNvPr>
          <p:cNvSpPr txBox="1"/>
          <p:nvPr/>
        </p:nvSpPr>
        <p:spPr>
          <a:xfrm>
            <a:off x="3339976" y="4931909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Y3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F644DC0-8451-482C-A642-5D932C5EF792}"/>
              </a:ext>
            </a:extLst>
          </p:cNvPr>
          <p:cNvSpPr txBox="1"/>
          <p:nvPr/>
        </p:nvSpPr>
        <p:spPr>
          <a:xfrm>
            <a:off x="3296607" y="3930322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Y2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722B3CC8-34F3-48CE-AC98-32A5BAE7B66D}"/>
              </a:ext>
            </a:extLst>
          </p:cNvPr>
          <p:cNvSpPr txBox="1"/>
          <p:nvPr/>
        </p:nvSpPr>
        <p:spPr>
          <a:xfrm>
            <a:off x="1956140" y="4541793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Y1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501C3EE-1F6E-4168-84C6-1359C174F331}"/>
              </a:ext>
            </a:extLst>
          </p:cNvPr>
          <p:cNvCxnSpPr/>
          <p:nvPr/>
        </p:nvCxnSpPr>
        <p:spPr>
          <a:xfrm>
            <a:off x="1995616" y="4905792"/>
            <a:ext cx="475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59E6E643-09C7-47EB-B7DF-725A7D162807}"/>
              </a:ext>
            </a:extLst>
          </p:cNvPr>
          <p:cNvCxnSpPr>
            <a:endCxn id="11" idx="1"/>
          </p:cNvCxnSpPr>
          <p:nvPr/>
        </p:nvCxnSpPr>
        <p:spPr>
          <a:xfrm flipV="1">
            <a:off x="2471351" y="4356515"/>
            <a:ext cx="177113" cy="538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0E4694A1-F14F-460C-8FDF-C8D69369FA9E}"/>
              </a:ext>
            </a:extLst>
          </p:cNvPr>
          <p:cNvCxnSpPr>
            <a:endCxn id="13" idx="1"/>
          </p:cNvCxnSpPr>
          <p:nvPr/>
        </p:nvCxnSpPr>
        <p:spPr>
          <a:xfrm>
            <a:off x="2477517" y="4897670"/>
            <a:ext cx="170947" cy="4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104E3DA-BDA7-421C-B0B4-C3A648BB4FE8}"/>
                  </a:ext>
                </a:extLst>
              </p:cNvPr>
              <p:cNvSpPr txBox="1"/>
              <p:nvPr/>
            </p:nvSpPr>
            <p:spPr>
              <a:xfrm>
                <a:off x="10161500" y="5137360"/>
                <a:ext cx="258661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104E3DA-BDA7-421C-B0B4-C3A648BB4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500" y="5137360"/>
                <a:ext cx="258661" cy="409664"/>
              </a:xfrm>
              <a:prstGeom prst="rect">
                <a:avLst/>
              </a:prstGeom>
              <a:blipFill>
                <a:blip r:embed="rId2"/>
                <a:stretch>
                  <a:fillRect l="-19048" t="-1493" r="-11905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53443459-9CCD-4482-A064-124AA2B3B3F8}"/>
                  </a:ext>
                </a:extLst>
              </p:cNvPr>
              <p:cNvSpPr txBox="1"/>
              <p:nvPr/>
            </p:nvSpPr>
            <p:spPr>
              <a:xfrm>
                <a:off x="8853972" y="5156414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53443459-9CCD-4482-A064-124AA2B3B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972" y="5156414"/>
                <a:ext cx="346249" cy="409664"/>
              </a:xfrm>
              <a:prstGeom prst="rect">
                <a:avLst/>
              </a:prstGeom>
              <a:blipFill>
                <a:blip r:embed="rId3"/>
                <a:stretch>
                  <a:fillRect l="-10526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3042FC30-DFBC-410A-937F-E568D1A15AC0}"/>
                  </a:ext>
                </a:extLst>
              </p:cNvPr>
              <p:cNvSpPr txBox="1"/>
              <p:nvPr/>
            </p:nvSpPr>
            <p:spPr>
              <a:xfrm>
                <a:off x="7741124" y="5781163"/>
                <a:ext cx="408766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3042FC30-DFBC-410A-937F-E568D1A15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24" y="5781163"/>
                <a:ext cx="408766" cy="409664"/>
              </a:xfrm>
              <a:prstGeom prst="rect">
                <a:avLst/>
              </a:prstGeom>
              <a:blipFill>
                <a:blip r:embed="rId4"/>
                <a:stretch>
                  <a:fillRect l="-10448" r="-10448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0577315A-C2BD-4DDC-823F-FABF850116E9}"/>
                  </a:ext>
                </a:extLst>
              </p:cNvPr>
              <p:cNvSpPr txBox="1"/>
              <p:nvPr/>
            </p:nvSpPr>
            <p:spPr>
              <a:xfrm>
                <a:off x="7741124" y="4260901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0577315A-C2BD-4DDC-823F-FABF85011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24" y="4260901"/>
                <a:ext cx="346249" cy="409664"/>
              </a:xfrm>
              <a:prstGeom prst="rect">
                <a:avLst/>
              </a:prstGeom>
              <a:blipFill>
                <a:blip r:embed="rId5"/>
                <a:stretch>
                  <a:fillRect l="-12281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7199AF0E-9C44-47DE-8D6B-4B1ED9296160}"/>
                  </a:ext>
                </a:extLst>
              </p:cNvPr>
              <p:cNvSpPr txBox="1"/>
              <p:nvPr/>
            </p:nvSpPr>
            <p:spPr>
              <a:xfrm>
                <a:off x="6369825" y="5178622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7199AF0E-9C44-47DE-8D6B-4B1ED9296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825" y="5178622"/>
                <a:ext cx="346249" cy="409664"/>
              </a:xfrm>
              <a:prstGeom prst="rect">
                <a:avLst/>
              </a:prstGeom>
              <a:blipFill>
                <a:blip r:embed="rId6"/>
                <a:stretch>
                  <a:fillRect l="-12281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C202C707-3A10-4ADA-8F73-57864867F366}"/>
                  </a:ext>
                </a:extLst>
              </p:cNvPr>
              <p:cNvSpPr txBox="1"/>
              <p:nvPr/>
            </p:nvSpPr>
            <p:spPr>
              <a:xfrm>
                <a:off x="6356933" y="4225384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C202C707-3A10-4ADA-8F73-57864867F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933" y="4225384"/>
                <a:ext cx="346249" cy="409664"/>
              </a:xfrm>
              <a:prstGeom prst="rect">
                <a:avLst/>
              </a:prstGeom>
              <a:blipFill>
                <a:blip r:embed="rId7"/>
                <a:stretch>
                  <a:fillRect l="-12281" r="-10526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ZoneTexte 69">
                <a:extLst>
                  <a:ext uri="{FF2B5EF4-FFF2-40B4-BE49-F238E27FC236}">
                    <a16:creationId xmlns:a16="http://schemas.microsoft.com/office/drawing/2014/main" id="{36457BCE-E0A3-4D03-AC91-9565ACF0B886}"/>
                  </a:ext>
                </a:extLst>
              </p:cNvPr>
              <p:cNvSpPr txBox="1"/>
              <p:nvPr/>
            </p:nvSpPr>
            <p:spPr>
              <a:xfrm>
                <a:off x="5632979" y="3186479"/>
                <a:ext cx="408766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0" name="ZoneTexte 69">
                <a:extLst>
                  <a:ext uri="{FF2B5EF4-FFF2-40B4-BE49-F238E27FC236}">
                    <a16:creationId xmlns:a16="http://schemas.microsoft.com/office/drawing/2014/main" id="{36457BCE-E0A3-4D03-AC91-9565ACF0B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979" y="3186479"/>
                <a:ext cx="408766" cy="409664"/>
              </a:xfrm>
              <a:prstGeom prst="rect">
                <a:avLst/>
              </a:prstGeom>
              <a:blipFill>
                <a:blip r:embed="rId8"/>
                <a:stretch>
                  <a:fillRect l="-8955" t="-1493" r="-10448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691C7AF2-2083-4E19-B1A4-8308F45216E7}"/>
                  </a:ext>
                </a:extLst>
              </p:cNvPr>
              <p:cNvSpPr txBox="1"/>
              <p:nvPr/>
            </p:nvSpPr>
            <p:spPr>
              <a:xfrm>
                <a:off x="4046314" y="3668928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691C7AF2-2083-4E19-B1A4-8308F4521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314" y="3668928"/>
                <a:ext cx="346249" cy="409664"/>
              </a:xfrm>
              <a:prstGeom prst="rect">
                <a:avLst/>
              </a:prstGeom>
              <a:blipFill>
                <a:blip r:embed="rId9"/>
                <a:stretch>
                  <a:fillRect l="-12281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3205F107-8B07-4BBF-88CD-BEF6372D9A9A}"/>
                  </a:ext>
                </a:extLst>
              </p:cNvPr>
              <p:cNvSpPr txBox="1"/>
              <p:nvPr/>
            </p:nvSpPr>
            <p:spPr>
              <a:xfrm>
                <a:off x="2792202" y="3667844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3205F107-8B07-4BBF-88CD-BEF6372D9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202" y="3667844"/>
                <a:ext cx="346249" cy="409664"/>
              </a:xfrm>
              <a:prstGeom prst="rect">
                <a:avLst/>
              </a:prstGeom>
              <a:blipFill>
                <a:blip r:embed="rId10"/>
                <a:stretch>
                  <a:fillRect l="-10526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20EBB090-2525-4238-AE22-EB3AEBE325A6}"/>
                  </a:ext>
                </a:extLst>
              </p:cNvPr>
              <p:cNvSpPr txBox="1"/>
              <p:nvPr/>
            </p:nvSpPr>
            <p:spPr>
              <a:xfrm>
                <a:off x="2192801" y="4095143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20EBB090-2525-4238-AE22-EB3AEBE32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801" y="4095143"/>
                <a:ext cx="346249" cy="409664"/>
              </a:xfrm>
              <a:prstGeom prst="rect">
                <a:avLst/>
              </a:prstGeom>
              <a:blipFill>
                <a:blip r:embed="rId11"/>
                <a:stretch>
                  <a:fillRect l="-12281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ZoneTexte 73">
            <a:extLst>
              <a:ext uri="{FF2B5EF4-FFF2-40B4-BE49-F238E27FC236}">
                <a16:creationId xmlns:a16="http://schemas.microsoft.com/office/drawing/2014/main" id="{5828835C-61E1-4DE8-A4F1-DDF18C9E782F}"/>
              </a:ext>
            </a:extLst>
          </p:cNvPr>
          <p:cNvSpPr txBox="1"/>
          <p:nvPr/>
        </p:nvSpPr>
        <p:spPr>
          <a:xfrm>
            <a:off x="1385123" y="5299415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W1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7FE0E6D7-D5AF-433A-BFC9-56D83548102C}"/>
              </a:ext>
            </a:extLst>
          </p:cNvPr>
          <p:cNvCxnSpPr>
            <a:cxnSpLocks/>
          </p:cNvCxnSpPr>
          <p:nvPr/>
        </p:nvCxnSpPr>
        <p:spPr>
          <a:xfrm flipV="1">
            <a:off x="1691330" y="5109848"/>
            <a:ext cx="29862" cy="28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58581494-3A4C-4733-B541-0214D295CE34}"/>
                  </a:ext>
                </a:extLst>
              </p:cNvPr>
              <p:cNvSpPr txBox="1"/>
              <p:nvPr/>
            </p:nvSpPr>
            <p:spPr>
              <a:xfrm>
                <a:off x="1712731" y="5703801"/>
                <a:ext cx="408766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58581494-3A4C-4733-B541-0214D295C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731" y="5703801"/>
                <a:ext cx="408766" cy="409664"/>
              </a:xfrm>
              <a:prstGeom prst="rect">
                <a:avLst/>
              </a:prstGeom>
              <a:blipFill>
                <a:blip r:embed="rId12"/>
                <a:stretch>
                  <a:fillRect l="-10448" t="-1493" r="-10448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34E1334F-DE9E-4A74-BA1E-B20335004059}"/>
                  </a:ext>
                </a:extLst>
              </p:cNvPr>
              <p:cNvSpPr txBox="1"/>
              <p:nvPr/>
            </p:nvSpPr>
            <p:spPr>
              <a:xfrm>
                <a:off x="5258160" y="5562292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34E1334F-DE9E-4A74-BA1E-B20335004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160" y="5562292"/>
                <a:ext cx="346249" cy="409664"/>
              </a:xfrm>
              <a:prstGeom prst="rect">
                <a:avLst/>
              </a:prstGeom>
              <a:blipFill>
                <a:blip r:embed="rId13"/>
                <a:stretch>
                  <a:fillRect l="-12500" r="-12500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D39AF172-AF22-41F0-99E3-B9B8664150D9}"/>
                  </a:ext>
                </a:extLst>
              </p:cNvPr>
              <p:cNvSpPr txBox="1"/>
              <p:nvPr/>
            </p:nvSpPr>
            <p:spPr>
              <a:xfrm>
                <a:off x="4018071" y="5547798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D39AF172-AF22-41F0-99E3-B9B866415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071" y="5547798"/>
                <a:ext cx="346249" cy="409664"/>
              </a:xfrm>
              <a:prstGeom prst="rect">
                <a:avLst/>
              </a:prstGeom>
              <a:blipFill>
                <a:blip r:embed="rId14"/>
                <a:stretch>
                  <a:fillRect l="-10526" r="-12281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1E5867C6-0ED9-4263-B1D4-B66076BA159B}"/>
                  </a:ext>
                </a:extLst>
              </p:cNvPr>
              <p:cNvSpPr txBox="1"/>
              <p:nvPr/>
            </p:nvSpPr>
            <p:spPr>
              <a:xfrm>
                <a:off x="3084007" y="6105038"/>
                <a:ext cx="408766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1E5867C6-0ED9-4263-B1D4-B66076BA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007" y="6105038"/>
                <a:ext cx="408766" cy="409664"/>
              </a:xfrm>
              <a:prstGeom prst="rect">
                <a:avLst/>
              </a:prstGeom>
              <a:blipFill>
                <a:blip r:embed="rId15"/>
                <a:stretch>
                  <a:fillRect l="-10448" r="-10448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5FCEBDC0-839C-4792-ADD2-4C6D732C4AA1}"/>
                  </a:ext>
                </a:extLst>
              </p:cNvPr>
              <p:cNvSpPr txBox="1"/>
              <p:nvPr/>
            </p:nvSpPr>
            <p:spPr>
              <a:xfrm>
                <a:off x="2190088" y="5156414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5FCEBDC0-839C-4792-ADD2-4C6D732C4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088" y="5156414"/>
                <a:ext cx="346249" cy="409664"/>
              </a:xfrm>
              <a:prstGeom prst="rect">
                <a:avLst/>
              </a:prstGeom>
              <a:blipFill>
                <a:blip r:embed="rId16"/>
                <a:stretch>
                  <a:fillRect l="-10526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309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ANN in a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view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C1463DB-7134-B569-C7EC-9FBDC03F15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9326" y="1084277"/>
                <a:ext cx="3447512" cy="2044110"/>
              </a:xfrm>
            </p:spPr>
            <p:txBody>
              <a:bodyPr>
                <a:normAutofit fontScale="85000" lnSpcReduction="10000"/>
              </a:bodyPr>
              <a:lstStyle/>
              <a:p>
                <a:pPr marL="98425" indent="0">
                  <a:buNone/>
                </a:pPr>
                <a:r>
                  <a:rPr lang="fr-FR" i="1" u="sng" dirty="0">
                    <a:latin typeface="Cambria Math" panose="02040503050406030204" pitchFamily="18" charset="0"/>
                  </a:rPr>
                  <a:t>The solution: The Chain Rule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fr-F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C1463DB-7134-B569-C7EC-9FBDC03F15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9326" y="1084277"/>
                <a:ext cx="3447512" cy="20441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36</a:t>
            </a:fld>
            <a:endParaRPr lang="en-CA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2CE432-C933-4E95-9162-2E5FEA58C260}"/>
              </a:ext>
            </a:extLst>
          </p:cNvPr>
          <p:cNvSpPr txBox="1"/>
          <p:nvPr/>
        </p:nvSpPr>
        <p:spPr>
          <a:xfrm>
            <a:off x="722870" y="4726459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5E408BB-0998-49FD-B4CE-B2BBDAD9F92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68859" y="4911125"/>
            <a:ext cx="321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737997B4-DC90-4ABE-8DA4-71AB5EBED1C1}"/>
              </a:ext>
            </a:extLst>
          </p:cNvPr>
          <p:cNvSpPr txBox="1"/>
          <p:nvPr/>
        </p:nvSpPr>
        <p:spPr>
          <a:xfrm>
            <a:off x="1390134" y="472645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C86EA22-7D98-4E1F-87AC-3B318FCD37B1}"/>
              </a:ext>
            </a:extLst>
          </p:cNvPr>
          <p:cNvSpPr txBox="1"/>
          <p:nvPr/>
        </p:nvSpPr>
        <p:spPr>
          <a:xfrm>
            <a:off x="2648464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81E3082-864D-415E-A6C9-400F385B7478}"/>
              </a:ext>
            </a:extLst>
          </p:cNvPr>
          <p:cNvSpPr txBox="1"/>
          <p:nvPr/>
        </p:nvSpPr>
        <p:spPr>
          <a:xfrm>
            <a:off x="2648464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OP3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C756C0A-03BF-4465-A6A1-CF8D1154BA92}"/>
              </a:ext>
            </a:extLst>
          </p:cNvPr>
          <p:cNvSpPr txBox="1"/>
          <p:nvPr/>
        </p:nvSpPr>
        <p:spPr>
          <a:xfrm>
            <a:off x="3883098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OP4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712B3FB-BC5E-4ED1-9F18-DC0802B203B1}"/>
              </a:ext>
            </a:extLst>
          </p:cNvPr>
          <p:cNvSpPr txBox="1"/>
          <p:nvPr/>
        </p:nvSpPr>
        <p:spPr>
          <a:xfrm>
            <a:off x="5117732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OP6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E5BDEA9-7C5E-460D-A630-808A278BE895}"/>
              </a:ext>
            </a:extLst>
          </p:cNvPr>
          <p:cNvSpPr txBox="1"/>
          <p:nvPr/>
        </p:nvSpPr>
        <p:spPr>
          <a:xfrm>
            <a:off x="3906794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4D4C577-66DD-4FB9-92E6-BCCA83EDDF22}"/>
              </a:ext>
            </a:extLst>
          </p:cNvPr>
          <p:cNvSpPr txBox="1"/>
          <p:nvPr/>
        </p:nvSpPr>
        <p:spPr>
          <a:xfrm>
            <a:off x="6466134" y="472645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OP8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980D146-2A14-475D-92FE-61FB012F5ABA}"/>
              </a:ext>
            </a:extLst>
          </p:cNvPr>
          <p:cNvSpPr txBox="1"/>
          <p:nvPr/>
        </p:nvSpPr>
        <p:spPr>
          <a:xfrm>
            <a:off x="5117732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OP7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CDA1C7E-05B2-42F3-9B50-7D75D704D975}"/>
              </a:ext>
            </a:extLst>
          </p:cNvPr>
          <p:cNvSpPr txBox="1"/>
          <p:nvPr/>
        </p:nvSpPr>
        <p:spPr>
          <a:xfrm>
            <a:off x="7607077" y="4730198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OP9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A40DC3F-68F4-4FA1-8E69-37AB96AD1F7C}"/>
              </a:ext>
            </a:extLst>
          </p:cNvPr>
          <p:cNvSpPr txBox="1"/>
          <p:nvPr/>
        </p:nvSpPr>
        <p:spPr>
          <a:xfrm>
            <a:off x="8638883" y="4726459"/>
            <a:ext cx="776429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OP10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D8C9CDC-17AA-43A3-AE4B-CD6924CF75F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253946" y="4356515"/>
            <a:ext cx="6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8D259E0A-BA87-483B-81FF-59C02B6E73F9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253946" y="5322026"/>
            <a:ext cx="652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4C5C883E-97E3-4151-8032-B1BE1B8EA14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488580" y="4356515"/>
            <a:ext cx="6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770F82A-2E06-4A3A-BCC5-B8ABDBFF114A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488580" y="5319281"/>
            <a:ext cx="629152" cy="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89BDD4CF-2CA2-4A96-9217-63DE5E57633D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5723214" y="4356515"/>
            <a:ext cx="742920" cy="554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ADBB7C58-9AAB-42BA-8DBC-9210EF366355}"/>
              </a:ext>
            </a:extLst>
          </p:cNvPr>
          <p:cNvCxnSpPr>
            <a:cxnSpLocks/>
            <a:stCxn id="19" idx="3"/>
            <a:endCxn id="18" idx="1"/>
          </p:cNvCxnSpPr>
          <p:nvPr/>
        </p:nvCxnSpPr>
        <p:spPr>
          <a:xfrm flipV="1">
            <a:off x="5723214" y="4911125"/>
            <a:ext cx="742920" cy="410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F6DD2059-00B3-4CD4-BD2E-7526F4474406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7071616" y="4911125"/>
            <a:ext cx="535461" cy="3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F4EA3FE1-8B37-434E-9D54-AED64BB36AC6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8212559" y="4911125"/>
            <a:ext cx="426324" cy="3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90431A16-05A1-4CEB-BF4B-670BE4CE63BD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9415312" y="4906742"/>
            <a:ext cx="487304" cy="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0636B8AF-EC62-41D2-AD3B-E1C8ACCA3460}"/>
              </a:ext>
            </a:extLst>
          </p:cNvPr>
          <p:cNvSpPr txBox="1"/>
          <p:nvPr/>
        </p:nvSpPr>
        <p:spPr>
          <a:xfrm>
            <a:off x="9902616" y="4730198"/>
            <a:ext cx="776429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loss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D45B8318-321E-4EC6-ADBF-5019B76474DC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10290830" y="4356515"/>
            <a:ext cx="1" cy="373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8C17F6BB-956D-45B8-AFC6-28C6BD714C8D}"/>
              </a:ext>
            </a:extLst>
          </p:cNvPr>
          <p:cNvCxnSpPr>
            <a:cxnSpLocks/>
          </p:cNvCxnSpPr>
          <p:nvPr/>
        </p:nvCxnSpPr>
        <p:spPr>
          <a:xfrm>
            <a:off x="10679045" y="4897670"/>
            <a:ext cx="487304" cy="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F0E359AC-EAB8-4E31-92FF-8879D91F2701}"/>
              </a:ext>
            </a:extLst>
          </p:cNvPr>
          <p:cNvSpPr txBox="1"/>
          <p:nvPr/>
        </p:nvSpPr>
        <p:spPr>
          <a:xfrm>
            <a:off x="2648464" y="5792961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W3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6CB745CA-29F9-40DD-8443-8E8E8ED87062}"/>
              </a:ext>
            </a:extLst>
          </p:cNvPr>
          <p:cNvSpPr txBox="1"/>
          <p:nvPr/>
        </p:nvSpPr>
        <p:spPr>
          <a:xfrm>
            <a:off x="5169218" y="3504428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W6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4F59B98-EBFE-4ADF-8363-846FFBBDDFE7}"/>
              </a:ext>
            </a:extLst>
          </p:cNvPr>
          <p:cNvSpPr txBox="1"/>
          <p:nvPr/>
        </p:nvSpPr>
        <p:spPr>
          <a:xfrm>
            <a:off x="7637969" y="5425390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W9</a:t>
            </a: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DAEBA182-871F-4D12-BD80-FEF13CA4E746}"/>
              </a:ext>
            </a:extLst>
          </p:cNvPr>
          <p:cNvCxnSpPr>
            <a:cxnSpLocks/>
            <a:stCxn id="54" idx="0"/>
            <a:endCxn id="13" idx="2"/>
          </p:cNvCxnSpPr>
          <p:nvPr/>
        </p:nvCxnSpPr>
        <p:spPr>
          <a:xfrm flipV="1">
            <a:off x="2921343" y="5506692"/>
            <a:ext cx="29862" cy="28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84326789-52E8-420C-9B2C-FDABAEB19FDC}"/>
              </a:ext>
            </a:extLst>
          </p:cNvPr>
          <p:cNvCxnSpPr>
            <a:stCxn id="56" idx="2"/>
            <a:endCxn id="16" idx="0"/>
          </p:cNvCxnSpPr>
          <p:nvPr/>
        </p:nvCxnSpPr>
        <p:spPr>
          <a:xfrm flipH="1">
            <a:off x="5420473" y="3873760"/>
            <a:ext cx="21624" cy="298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AC23BA98-0AC2-4812-810E-4FE520DF5434}"/>
              </a:ext>
            </a:extLst>
          </p:cNvPr>
          <p:cNvCxnSpPr>
            <a:cxnSpLocks/>
            <a:stCxn id="57" idx="0"/>
            <a:endCxn id="20" idx="2"/>
          </p:cNvCxnSpPr>
          <p:nvPr/>
        </p:nvCxnSpPr>
        <p:spPr>
          <a:xfrm flipH="1" flipV="1">
            <a:off x="7909818" y="5099530"/>
            <a:ext cx="1030" cy="325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02838A65-FEEB-4F2E-A38E-E70E08E571DF}"/>
              </a:ext>
            </a:extLst>
          </p:cNvPr>
          <p:cNvSpPr txBox="1"/>
          <p:nvPr/>
        </p:nvSpPr>
        <p:spPr>
          <a:xfrm>
            <a:off x="9480478" y="4509527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A47F1F6-1E83-4B95-BC6F-AE290525C20F}"/>
              </a:ext>
            </a:extLst>
          </p:cNvPr>
          <p:cNvSpPr txBox="1"/>
          <p:nvPr/>
        </p:nvSpPr>
        <p:spPr>
          <a:xfrm>
            <a:off x="10117835" y="3939895"/>
            <a:ext cx="47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Y*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1E36A499-4DB0-4F40-AE69-4BF0160AE513}"/>
              </a:ext>
            </a:extLst>
          </p:cNvPr>
          <p:cNvSpPr txBox="1"/>
          <p:nvPr/>
        </p:nvSpPr>
        <p:spPr>
          <a:xfrm>
            <a:off x="10784920" y="4504807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4D8509D-7CE6-421C-9B7C-34B1FBAAA42C}"/>
              </a:ext>
            </a:extLst>
          </p:cNvPr>
          <p:cNvSpPr txBox="1"/>
          <p:nvPr/>
        </p:nvSpPr>
        <p:spPr>
          <a:xfrm>
            <a:off x="8205487" y="4509527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Y9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DE80B3F-4CF0-44D6-905D-A3E09B77F3AA}"/>
              </a:ext>
            </a:extLst>
          </p:cNvPr>
          <p:cNvSpPr txBox="1"/>
          <p:nvPr/>
        </p:nvSpPr>
        <p:spPr>
          <a:xfrm>
            <a:off x="7123351" y="4525589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Y8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F009D77-B5C2-46C5-8CFC-00D443524CD0}"/>
              </a:ext>
            </a:extLst>
          </p:cNvPr>
          <p:cNvSpPr txBox="1"/>
          <p:nvPr/>
        </p:nvSpPr>
        <p:spPr>
          <a:xfrm>
            <a:off x="5927313" y="4264488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Y6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536C636-D80F-435F-91D7-9B30943415DB}"/>
              </a:ext>
            </a:extLst>
          </p:cNvPr>
          <p:cNvSpPr txBox="1"/>
          <p:nvPr/>
        </p:nvSpPr>
        <p:spPr>
          <a:xfrm>
            <a:off x="5952480" y="5075550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Y7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A585B845-2A5D-4C89-ABCB-FC24CCE128A2}"/>
              </a:ext>
            </a:extLst>
          </p:cNvPr>
          <p:cNvSpPr txBox="1"/>
          <p:nvPr/>
        </p:nvSpPr>
        <p:spPr>
          <a:xfrm>
            <a:off x="4556650" y="3955338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Y4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07AF985-46A8-4E70-A24F-C202A68D6D4B}"/>
              </a:ext>
            </a:extLst>
          </p:cNvPr>
          <p:cNvSpPr txBox="1"/>
          <p:nvPr/>
        </p:nvSpPr>
        <p:spPr>
          <a:xfrm>
            <a:off x="4592887" y="4938622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Y5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BCB19EF5-6181-4015-AC24-D139B6850125}"/>
              </a:ext>
            </a:extLst>
          </p:cNvPr>
          <p:cNvSpPr txBox="1"/>
          <p:nvPr/>
        </p:nvSpPr>
        <p:spPr>
          <a:xfrm>
            <a:off x="3339976" y="4931909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Y3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F644DC0-8451-482C-A642-5D932C5EF792}"/>
              </a:ext>
            </a:extLst>
          </p:cNvPr>
          <p:cNvSpPr txBox="1"/>
          <p:nvPr/>
        </p:nvSpPr>
        <p:spPr>
          <a:xfrm>
            <a:off x="3296607" y="3930322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Y2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722B3CC8-34F3-48CE-AC98-32A5BAE7B66D}"/>
              </a:ext>
            </a:extLst>
          </p:cNvPr>
          <p:cNvSpPr txBox="1"/>
          <p:nvPr/>
        </p:nvSpPr>
        <p:spPr>
          <a:xfrm>
            <a:off x="1956140" y="4541793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Y1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501C3EE-1F6E-4168-84C6-1359C174F331}"/>
              </a:ext>
            </a:extLst>
          </p:cNvPr>
          <p:cNvCxnSpPr/>
          <p:nvPr/>
        </p:nvCxnSpPr>
        <p:spPr>
          <a:xfrm>
            <a:off x="1995616" y="4905792"/>
            <a:ext cx="475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59E6E643-09C7-47EB-B7DF-725A7D162807}"/>
              </a:ext>
            </a:extLst>
          </p:cNvPr>
          <p:cNvCxnSpPr>
            <a:endCxn id="11" idx="1"/>
          </p:cNvCxnSpPr>
          <p:nvPr/>
        </p:nvCxnSpPr>
        <p:spPr>
          <a:xfrm flipV="1">
            <a:off x="2471351" y="4356515"/>
            <a:ext cx="177113" cy="538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0E4694A1-F14F-460C-8FDF-C8D69369FA9E}"/>
              </a:ext>
            </a:extLst>
          </p:cNvPr>
          <p:cNvCxnSpPr>
            <a:endCxn id="13" idx="1"/>
          </p:cNvCxnSpPr>
          <p:nvPr/>
        </p:nvCxnSpPr>
        <p:spPr>
          <a:xfrm>
            <a:off x="2477517" y="4897670"/>
            <a:ext cx="170947" cy="4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104E3DA-BDA7-421C-B0B4-C3A648BB4FE8}"/>
                  </a:ext>
                </a:extLst>
              </p:cNvPr>
              <p:cNvSpPr txBox="1"/>
              <p:nvPr/>
            </p:nvSpPr>
            <p:spPr>
              <a:xfrm>
                <a:off x="10161500" y="5137360"/>
                <a:ext cx="258661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104E3DA-BDA7-421C-B0B4-C3A648BB4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500" y="5137360"/>
                <a:ext cx="258661" cy="409664"/>
              </a:xfrm>
              <a:prstGeom prst="rect">
                <a:avLst/>
              </a:prstGeom>
              <a:blipFill>
                <a:blip r:embed="rId3"/>
                <a:stretch>
                  <a:fillRect l="-19048" t="-1493" r="-11905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53443459-9CCD-4482-A064-124AA2B3B3F8}"/>
                  </a:ext>
                </a:extLst>
              </p:cNvPr>
              <p:cNvSpPr txBox="1"/>
              <p:nvPr/>
            </p:nvSpPr>
            <p:spPr>
              <a:xfrm>
                <a:off x="8853972" y="5156414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53443459-9CCD-4482-A064-124AA2B3B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972" y="5156414"/>
                <a:ext cx="346249" cy="409664"/>
              </a:xfrm>
              <a:prstGeom prst="rect">
                <a:avLst/>
              </a:prstGeom>
              <a:blipFill>
                <a:blip r:embed="rId4"/>
                <a:stretch>
                  <a:fillRect l="-10526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3042FC30-DFBC-410A-937F-E568D1A15AC0}"/>
                  </a:ext>
                </a:extLst>
              </p:cNvPr>
              <p:cNvSpPr txBox="1"/>
              <p:nvPr/>
            </p:nvSpPr>
            <p:spPr>
              <a:xfrm>
                <a:off x="7741124" y="5781163"/>
                <a:ext cx="408766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3042FC30-DFBC-410A-937F-E568D1A15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24" y="5781163"/>
                <a:ext cx="408766" cy="409664"/>
              </a:xfrm>
              <a:prstGeom prst="rect">
                <a:avLst/>
              </a:prstGeom>
              <a:blipFill>
                <a:blip r:embed="rId5"/>
                <a:stretch>
                  <a:fillRect l="-10448" r="-10448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0577315A-C2BD-4DDC-823F-FABF850116E9}"/>
                  </a:ext>
                </a:extLst>
              </p:cNvPr>
              <p:cNvSpPr txBox="1"/>
              <p:nvPr/>
            </p:nvSpPr>
            <p:spPr>
              <a:xfrm>
                <a:off x="7741124" y="4260901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0577315A-C2BD-4DDC-823F-FABF85011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124" y="4260901"/>
                <a:ext cx="346249" cy="409664"/>
              </a:xfrm>
              <a:prstGeom prst="rect">
                <a:avLst/>
              </a:prstGeom>
              <a:blipFill>
                <a:blip r:embed="rId6"/>
                <a:stretch>
                  <a:fillRect l="-12281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7199AF0E-9C44-47DE-8D6B-4B1ED9296160}"/>
                  </a:ext>
                </a:extLst>
              </p:cNvPr>
              <p:cNvSpPr txBox="1"/>
              <p:nvPr/>
            </p:nvSpPr>
            <p:spPr>
              <a:xfrm>
                <a:off x="6369825" y="5178622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7199AF0E-9C44-47DE-8D6B-4B1ED9296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825" y="5178622"/>
                <a:ext cx="346249" cy="409664"/>
              </a:xfrm>
              <a:prstGeom prst="rect">
                <a:avLst/>
              </a:prstGeom>
              <a:blipFill>
                <a:blip r:embed="rId7"/>
                <a:stretch>
                  <a:fillRect l="-12281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C202C707-3A10-4ADA-8F73-57864867F366}"/>
                  </a:ext>
                </a:extLst>
              </p:cNvPr>
              <p:cNvSpPr txBox="1"/>
              <p:nvPr/>
            </p:nvSpPr>
            <p:spPr>
              <a:xfrm>
                <a:off x="6356933" y="4225384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C202C707-3A10-4ADA-8F73-57864867F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933" y="4225384"/>
                <a:ext cx="346249" cy="409664"/>
              </a:xfrm>
              <a:prstGeom prst="rect">
                <a:avLst/>
              </a:prstGeom>
              <a:blipFill>
                <a:blip r:embed="rId8"/>
                <a:stretch>
                  <a:fillRect l="-12281" r="-10526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ZoneTexte 69">
                <a:extLst>
                  <a:ext uri="{FF2B5EF4-FFF2-40B4-BE49-F238E27FC236}">
                    <a16:creationId xmlns:a16="http://schemas.microsoft.com/office/drawing/2014/main" id="{36457BCE-E0A3-4D03-AC91-9565ACF0B886}"/>
                  </a:ext>
                </a:extLst>
              </p:cNvPr>
              <p:cNvSpPr txBox="1"/>
              <p:nvPr/>
            </p:nvSpPr>
            <p:spPr>
              <a:xfrm>
                <a:off x="5632979" y="3186479"/>
                <a:ext cx="408766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0" name="ZoneTexte 69">
                <a:extLst>
                  <a:ext uri="{FF2B5EF4-FFF2-40B4-BE49-F238E27FC236}">
                    <a16:creationId xmlns:a16="http://schemas.microsoft.com/office/drawing/2014/main" id="{36457BCE-E0A3-4D03-AC91-9565ACF0B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979" y="3186479"/>
                <a:ext cx="408766" cy="409664"/>
              </a:xfrm>
              <a:prstGeom prst="rect">
                <a:avLst/>
              </a:prstGeom>
              <a:blipFill>
                <a:blip r:embed="rId9"/>
                <a:stretch>
                  <a:fillRect l="-8955" t="-1493" r="-10448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691C7AF2-2083-4E19-B1A4-8308F45216E7}"/>
                  </a:ext>
                </a:extLst>
              </p:cNvPr>
              <p:cNvSpPr txBox="1"/>
              <p:nvPr/>
            </p:nvSpPr>
            <p:spPr>
              <a:xfrm>
                <a:off x="4046314" y="3668928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691C7AF2-2083-4E19-B1A4-8308F4521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314" y="3668928"/>
                <a:ext cx="346249" cy="409664"/>
              </a:xfrm>
              <a:prstGeom prst="rect">
                <a:avLst/>
              </a:prstGeom>
              <a:blipFill>
                <a:blip r:embed="rId10"/>
                <a:stretch>
                  <a:fillRect l="-12281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3205F107-8B07-4BBF-88CD-BEF6372D9A9A}"/>
                  </a:ext>
                </a:extLst>
              </p:cNvPr>
              <p:cNvSpPr txBox="1"/>
              <p:nvPr/>
            </p:nvSpPr>
            <p:spPr>
              <a:xfrm>
                <a:off x="2792202" y="3667844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3205F107-8B07-4BBF-88CD-BEF6372D9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202" y="3667844"/>
                <a:ext cx="346249" cy="409664"/>
              </a:xfrm>
              <a:prstGeom prst="rect">
                <a:avLst/>
              </a:prstGeom>
              <a:blipFill>
                <a:blip r:embed="rId11"/>
                <a:stretch>
                  <a:fillRect l="-10526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20EBB090-2525-4238-AE22-EB3AEBE325A6}"/>
                  </a:ext>
                </a:extLst>
              </p:cNvPr>
              <p:cNvSpPr txBox="1"/>
              <p:nvPr/>
            </p:nvSpPr>
            <p:spPr>
              <a:xfrm>
                <a:off x="2192801" y="4095143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20EBB090-2525-4238-AE22-EB3AEBE32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801" y="4095143"/>
                <a:ext cx="346249" cy="409664"/>
              </a:xfrm>
              <a:prstGeom prst="rect">
                <a:avLst/>
              </a:prstGeom>
              <a:blipFill>
                <a:blip r:embed="rId12"/>
                <a:stretch>
                  <a:fillRect l="-12281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ZoneTexte 73">
            <a:extLst>
              <a:ext uri="{FF2B5EF4-FFF2-40B4-BE49-F238E27FC236}">
                <a16:creationId xmlns:a16="http://schemas.microsoft.com/office/drawing/2014/main" id="{5828835C-61E1-4DE8-A4F1-DDF18C9E782F}"/>
              </a:ext>
            </a:extLst>
          </p:cNvPr>
          <p:cNvSpPr txBox="1"/>
          <p:nvPr/>
        </p:nvSpPr>
        <p:spPr>
          <a:xfrm>
            <a:off x="1385123" y="5299415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W1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7FE0E6D7-D5AF-433A-BFC9-56D83548102C}"/>
              </a:ext>
            </a:extLst>
          </p:cNvPr>
          <p:cNvCxnSpPr>
            <a:cxnSpLocks/>
          </p:cNvCxnSpPr>
          <p:nvPr/>
        </p:nvCxnSpPr>
        <p:spPr>
          <a:xfrm flipV="1">
            <a:off x="1691330" y="5109848"/>
            <a:ext cx="29862" cy="28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58581494-3A4C-4733-B541-0214D295CE34}"/>
                  </a:ext>
                </a:extLst>
              </p:cNvPr>
              <p:cNvSpPr txBox="1"/>
              <p:nvPr/>
            </p:nvSpPr>
            <p:spPr>
              <a:xfrm>
                <a:off x="1712731" y="5703801"/>
                <a:ext cx="408766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58581494-3A4C-4733-B541-0214D295C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731" y="5703801"/>
                <a:ext cx="408766" cy="409664"/>
              </a:xfrm>
              <a:prstGeom prst="rect">
                <a:avLst/>
              </a:prstGeom>
              <a:blipFill>
                <a:blip r:embed="rId13"/>
                <a:stretch>
                  <a:fillRect l="-10448" t="-1493" r="-10448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34E1334F-DE9E-4A74-BA1E-B20335004059}"/>
                  </a:ext>
                </a:extLst>
              </p:cNvPr>
              <p:cNvSpPr txBox="1"/>
              <p:nvPr/>
            </p:nvSpPr>
            <p:spPr>
              <a:xfrm>
                <a:off x="5258160" y="5562292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34E1334F-DE9E-4A74-BA1E-B20335004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160" y="5562292"/>
                <a:ext cx="346249" cy="409664"/>
              </a:xfrm>
              <a:prstGeom prst="rect">
                <a:avLst/>
              </a:prstGeom>
              <a:blipFill>
                <a:blip r:embed="rId14"/>
                <a:stretch>
                  <a:fillRect l="-12500" r="-12500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D39AF172-AF22-41F0-99E3-B9B8664150D9}"/>
                  </a:ext>
                </a:extLst>
              </p:cNvPr>
              <p:cNvSpPr txBox="1"/>
              <p:nvPr/>
            </p:nvSpPr>
            <p:spPr>
              <a:xfrm>
                <a:off x="4018071" y="5547798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D39AF172-AF22-41F0-99E3-B9B866415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071" y="5547798"/>
                <a:ext cx="346249" cy="409664"/>
              </a:xfrm>
              <a:prstGeom prst="rect">
                <a:avLst/>
              </a:prstGeom>
              <a:blipFill>
                <a:blip r:embed="rId15"/>
                <a:stretch>
                  <a:fillRect l="-10526" r="-12281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1E5867C6-0ED9-4263-B1D4-B66076BA159B}"/>
                  </a:ext>
                </a:extLst>
              </p:cNvPr>
              <p:cNvSpPr txBox="1"/>
              <p:nvPr/>
            </p:nvSpPr>
            <p:spPr>
              <a:xfrm>
                <a:off x="3084007" y="6105038"/>
                <a:ext cx="408766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1E5867C6-0ED9-4263-B1D4-B66076BA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007" y="6105038"/>
                <a:ext cx="408766" cy="409664"/>
              </a:xfrm>
              <a:prstGeom prst="rect">
                <a:avLst/>
              </a:prstGeom>
              <a:blipFill>
                <a:blip r:embed="rId16"/>
                <a:stretch>
                  <a:fillRect l="-10448" r="-10448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Espace réservé du contenu 2">
                <a:extLst>
                  <a:ext uri="{FF2B5EF4-FFF2-40B4-BE49-F238E27FC236}">
                    <a16:creationId xmlns:a16="http://schemas.microsoft.com/office/drawing/2014/main" id="{3F478ABB-154F-4B99-9476-0907934CAC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0956" y="1496754"/>
                <a:ext cx="7206049" cy="1628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57188" indent="-258763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Wingdings" pitchFamily="2" charset="2"/>
                  <a:buChar char="§"/>
                  <a:tabLst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fr-F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fr-FR" dirty="0"/>
                  <a:t>)(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nor/>
                      </m:rPr>
                      <a:rPr lang="fr-FR" dirty="0"/>
                      <m:t> 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nor/>
                      </m:rPr>
                      <a:rPr lang="fr-FR" dirty="0"/>
                      <m:t> 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fr-FR" dirty="0"/>
                      <m:t> 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80" name="Espace réservé du contenu 2">
                <a:extLst>
                  <a:ext uri="{FF2B5EF4-FFF2-40B4-BE49-F238E27FC236}">
                    <a16:creationId xmlns:a16="http://schemas.microsoft.com/office/drawing/2014/main" id="{3F478ABB-154F-4B99-9476-0907934CA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956" y="1496754"/>
                <a:ext cx="7206049" cy="162836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5FCEBDC0-839C-4792-ADD2-4C6D732C4AA1}"/>
                  </a:ext>
                </a:extLst>
              </p:cNvPr>
              <p:cNvSpPr txBox="1"/>
              <p:nvPr/>
            </p:nvSpPr>
            <p:spPr>
              <a:xfrm>
                <a:off x="2190088" y="5156414"/>
                <a:ext cx="346249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1400" i="1" dirty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dirty="0" smtClean="0">
                              <a:solidFill>
                                <a:srgbClr val="FE5B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5FCEBDC0-839C-4792-ADD2-4C6D732C4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088" y="5156414"/>
                <a:ext cx="346249" cy="409664"/>
              </a:xfrm>
              <a:prstGeom prst="rect">
                <a:avLst/>
              </a:prstGeom>
              <a:blipFill>
                <a:blip r:embed="rId18"/>
                <a:stretch>
                  <a:fillRect l="-10526" t="-1493" r="-10526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4412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ANN in a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view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C1463DB-7134-B569-C7EC-9FBDC03F15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9326" y="1500027"/>
                <a:ext cx="3447512" cy="1628360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fr-FR" dirty="0"/>
                  <a:t>x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fr-FR" dirty="0"/>
                  <a:t>x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9,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fr-F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C1463DB-7134-B569-C7EC-9FBDC03F15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9326" y="1500027"/>
                <a:ext cx="3447512" cy="162836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37</a:t>
            </a:fld>
            <a:endParaRPr lang="en-CA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2CE432-C933-4E95-9162-2E5FEA58C260}"/>
              </a:ext>
            </a:extLst>
          </p:cNvPr>
          <p:cNvSpPr txBox="1"/>
          <p:nvPr/>
        </p:nvSpPr>
        <p:spPr>
          <a:xfrm>
            <a:off x="722870" y="4726459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5E408BB-0998-49FD-B4CE-B2BBDAD9F92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68859" y="4911125"/>
            <a:ext cx="321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737997B4-DC90-4ABE-8DA4-71AB5EBED1C1}"/>
              </a:ext>
            </a:extLst>
          </p:cNvPr>
          <p:cNvSpPr txBox="1"/>
          <p:nvPr/>
        </p:nvSpPr>
        <p:spPr>
          <a:xfrm>
            <a:off x="1390134" y="472645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C86EA22-7D98-4E1F-87AC-3B318FCD37B1}"/>
              </a:ext>
            </a:extLst>
          </p:cNvPr>
          <p:cNvSpPr txBox="1"/>
          <p:nvPr/>
        </p:nvSpPr>
        <p:spPr>
          <a:xfrm>
            <a:off x="2648464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81E3082-864D-415E-A6C9-400F385B7478}"/>
              </a:ext>
            </a:extLst>
          </p:cNvPr>
          <p:cNvSpPr txBox="1"/>
          <p:nvPr/>
        </p:nvSpPr>
        <p:spPr>
          <a:xfrm>
            <a:off x="2648464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OP3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C756C0A-03BF-4465-A6A1-CF8D1154BA92}"/>
              </a:ext>
            </a:extLst>
          </p:cNvPr>
          <p:cNvSpPr txBox="1"/>
          <p:nvPr/>
        </p:nvSpPr>
        <p:spPr>
          <a:xfrm>
            <a:off x="3883098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OP4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712B3FB-BC5E-4ED1-9F18-DC0802B203B1}"/>
              </a:ext>
            </a:extLst>
          </p:cNvPr>
          <p:cNvSpPr txBox="1"/>
          <p:nvPr/>
        </p:nvSpPr>
        <p:spPr>
          <a:xfrm>
            <a:off x="5117732" y="417184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OP6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E5BDEA9-7C5E-460D-A630-808A278BE895}"/>
              </a:ext>
            </a:extLst>
          </p:cNvPr>
          <p:cNvSpPr txBox="1"/>
          <p:nvPr/>
        </p:nvSpPr>
        <p:spPr>
          <a:xfrm>
            <a:off x="3906794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4D4C577-66DD-4FB9-92E6-BCCA83EDDF22}"/>
              </a:ext>
            </a:extLst>
          </p:cNvPr>
          <p:cNvSpPr txBox="1"/>
          <p:nvPr/>
        </p:nvSpPr>
        <p:spPr>
          <a:xfrm>
            <a:off x="6466134" y="4726459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OP8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980D146-2A14-475D-92FE-61FB012F5ABA}"/>
              </a:ext>
            </a:extLst>
          </p:cNvPr>
          <p:cNvSpPr txBox="1"/>
          <p:nvPr/>
        </p:nvSpPr>
        <p:spPr>
          <a:xfrm>
            <a:off x="5117732" y="5137360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OP7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CDA1C7E-05B2-42F3-9B50-7D75D704D975}"/>
              </a:ext>
            </a:extLst>
          </p:cNvPr>
          <p:cNvSpPr txBox="1"/>
          <p:nvPr/>
        </p:nvSpPr>
        <p:spPr>
          <a:xfrm>
            <a:off x="7607077" y="4730198"/>
            <a:ext cx="605482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OP9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A40DC3F-68F4-4FA1-8E69-37AB96AD1F7C}"/>
              </a:ext>
            </a:extLst>
          </p:cNvPr>
          <p:cNvSpPr txBox="1"/>
          <p:nvPr/>
        </p:nvSpPr>
        <p:spPr>
          <a:xfrm>
            <a:off x="8638883" y="4726459"/>
            <a:ext cx="776429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OP10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D8C9CDC-17AA-43A3-AE4B-CD6924CF75F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253946" y="4356515"/>
            <a:ext cx="6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8D259E0A-BA87-483B-81FF-59C02B6E73F9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253946" y="5322026"/>
            <a:ext cx="652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4C5C883E-97E3-4151-8032-B1BE1B8EA14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488580" y="4356515"/>
            <a:ext cx="6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770F82A-2E06-4A3A-BCC5-B8ABDBFF114A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488580" y="5319281"/>
            <a:ext cx="629152" cy="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89BDD4CF-2CA2-4A96-9217-63DE5E57633D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5723214" y="4356515"/>
            <a:ext cx="742920" cy="554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ADBB7C58-9AAB-42BA-8DBC-9210EF366355}"/>
              </a:ext>
            </a:extLst>
          </p:cNvPr>
          <p:cNvCxnSpPr>
            <a:cxnSpLocks/>
            <a:stCxn id="19" idx="3"/>
            <a:endCxn id="18" idx="1"/>
          </p:cNvCxnSpPr>
          <p:nvPr/>
        </p:nvCxnSpPr>
        <p:spPr>
          <a:xfrm flipV="1">
            <a:off x="5723214" y="4911125"/>
            <a:ext cx="742920" cy="410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F6DD2059-00B3-4CD4-BD2E-7526F4474406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7071616" y="4911125"/>
            <a:ext cx="535461" cy="3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F4EA3FE1-8B37-434E-9D54-AED64BB36AC6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8212559" y="4911125"/>
            <a:ext cx="426324" cy="3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90431A16-05A1-4CEB-BF4B-670BE4CE63BD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9415312" y="4906742"/>
            <a:ext cx="487304" cy="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0636B8AF-EC62-41D2-AD3B-E1C8ACCA3460}"/>
              </a:ext>
            </a:extLst>
          </p:cNvPr>
          <p:cNvSpPr txBox="1"/>
          <p:nvPr/>
        </p:nvSpPr>
        <p:spPr>
          <a:xfrm>
            <a:off x="9902616" y="4730198"/>
            <a:ext cx="776429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loss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D45B8318-321E-4EC6-ADBF-5019B76474DC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10290830" y="4356515"/>
            <a:ext cx="1" cy="373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8C17F6BB-956D-45B8-AFC6-28C6BD714C8D}"/>
              </a:ext>
            </a:extLst>
          </p:cNvPr>
          <p:cNvCxnSpPr>
            <a:cxnSpLocks/>
          </p:cNvCxnSpPr>
          <p:nvPr/>
        </p:nvCxnSpPr>
        <p:spPr>
          <a:xfrm>
            <a:off x="10679045" y="4897670"/>
            <a:ext cx="487304" cy="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F0E359AC-EAB8-4E31-92FF-8879D91F2701}"/>
              </a:ext>
            </a:extLst>
          </p:cNvPr>
          <p:cNvSpPr txBox="1"/>
          <p:nvPr/>
        </p:nvSpPr>
        <p:spPr>
          <a:xfrm>
            <a:off x="2648464" y="5792961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W3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6CB745CA-29F9-40DD-8443-8E8E8ED87062}"/>
              </a:ext>
            </a:extLst>
          </p:cNvPr>
          <p:cNvSpPr txBox="1"/>
          <p:nvPr/>
        </p:nvSpPr>
        <p:spPr>
          <a:xfrm>
            <a:off x="5169218" y="3504428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W6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4F59B98-EBFE-4ADF-8363-846FFBBDDFE7}"/>
              </a:ext>
            </a:extLst>
          </p:cNvPr>
          <p:cNvSpPr txBox="1"/>
          <p:nvPr/>
        </p:nvSpPr>
        <p:spPr>
          <a:xfrm>
            <a:off x="7637969" y="5425390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W9</a:t>
            </a: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DAEBA182-871F-4D12-BD80-FEF13CA4E746}"/>
              </a:ext>
            </a:extLst>
          </p:cNvPr>
          <p:cNvCxnSpPr>
            <a:cxnSpLocks/>
            <a:stCxn id="54" idx="0"/>
            <a:endCxn id="13" idx="2"/>
          </p:cNvCxnSpPr>
          <p:nvPr/>
        </p:nvCxnSpPr>
        <p:spPr>
          <a:xfrm flipV="1">
            <a:off x="2921343" y="5506692"/>
            <a:ext cx="29862" cy="28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84326789-52E8-420C-9B2C-FDABAEB19FDC}"/>
              </a:ext>
            </a:extLst>
          </p:cNvPr>
          <p:cNvCxnSpPr>
            <a:stCxn id="56" idx="2"/>
            <a:endCxn id="16" idx="0"/>
          </p:cNvCxnSpPr>
          <p:nvPr/>
        </p:nvCxnSpPr>
        <p:spPr>
          <a:xfrm flipH="1">
            <a:off x="5420473" y="3873760"/>
            <a:ext cx="21624" cy="298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AC23BA98-0AC2-4812-810E-4FE520DF5434}"/>
              </a:ext>
            </a:extLst>
          </p:cNvPr>
          <p:cNvCxnSpPr>
            <a:stCxn id="57" idx="0"/>
            <a:endCxn id="20" idx="2"/>
          </p:cNvCxnSpPr>
          <p:nvPr/>
        </p:nvCxnSpPr>
        <p:spPr>
          <a:xfrm flipH="1" flipV="1">
            <a:off x="7909818" y="5099530"/>
            <a:ext cx="1030" cy="325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02838A65-FEEB-4F2E-A38E-E70E08E571DF}"/>
              </a:ext>
            </a:extLst>
          </p:cNvPr>
          <p:cNvSpPr txBox="1"/>
          <p:nvPr/>
        </p:nvSpPr>
        <p:spPr>
          <a:xfrm>
            <a:off x="9480478" y="4509527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9A47F1F6-1E83-4B95-BC6F-AE290525C20F}"/>
              </a:ext>
            </a:extLst>
          </p:cNvPr>
          <p:cNvSpPr txBox="1"/>
          <p:nvPr/>
        </p:nvSpPr>
        <p:spPr>
          <a:xfrm>
            <a:off x="10117835" y="3939895"/>
            <a:ext cx="471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Y*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1E36A499-4DB0-4F40-AE69-4BF0160AE513}"/>
              </a:ext>
            </a:extLst>
          </p:cNvPr>
          <p:cNvSpPr txBox="1"/>
          <p:nvPr/>
        </p:nvSpPr>
        <p:spPr>
          <a:xfrm>
            <a:off x="10784920" y="4504807"/>
            <a:ext cx="34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4D8509D-7CE6-421C-9B7C-34B1FBAAA42C}"/>
              </a:ext>
            </a:extLst>
          </p:cNvPr>
          <p:cNvSpPr txBox="1"/>
          <p:nvPr/>
        </p:nvSpPr>
        <p:spPr>
          <a:xfrm>
            <a:off x="8205487" y="4509527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Y9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DE80B3F-4CF0-44D6-905D-A3E09B77F3AA}"/>
              </a:ext>
            </a:extLst>
          </p:cNvPr>
          <p:cNvSpPr txBox="1"/>
          <p:nvPr/>
        </p:nvSpPr>
        <p:spPr>
          <a:xfrm>
            <a:off x="7123351" y="4525589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Y8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536C636-D80F-435F-91D7-9B30943415DB}"/>
              </a:ext>
            </a:extLst>
          </p:cNvPr>
          <p:cNvSpPr txBox="1"/>
          <p:nvPr/>
        </p:nvSpPr>
        <p:spPr>
          <a:xfrm>
            <a:off x="5952480" y="5075550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Y7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A585B845-2A5D-4C89-ABCB-FC24CCE128A2}"/>
              </a:ext>
            </a:extLst>
          </p:cNvPr>
          <p:cNvSpPr txBox="1"/>
          <p:nvPr/>
        </p:nvSpPr>
        <p:spPr>
          <a:xfrm>
            <a:off x="4556650" y="3955338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Y4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07AF985-46A8-4E70-A24F-C202A68D6D4B}"/>
              </a:ext>
            </a:extLst>
          </p:cNvPr>
          <p:cNvSpPr txBox="1"/>
          <p:nvPr/>
        </p:nvSpPr>
        <p:spPr>
          <a:xfrm>
            <a:off x="4592887" y="4938622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Y5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BCB19EF5-6181-4015-AC24-D139B6850125}"/>
              </a:ext>
            </a:extLst>
          </p:cNvPr>
          <p:cNvSpPr txBox="1"/>
          <p:nvPr/>
        </p:nvSpPr>
        <p:spPr>
          <a:xfrm>
            <a:off x="3339976" y="4931909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Y3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F644DC0-8451-482C-A642-5D932C5EF792}"/>
              </a:ext>
            </a:extLst>
          </p:cNvPr>
          <p:cNvSpPr txBox="1"/>
          <p:nvPr/>
        </p:nvSpPr>
        <p:spPr>
          <a:xfrm>
            <a:off x="3296607" y="3930322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Y2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722B3CC8-34F3-48CE-AC98-32A5BAE7B66D}"/>
              </a:ext>
            </a:extLst>
          </p:cNvPr>
          <p:cNvSpPr txBox="1"/>
          <p:nvPr/>
        </p:nvSpPr>
        <p:spPr>
          <a:xfrm>
            <a:off x="1956140" y="4541793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Y1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501C3EE-1F6E-4168-84C6-1359C174F331}"/>
              </a:ext>
            </a:extLst>
          </p:cNvPr>
          <p:cNvCxnSpPr/>
          <p:nvPr/>
        </p:nvCxnSpPr>
        <p:spPr>
          <a:xfrm>
            <a:off x="1995616" y="4905792"/>
            <a:ext cx="475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59E6E643-09C7-47EB-B7DF-725A7D162807}"/>
              </a:ext>
            </a:extLst>
          </p:cNvPr>
          <p:cNvCxnSpPr>
            <a:endCxn id="11" idx="1"/>
          </p:cNvCxnSpPr>
          <p:nvPr/>
        </p:nvCxnSpPr>
        <p:spPr>
          <a:xfrm flipV="1">
            <a:off x="2471351" y="4356515"/>
            <a:ext cx="177113" cy="538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0E4694A1-F14F-460C-8FDF-C8D69369FA9E}"/>
              </a:ext>
            </a:extLst>
          </p:cNvPr>
          <p:cNvCxnSpPr>
            <a:endCxn id="13" idx="1"/>
          </p:cNvCxnSpPr>
          <p:nvPr/>
        </p:nvCxnSpPr>
        <p:spPr>
          <a:xfrm>
            <a:off x="2477517" y="4897670"/>
            <a:ext cx="170947" cy="42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ZoneTexte 73">
            <a:extLst>
              <a:ext uri="{FF2B5EF4-FFF2-40B4-BE49-F238E27FC236}">
                <a16:creationId xmlns:a16="http://schemas.microsoft.com/office/drawing/2014/main" id="{5828835C-61E1-4DE8-A4F1-DDF18C9E782F}"/>
              </a:ext>
            </a:extLst>
          </p:cNvPr>
          <p:cNvSpPr txBox="1"/>
          <p:nvPr/>
        </p:nvSpPr>
        <p:spPr>
          <a:xfrm>
            <a:off x="1385123" y="5299415"/>
            <a:ext cx="5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W1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7FE0E6D7-D5AF-433A-BFC9-56D83548102C}"/>
              </a:ext>
            </a:extLst>
          </p:cNvPr>
          <p:cNvCxnSpPr>
            <a:cxnSpLocks/>
          </p:cNvCxnSpPr>
          <p:nvPr/>
        </p:nvCxnSpPr>
        <p:spPr>
          <a:xfrm flipV="1">
            <a:off x="1691330" y="5109848"/>
            <a:ext cx="29862" cy="286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Espace réservé du contenu 2">
                <a:extLst>
                  <a:ext uri="{FF2B5EF4-FFF2-40B4-BE49-F238E27FC236}">
                    <a16:creationId xmlns:a16="http://schemas.microsoft.com/office/drawing/2014/main" id="{3F478ABB-154F-4B99-9476-0907934CAC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0956" y="1496754"/>
                <a:ext cx="7206049" cy="1628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357188" indent="-258763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Wingdings" pitchFamily="2" charset="2"/>
                  <a:buChar char="§"/>
                  <a:tabLst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fr-F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80" name="Espace réservé du contenu 2">
                <a:extLst>
                  <a:ext uri="{FF2B5EF4-FFF2-40B4-BE49-F238E27FC236}">
                    <a16:creationId xmlns:a16="http://schemas.microsoft.com/office/drawing/2014/main" id="{3F478ABB-154F-4B99-9476-0907934CA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956" y="1496754"/>
                <a:ext cx="7206049" cy="1628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1B74BE23-B58D-4636-998B-1340283E91B6}"/>
                  </a:ext>
                </a:extLst>
              </p:cNvPr>
              <p:cNvSpPr txBox="1"/>
              <p:nvPr/>
            </p:nvSpPr>
            <p:spPr>
              <a:xfrm>
                <a:off x="10136334" y="5185610"/>
                <a:ext cx="308994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sz="1400" b="0" i="1" baseline="-25000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baseline="-25000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400" b="0" i="1" baseline="-25000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1400" baseline="-25000" dirty="0"/>
              </a:p>
            </p:txBody>
          </p:sp>
        </mc:Choice>
        <mc:Fallback xmlns="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1B74BE23-B58D-4636-998B-1340283E9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6334" y="5185610"/>
                <a:ext cx="308994" cy="210507"/>
              </a:xfrm>
              <a:prstGeom prst="rect">
                <a:avLst/>
              </a:prstGeom>
              <a:blipFill>
                <a:blip r:embed="rId4"/>
                <a:stretch>
                  <a:fillRect l="-22000" r="-8000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7DFE5D27-372A-49FF-AFF2-5C40FF817233}"/>
                  </a:ext>
                </a:extLst>
              </p:cNvPr>
              <p:cNvSpPr txBox="1"/>
              <p:nvPr/>
            </p:nvSpPr>
            <p:spPr>
              <a:xfrm>
                <a:off x="8898165" y="5196959"/>
                <a:ext cx="364523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sz="1400" b="0" i="1" baseline="-25000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baseline="-25000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400" b="0" i="1" baseline="-25000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baseline="-25000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400" baseline="-25000" dirty="0"/>
              </a:p>
            </p:txBody>
          </p:sp>
        </mc:Choice>
        <mc:Fallback xmlns=""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7DFE5D27-372A-49FF-AFF2-5C40FF817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8165" y="5196959"/>
                <a:ext cx="364523" cy="210507"/>
              </a:xfrm>
              <a:prstGeom prst="rect">
                <a:avLst/>
              </a:prstGeom>
              <a:blipFill>
                <a:blip r:embed="rId5"/>
                <a:stretch>
                  <a:fillRect l="-18644" r="-8475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2F280766-BFDA-4287-9924-171493232601}"/>
                  </a:ext>
                </a:extLst>
              </p:cNvPr>
              <p:cNvSpPr txBox="1"/>
              <p:nvPr/>
            </p:nvSpPr>
            <p:spPr>
              <a:xfrm>
                <a:off x="8030297" y="5738429"/>
                <a:ext cx="467564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sz="1400" b="0" i="1" baseline="-25000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baseline="-25000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9,</m:t>
                      </m:r>
                      <m:r>
                        <a:rPr lang="en-US" sz="1400" b="0" i="1" baseline="-25000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1400" b="0" i="1" baseline="-25000" dirty="0" smtClean="0">
                          <a:solidFill>
                            <a:srgbClr val="FE5B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400" baseline="-25000" dirty="0"/>
              </a:p>
            </p:txBody>
          </p:sp>
        </mc:Choice>
        <mc:Fallback xmlns=""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2F280766-BFDA-4287-9924-171493232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297" y="5738429"/>
                <a:ext cx="467564" cy="210507"/>
              </a:xfrm>
              <a:prstGeom prst="rect">
                <a:avLst/>
              </a:prstGeom>
              <a:blipFill>
                <a:blip r:embed="rId6"/>
                <a:stretch>
                  <a:fillRect l="-11688" r="-5195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78303727-6152-4A0C-9C89-931F9991EC3C}"/>
                  </a:ext>
                </a:extLst>
              </p:cNvPr>
              <p:cNvSpPr txBox="1"/>
              <p:nvPr/>
            </p:nvSpPr>
            <p:spPr>
              <a:xfrm>
                <a:off x="7741497" y="4409355"/>
                <a:ext cx="349455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9,</m:t>
                    </m:r>
                  </m:oMath>
                </a14:m>
                <a:r>
                  <a:rPr lang="en-US" sz="1400" baseline="-25000" dirty="0">
                    <a:solidFill>
                      <a:schemeClr val="accent2"/>
                    </a:solidFill>
                  </a:rPr>
                  <a:t>Y8</a:t>
                </a:r>
              </a:p>
            </p:txBody>
          </p:sp>
        </mc:Choice>
        <mc:Fallback xmlns=""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78303727-6152-4A0C-9C89-931F9991E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1497" y="4409355"/>
                <a:ext cx="349455" cy="210507"/>
              </a:xfrm>
              <a:prstGeom prst="rect">
                <a:avLst/>
              </a:prstGeom>
              <a:blipFill>
                <a:blip r:embed="rId7"/>
                <a:stretch>
                  <a:fillRect l="-22807" r="-21053" b="-4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B8D22CDA-1070-4ADC-8646-652C5C11AD78}"/>
                  </a:ext>
                </a:extLst>
              </p:cNvPr>
              <p:cNvSpPr txBox="1"/>
              <p:nvPr/>
            </p:nvSpPr>
            <p:spPr>
              <a:xfrm>
                <a:off x="6357617" y="4347041"/>
                <a:ext cx="349455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8,</m:t>
                    </m:r>
                  </m:oMath>
                </a14:m>
                <a:r>
                  <a:rPr lang="en-US" sz="1400" baseline="-25000" dirty="0">
                    <a:solidFill>
                      <a:schemeClr val="accent2"/>
                    </a:solidFill>
                  </a:rPr>
                  <a:t>Y6</a:t>
                </a:r>
              </a:p>
            </p:txBody>
          </p:sp>
        </mc:Choice>
        <mc:Fallback xmlns="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B8D22CDA-1070-4ADC-8646-652C5C11A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617" y="4347041"/>
                <a:ext cx="349455" cy="210507"/>
              </a:xfrm>
              <a:prstGeom prst="rect">
                <a:avLst/>
              </a:prstGeom>
              <a:blipFill>
                <a:blip r:embed="rId8"/>
                <a:stretch>
                  <a:fillRect l="-22807" r="-21053" b="-4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0070F1E9-CB54-46B1-9656-35C3367994CE}"/>
                  </a:ext>
                </a:extLst>
              </p:cNvPr>
              <p:cNvSpPr txBox="1"/>
              <p:nvPr/>
            </p:nvSpPr>
            <p:spPr>
              <a:xfrm>
                <a:off x="6400438" y="5185289"/>
                <a:ext cx="349455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8,</m:t>
                    </m:r>
                  </m:oMath>
                </a14:m>
                <a:r>
                  <a:rPr lang="en-US" sz="1400" baseline="-25000" dirty="0">
                    <a:solidFill>
                      <a:schemeClr val="accent2"/>
                    </a:solidFill>
                  </a:rPr>
                  <a:t>Y7</a:t>
                </a:r>
              </a:p>
            </p:txBody>
          </p:sp>
        </mc:Choice>
        <mc:Fallback xmlns="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0070F1E9-CB54-46B1-9656-35C336799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438" y="5185289"/>
                <a:ext cx="349455" cy="210507"/>
              </a:xfrm>
              <a:prstGeom prst="rect">
                <a:avLst/>
              </a:prstGeom>
              <a:blipFill>
                <a:blip r:embed="rId9"/>
                <a:stretch>
                  <a:fillRect l="-22807" r="-21053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ZoneTexte 87">
                <a:extLst>
                  <a:ext uri="{FF2B5EF4-FFF2-40B4-BE49-F238E27FC236}">
                    <a16:creationId xmlns:a16="http://schemas.microsoft.com/office/drawing/2014/main" id="{F68DDD31-B565-4E2E-B202-49703FCFC3B1}"/>
                  </a:ext>
                </a:extLst>
              </p:cNvPr>
              <p:cNvSpPr txBox="1"/>
              <p:nvPr/>
            </p:nvSpPr>
            <p:spPr>
              <a:xfrm>
                <a:off x="5793137" y="3423219"/>
                <a:ext cx="397545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6,</m:t>
                    </m:r>
                  </m:oMath>
                </a14:m>
                <a:r>
                  <a:rPr lang="en-US" sz="1400" baseline="-25000" dirty="0">
                    <a:solidFill>
                      <a:schemeClr val="accent2"/>
                    </a:solidFill>
                  </a:rPr>
                  <a:t>W6</a:t>
                </a:r>
              </a:p>
            </p:txBody>
          </p:sp>
        </mc:Choice>
        <mc:Fallback xmlns="">
          <p:sp>
            <p:nvSpPr>
              <p:cNvPr id="88" name="ZoneTexte 87">
                <a:extLst>
                  <a:ext uri="{FF2B5EF4-FFF2-40B4-BE49-F238E27FC236}">
                    <a16:creationId xmlns:a16="http://schemas.microsoft.com/office/drawing/2014/main" id="{F68DDD31-B565-4E2E-B202-49703FCFC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137" y="3423219"/>
                <a:ext cx="397545" cy="210507"/>
              </a:xfrm>
              <a:prstGeom prst="rect">
                <a:avLst/>
              </a:prstGeom>
              <a:blipFill>
                <a:blip r:embed="rId10"/>
                <a:stretch>
                  <a:fillRect l="-18182" r="-16667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06180083-6459-4522-8DE2-30C610597B72}"/>
                  </a:ext>
                </a:extLst>
              </p:cNvPr>
              <p:cNvSpPr txBox="1"/>
              <p:nvPr/>
            </p:nvSpPr>
            <p:spPr>
              <a:xfrm>
                <a:off x="5221701" y="4548405"/>
                <a:ext cx="390620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6,</m:t>
                    </m:r>
                    <m:r>
                      <m:rPr>
                        <m:sty m:val="p"/>
                      </m:rPr>
                      <a:rPr lang="en-US" sz="1400" b="0" i="0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1400" baseline="-25000" dirty="0">
                    <a:solidFill>
                      <a:schemeClr val="accent2"/>
                    </a:solidFill>
                  </a:rPr>
                  <a:t>4</a:t>
                </a:r>
              </a:p>
            </p:txBody>
          </p:sp>
        </mc:Choice>
        <mc:Fallback xmlns="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06180083-6459-4522-8DE2-30C610597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701" y="4548405"/>
                <a:ext cx="390620" cy="210507"/>
              </a:xfrm>
              <a:prstGeom prst="rect">
                <a:avLst/>
              </a:prstGeom>
              <a:blipFill>
                <a:blip r:embed="rId11"/>
                <a:stretch>
                  <a:fillRect l="-20313" r="-18750" b="-4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ZoneTexte 89">
            <a:extLst>
              <a:ext uri="{FF2B5EF4-FFF2-40B4-BE49-F238E27FC236}">
                <a16:creationId xmlns:a16="http://schemas.microsoft.com/office/drawing/2014/main" id="{60C73C9D-0508-4E17-9E28-7499C5CC9EF3}"/>
              </a:ext>
            </a:extLst>
          </p:cNvPr>
          <p:cNvSpPr txBox="1"/>
          <p:nvPr/>
        </p:nvSpPr>
        <p:spPr>
          <a:xfrm>
            <a:off x="5927313" y="4264488"/>
            <a:ext cx="433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Y6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B17EC2A1-5387-4614-8E9D-86B92C089EFD}"/>
                  </a:ext>
                </a:extLst>
              </p:cNvPr>
              <p:cNvSpPr txBox="1"/>
              <p:nvPr/>
            </p:nvSpPr>
            <p:spPr>
              <a:xfrm>
                <a:off x="5267818" y="5614166"/>
                <a:ext cx="390620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7,</m:t>
                    </m:r>
                    <m:r>
                      <m:rPr>
                        <m:sty m:val="p"/>
                      </m:rPr>
                      <a:rPr lang="en-US" sz="1400" b="0" i="0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1400" baseline="-25000" dirty="0">
                    <a:solidFill>
                      <a:schemeClr val="accent2"/>
                    </a:solidFill>
                  </a:rPr>
                  <a:t>5</a:t>
                </a:r>
              </a:p>
            </p:txBody>
          </p:sp>
        </mc:Choice>
        <mc:Fallback xmlns="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B17EC2A1-5387-4614-8E9D-86B92C089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818" y="5614166"/>
                <a:ext cx="390620" cy="210507"/>
              </a:xfrm>
              <a:prstGeom prst="rect">
                <a:avLst/>
              </a:prstGeom>
              <a:blipFill>
                <a:blip r:embed="rId12"/>
                <a:stretch>
                  <a:fillRect l="-18750" r="-1875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79FD720C-B9A4-423B-A94C-D125553DA728}"/>
                  </a:ext>
                </a:extLst>
              </p:cNvPr>
              <p:cNvSpPr txBox="1"/>
              <p:nvPr/>
            </p:nvSpPr>
            <p:spPr>
              <a:xfrm>
                <a:off x="4010377" y="5563493"/>
                <a:ext cx="390620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5,</m:t>
                    </m:r>
                    <m:r>
                      <m:rPr>
                        <m:sty m:val="p"/>
                      </m:rPr>
                      <a:rPr lang="en-US" sz="1400" b="0" i="0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1400" baseline="-25000" dirty="0">
                    <a:solidFill>
                      <a:schemeClr val="accent2"/>
                    </a:solidFill>
                  </a:rPr>
                  <a:t>3</a:t>
                </a:r>
              </a:p>
            </p:txBody>
          </p:sp>
        </mc:Choice>
        <mc:Fallback xmlns="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79FD720C-B9A4-423B-A94C-D125553DA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377" y="5563493"/>
                <a:ext cx="390620" cy="210507"/>
              </a:xfrm>
              <a:prstGeom prst="rect">
                <a:avLst/>
              </a:prstGeom>
              <a:blipFill>
                <a:blip r:embed="rId13"/>
                <a:stretch>
                  <a:fillRect l="-20313" r="-1875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3BF7DE09-F96F-4E6F-BF9E-C03DDCAD9EEC}"/>
                  </a:ext>
                </a:extLst>
              </p:cNvPr>
              <p:cNvSpPr txBox="1"/>
              <p:nvPr/>
            </p:nvSpPr>
            <p:spPr>
              <a:xfrm>
                <a:off x="4007762" y="3800704"/>
                <a:ext cx="390620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4,</m:t>
                    </m:r>
                    <m:r>
                      <m:rPr>
                        <m:sty m:val="p"/>
                      </m:rPr>
                      <a:rPr lang="en-US" sz="1400" b="0" i="0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1400" baseline="-25000" dirty="0">
                    <a:solidFill>
                      <a:schemeClr val="accent2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3BF7DE09-F96F-4E6F-BF9E-C03DDCAD9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762" y="3800704"/>
                <a:ext cx="390620" cy="210507"/>
              </a:xfrm>
              <a:prstGeom prst="rect">
                <a:avLst/>
              </a:prstGeom>
              <a:blipFill>
                <a:blip r:embed="rId14"/>
                <a:stretch>
                  <a:fillRect l="-18462" r="-16923" b="-4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0F1465AA-5294-4163-9AA3-128769A1C087}"/>
                  </a:ext>
                </a:extLst>
              </p:cNvPr>
              <p:cNvSpPr txBox="1"/>
              <p:nvPr/>
            </p:nvSpPr>
            <p:spPr>
              <a:xfrm>
                <a:off x="2803602" y="3800703"/>
                <a:ext cx="390620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2,</m:t>
                    </m:r>
                    <m:r>
                      <m:rPr>
                        <m:sty m:val="p"/>
                      </m:rPr>
                      <a:rPr lang="en-US" sz="1400" b="0" i="0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1400" baseline="-25000" dirty="0">
                    <a:solidFill>
                      <a:schemeClr val="accent2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0F1465AA-5294-4163-9AA3-128769A1C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602" y="3800703"/>
                <a:ext cx="390620" cy="210507"/>
              </a:xfrm>
              <a:prstGeom prst="rect">
                <a:avLst/>
              </a:prstGeom>
              <a:blipFill>
                <a:blip r:embed="rId15"/>
                <a:stretch>
                  <a:fillRect l="-20313" r="-18750" b="-4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C1572B8A-2988-49D7-A4DA-DA8CA880F218}"/>
                  </a:ext>
                </a:extLst>
              </p:cNvPr>
              <p:cNvSpPr txBox="1"/>
              <p:nvPr/>
            </p:nvSpPr>
            <p:spPr>
              <a:xfrm>
                <a:off x="2763035" y="4847441"/>
                <a:ext cx="349455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3,</m:t>
                    </m:r>
                  </m:oMath>
                </a14:m>
                <a:r>
                  <a:rPr lang="en-US" sz="1400" baseline="-25000" dirty="0">
                    <a:solidFill>
                      <a:schemeClr val="accent2"/>
                    </a:solidFill>
                  </a:rPr>
                  <a:t>Y1</a:t>
                </a:r>
              </a:p>
            </p:txBody>
          </p:sp>
        </mc:Choice>
        <mc:Fallback xmlns="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C1572B8A-2988-49D7-A4DA-DA8CA880F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035" y="4847441"/>
                <a:ext cx="349455" cy="210507"/>
              </a:xfrm>
              <a:prstGeom prst="rect">
                <a:avLst/>
              </a:prstGeom>
              <a:blipFill>
                <a:blip r:embed="rId16"/>
                <a:stretch>
                  <a:fillRect l="-20690" r="-18966" b="-4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ZoneTexte 95">
                <a:extLst>
                  <a:ext uri="{FF2B5EF4-FFF2-40B4-BE49-F238E27FC236}">
                    <a16:creationId xmlns:a16="http://schemas.microsoft.com/office/drawing/2014/main" id="{C3700187-9B89-4FBB-9833-3DDAE011C596}"/>
                  </a:ext>
                </a:extLst>
              </p:cNvPr>
              <p:cNvSpPr txBox="1"/>
              <p:nvPr/>
            </p:nvSpPr>
            <p:spPr>
              <a:xfrm>
                <a:off x="3101297" y="5997617"/>
                <a:ext cx="432298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3,</m:t>
                    </m:r>
                    <m:r>
                      <m:rPr>
                        <m:sty m:val="p"/>
                      </m:rPr>
                      <a:rPr lang="en-US" sz="1400" b="0" i="0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1400" baseline="-25000" dirty="0">
                    <a:solidFill>
                      <a:schemeClr val="accent2"/>
                    </a:solidFill>
                  </a:rPr>
                  <a:t>3</a:t>
                </a:r>
              </a:p>
            </p:txBody>
          </p:sp>
        </mc:Choice>
        <mc:Fallback xmlns="">
          <p:sp>
            <p:nvSpPr>
              <p:cNvPr id="96" name="ZoneTexte 95">
                <a:extLst>
                  <a:ext uri="{FF2B5EF4-FFF2-40B4-BE49-F238E27FC236}">
                    <a16:creationId xmlns:a16="http://schemas.microsoft.com/office/drawing/2014/main" id="{C3700187-9B89-4FBB-9833-3DDAE011C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297" y="5997617"/>
                <a:ext cx="432298" cy="210507"/>
              </a:xfrm>
              <a:prstGeom prst="rect">
                <a:avLst/>
              </a:prstGeom>
              <a:blipFill>
                <a:blip r:embed="rId17"/>
                <a:stretch>
                  <a:fillRect l="-18310" r="-15493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BF52BE6D-3C4B-4206-BC7A-6CA9E6620F02}"/>
                  </a:ext>
                </a:extLst>
              </p:cNvPr>
              <p:cNvSpPr txBox="1"/>
              <p:nvPr/>
            </p:nvSpPr>
            <p:spPr>
              <a:xfrm>
                <a:off x="1765490" y="5653970"/>
                <a:ext cx="397545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400" b="0" i="1" baseline="-2500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</m:t>
                    </m:r>
                  </m:oMath>
                </a14:m>
                <a:r>
                  <a:rPr lang="en-US" sz="1400" baseline="-25000" dirty="0">
                    <a:solidFill>
                      <a:schemeClr val="accent2"/>
                    </a:solidFill>
                  </a:rPr>
                  <a:t>W1</a:t>
                </a:r>
              </a:p>
            </p:txBody>
          </p:sp>
        </mc:Choice>
        <mc:Fallback xmlns="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BF52BE6D-3C4B-4206-BC7A-6CA9E6620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490" y="5653970"/>
                <a:ext cx="397545" cy="210507"/>
              </a:xfrm>
              <a:prstGeom prst="rect">
                <a:avLst/>
              </a:prstGeom>
              <a:blipFill>
                <a:blip r:embed="rId18"/>
                <a:stretch>
                  <a:fillRect l="-20000" r="-18462" b="-4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9E2A11E5-BB43-4B7D-A2D3-5064D104ADD7}"/>
              </a:ext>
            </a:extLst>
          </p:cNvPr>
          <p:cNvSpPr txBox="1"/>
          <p:nvPr/>
        </p:nvSpPr>
        <p:spPr>
          <a:xfrm>
            <a:off x="7909817" y="1748901"/>
            <a:ext cx="2769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J: la </a:t>
            </a:r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en-US" dirty="0" err="1"/>
              <a:t>Jacobienne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1431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New concepts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10993348" cy="5221448"/>
          </a:xfrm>
        </p:spPr>
        <p:txBody>
          <a:bodyPr>
            <a:normAutofit/>
          </a:bodyPr>
          <a:lstStyle/>
          <a:p>
            <a:r>
              <a:rPr lang="fr-FR" dirty="0"/>
              <a:t>Composition of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Train set, validation set, test set</a:t>
            </a:r>
          </a:p>
          <a:p>
            <a:r>
              <a:rPr lang="fr-FR" dirty="0"/>
              <a:t>Hyper-</a:t>
            </a:r>
            <a:r>
              <a:rPr lang="fr-FR" dirty="0" err="1"/>
              <a:t>parameters</a:t>
            </a:r>
            <a:r>
              <a:rPr lang="fr-FR" dirty="0"/>
              <a:t> – configuration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not change </a:t>
            </a:r>
            <a:r>
              <a:rPr lang="fr-FR" dirty="0" err="1"/>
              <a:t>during</a:t>
            </a:r>
            <a:r>
              <a:rPr lang="fr-FR" dirty="0"/>
              <a:t> training</a:t>
            </a:r>
          </a:p>
          <a:p>
            <a:pPr lvl="1"/>
            <a:r>
              <a:rPr lang="fr-FR" dirty="0"/>
              <a:t>Graph architecture, </a:t>
            </a:r>
            <a:r>
              <a:rPr lang="fr-FR" dirty="0" err="1"/>
              <a:t>learning</a:t>
            </a:r>
            <a:r>
              <a:rPr lang="fr-FR" dirty="0"/>
              <a:t> rate, </a:t>
            </a:r>
            <a:r>
              <a:rPr lang="fr-FR" dirty="0" err="1"/>
              <a:t>epochs</a:t>
            </a:r>
            <a:r>
              <a:rPr lang="fr-FR" dirty="0"/>
              <a:t>, batch size, </a:t>
            </a:r>
            <a:r>
              <a:rPr lang="fr-FR" dirty="0" err="1"/>
              <a:t>optimizer</a:t>
            </a:r>
            <a:r>
              <a:rPr lang="fr-FR" dirty="0"/>
              <a:t>, </a:t>
            </a:r>
            <a:r>
              <a:rPr lang="fr-FR" dirty="0" err="1"/>
              <a:t>loss</a:t>
            </a:r>
            <a:r>
              <a:rPr lang="fr-FR" dirty="0"/>
              <a:t> </a:t>
            </a:r>
            <a:r>
              <a:rPr lang="fr-FR" dirty="0" err="1"/>
              <a:t>function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38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192694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10993348" cy="5221448"/>
          </a:xfrm>
        </p:spPr>
        <p:txBody>
          <a:bodyPr>
            <a:normAutofit fontScale="92500" lnSpcReduction="20000"/>
          </a:bodyPr>
          <a:lstStyle/>
          <a:p>
            <a:pPr marL="98425" indent="0">
              <a:buNone/>
            </a:pPr>
            <a:r>
              <a:rPr lang="fr-FR" dirty="0"/>
              <a:t>The </a:t>
            </a:r>
            <a:r>
              <a:rPr lang="fr-FR" dirty="0" err="1"/>
              <a:t>whole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representative</a:t>
            </a:r>
            <a:r>
              <a:rPr lang="fr-FR" dirty="0"/>
              <a:t> of the </a:t>
            </a:r>
            <a:r>
              <a:rPr lang="fr-FR" dirty="0" err="1"/>
              <a:t>task</a:t>
            </a:r>
            <a:r>
              <a:rPr lang="fr-FR" dirty="0"/>
              <a:t> on </a:t>
            </a:r>
            <a:r>
              <a:rPr lang="fr-FR" dirty="0" err="1"/>
              <a:t>which</a:t>
            </a:r>
            <a:r>
              <a:rPr lang="fr-FR" dirty="0"/>
              <a:t> the network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work</a:t>
            </a:r>
            <a:endParaRPr lang="fr-FR" dirty="0"/>
          </a:p>
          <a:p>
            <a:r>
              <a:rPr lang="fr-FR" dirty="0"/>
              <a:t>Train set (</a:t>
            </a:r>
            <a:r>
              <a:rPr lang="fr-FR" dirty="0" err="1"/>
              <a:t>usually</a:t>
            </a:r>
            <a:r>
              <a:rPr lang="fr-FR" dirty="0"/>
              <a:t> 60% of the </a:t>
            </a:r>
            <a:r>
              <a:rPr lang="fr-FR" dirty="0" err="1"/>
              <a:t>dataset</a:t>
            </a:r>
            <a:r>
              <a:rPr lang="fr-FR" dirty="0"/>
              <a:t>)</a:t>
            </a:r>
          </a:p>
          <a:p>
            <a:pPr lvl="1"/>
            <a:r>
              <a:rPr lang="en-US" dirty="0"/>
              <a:t>The portion of the dataset used to train the model (learning=training). The network updates its weights based on this data by trying to minimize the error (loss function).</a:t>
            </a:r>
            <a:endParaRPr lang="fr-FR" dirty="0"/>
          </a:p>
          <a:p>
            <a:r>
              <a:rPr lang="fr-FR" dirty="0"/>
              <a:t>Validation set (~20%)</a:t>
            </a:r>
          </a:p>
          <a:p>
            <a:pPr lvl="1"/>
            <a:r>
              <a:rPr lang="en-US" dirty="0"/>
              <a:t>The model does not learn from this data directly. It’s mainly used to check performance during training and detect overfitting. Helps decide when to stop training (early stopping).</a:t>
            </a:r>
            <a:endParaRPr lang="fr-FR" dirty="0"/>
          </a:p>
          <a:p>
            <a:r>
              <a:rPr lang="fr-FR" dirty="0"/>
              <a:t>Test set (~20%)</a:t>
            </a:r>
          </a:p>
          <a:p>
            <a:pPr lvl="1"/>
            <a:r>
              <a:rPr lang="en-US" dirty="0"/>
              <a:t>A completely unseen portion of the dataset used to evaluate the final model’s performance. It measures how well the model generalizes to new, real-world data. It should only be used once training and tuning are finished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39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49719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3360026" cy="5221448"/>
          </a:xfrm>
        </p:spPr>
        <p:txBody>
          <a:bodyPr>
            <a:normAutofit/>
          </a:bodyPr>
          <a:lstStyle/>
          <a:p>
            <a:r>
              <a:rPr lang="fr-FR" dirty="0"/>
              <a:t>A </a:t>
            </a:r>
            <a:r>
              <a:rPr lang="fr-FR" dirty="0" err="1"/>
              <a:t>sample</a:t>
            </a:r>
            <a:endParaRPr lang="fr-FR" dirty="0"/>
          </a:p>
          <a:p>
            <a:pPr lvl="1"/>
            <a:r>
              <a:rPr lang="en-US" dirty="0"/>
              <a:t>One element of the dataset with the input and the target. Denominations depend on the Task.</a:t>
            </a:r>
          </a:p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40</a:t>
            </a:fld>
            <a:endParaRPr lang="en-CA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57526B0-0360-4A0A-BA23-7879C8A4E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278" y="1500027"/>
            <a:ext cx="7331396" cy="494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37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10993348" cy="5221448"/>
          </a:xfrm>
        </p:spPr>
        <p:txBody>
          <a:bodyPr>
            <a:normAutofit/>
          </a:bodyPr>
          <a:lstStyle/>
          <a:p>
            <a:pPr marL="98425" indent="0">
              <a:buNone/>
            </a:pPr>
            <a:r>
              <a:rPr lang="fr-FR" dirty="0"/>
              <a:t>The </a:t>
            </a:r>
            <a:r>
              <a:rPr lang="fr-FR" dirty="0" err="1"/>
              <a:t>whole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representative</a:t>
            </a:r>
            <a:r>
              <a:rPr lang="fr-FR" dirty="0"/>
              <a:t> of the </a:t>
            </a:r>
            <a:r>
              <a:rPr lang="fr-FR" dirty="0" err="1"/>
              <a:t>task</a:t>
            </a:r>
            <a:r>
              <a:rPr lang="fr-FR" dirty="0"/>
              <a:t> on </a:t>
            </a:r>
            <a:r>
              <a:rPr lang="fr-FR" dirty="0" err="1"/>
              <a:t>which</a:t>
            </a:r>
            <a:r>
              <a:rPr lang="fr-FR" dirty="0"/>
              <a:t> the network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work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41</a:t>
            </a:fld>
            <a:endParaRPr lang="en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C3A9CF0-7401-4D2D-ADBD-5FB8423EC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060" y="2952749"/>
            <a:ext cx="8096250" cy="390525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8A3E08E-CABD-4763-A727-59EAEBF3373C}"/>
              </a:ext>
            </a:extLst>
          </p:cNvPr>
          <p:cNvSpPr txBox="1"/>
          <p:nvPr/>
        </p:nvSpPr>
        <p:spPr>
          <a:xfrm>
            <a:off x="4482790" y="2952749"/>
            <a:ext cx="206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Early stopping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C679CC-EC59-4182-8BE9-0732C2A1E5F2}"/>
              </a:ext>
            </a:extLst>
          </p:cNvPr>
          <p:cNvSpPr/>
          <p:nvPr/>
        </p:nvSpPr>
        <p:spPr>
          <a:xfrm>
            <a:off x="8084634" y="6456556"/>
            <a:ext cx="635620" cy="264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EDC4EC-E808-4192-9EDF-AD6710FC0706}"/>
              </a:ext>
            </a:extLst>
          </p:cNvPr>
          <p:cNvSpPr/>
          <p:nvPr/>
        </p:nvSpPr>
        <p:spPr>
          <a:xfrm>
            <a:off x="9332559" y="6476496"/>
            <a:ext cx="635620" cy="264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40FCD496-ECA6-4251-AE27-952B165843DB}"/>
              </a:ext>
            </a:extLst>
          </p:cNvPr>
          <p:cNvCxnSpPr/>
          <p:nvPr/>
        </p:nvCxnSpPr>
        <p:spPr>
          <a:xfrm>
            <a:off x="5093208" y="5495544"/>
            <a:ext cx="3858768" cy="0"/>
          </a:xfrm>
          <a:prstGeom prst="line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CD0A8152-603E-4864-913B-C85EF97C0B4A}"/>
              </a:ext>
            </a:extLst>
          </p:cNvPr>
          <p:cNvSpPr txBox="1"/>
          <p:nvPr/>
        </p:nvSpPr>
        <p:spPr>
          <a:xfrm>
            <a:off x="9162288" y="5148072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loss on the test set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E265E9C-9805-4ECB-839B-618357E97D5C}"/>
              </a:ext>
            </a:extLst>
          </p:cNvPr>
          <p:cNvSpPr txBox="1"/>
          <p:nvPr/>
        </p:nvSpPr>
        <p:spPr>
          <a:xfrm>
            <a:off x="8894742" y="4017784"/>
            <a:ext cx="287456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Train set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B84862A-2862-49D3-A2BA-CFCA2E2E0745}"/>
              </a:ext>
            </a:extLst>
          </p:cNvPr>
          <p:cNvSpPr txBox="1"/>
          <p:nvPr/>
        </p:nvSpPr>
        <p:spPr>
          <a:xfrm>
            <a:off x="8903886" y="3522606"/>
            <a:ext cx="287456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Validation set</a:t>
            </a:r>
          </a:p>
        </p:txBody>
      </p:sp>
    </p:spTree>
    <p:extLst>
      <p:ext uri="{BB962C8B-B14F-4D97-AF65-F5344CB8AC3E}">
        <p14:creationId xmlns:p14="http://schemas.microsoft.com/office/powerpoint/2010/main" val="24286715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8D7C-5861-CBD5-CCD8-DE20AD1A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Training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463DB-7134-B569-C7EC-9FBDC03F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5902058" cy="5221448"/>
          </a:xfrm>
        </p:spPr>
        <p:txBody>
          <a:bodyPr>
            <a:normAutofit fontScale="92500"/>
          </a:bodyPr>
          <a:lstStyle/>
          <a:p>
            <a:r>
              <a:rPr lang="fr-FR" dirty="0"/>
              <a:t>The </a:t>
            </a:r>
            <a:r>
              <a:rPr lang="fr-FR" dirty="0" err="1"/>
              <a:t>minimization</a:t>
            </a:r>
            <a:r>
              <a:rPr lang="fr-FR" dirty="0"/>
              <a:t> of the </a:t>
            </a:r>
            <a:r>
              <a:rPr lang="fr-FR" dirty="0" err="1"/>
              <a:t>loss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(</a:t>
            </a:r>
            <a:r>
              <a:rPr lang="fr-FR" dirty="0" err="1"/>
              <a:t>error</a:t>
            </a:r>
            <a:r>
              <a:rPr lang="fr-FR" dirty="0"/>
              <a:t>)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« drives » the modification of the network to </a:t>
            </a:r>
            <a:r>
              <a:rPr lang="fr-FR" dirty="0" err="1"/>
              <a:t>adapt</a:t>
            </a:r>
            <a:r>
              <a:rPr lang="fr-FR" dirty="0"/>
              <a:t>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synaptic</a:t>
            </a:r>
            <a:r>
              <a:rPr lang="fr-FR" dirty="0"/>
              <a:t> </a:t>
            </a:r>
            <a:r>
              <a:rPr lang="fr-FR" dirty="0" err="1"/>
              <a:t>weights</a:t>
            </a:r>
            <a:r>
              <a:rPr lang="fr-FR" dirty="0"/>
              <a:t>. It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mathematical</a:t>
            </a:r>
            <a:r>
              <a:rPr lang="fr-FR" dirty="0"/>
              <a:t> « </a:t>
            </a:r>
            <a:r>
              <a:rPr lang="fr-FR" dirty="0" err="1"/>
              <a:t>energy</a:t>
            </a:r>
            <a:r>
              <a:rPr lang="fr-FR" dirty="0"/>
              <a:t> ».</a:t>
            </a:r>
          </a:p>
          <a:p>
            <a:r>
              <a:rPr lang="fr-FR" dirty="0"/>
              <a:t>The final performance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given</a:t>
            </a:r>
            <a:r>
              <a:rPr lang="fr-FR" dirty="0"/>
              <a:t> in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metrics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explain</a:t>
            </a:r>
            <a:r>
              <a:rPr lang="fr-FR" dirty="0"/>
              <a:t> </a:t>
            </a:r>
            <a:r>
              <a:rPr lang="en-US" dirty="0"/>
              <a:t>how good the network actually is at the task. Sometime (rarely) the performance metric and the loss are the same (e.g.: mean square error for regression).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F3EEEB-AB4A-16ED-02BC-2EE93036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42</a:t>
            </a:fld>
            <a:endParaRPr lang="en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C679CC-EC59-4182-8BE9-0732C2A1E5F2}"/>
              </a:ext>
            </a:extLst>
          </p:cNvPr>
          <p:cNvSpPr/>
          <p:nvPr/>
        </p:nvSpPr>
        <p:spPr>
          <a:xfrm>
            <a:off x="8084634" y="6456556"/>
            <a:ext cx="635620" cy="264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EDC4EC-E808-4192-9EDF-AD6710FC0706}"/>
              </a:ext>
            </a:extLst>
          </p:cNvPr>
          <p:cNvSpPr/>
          <p:nvPr/>
        </p:nvSpPr>
        <p:spPr>
          <a:xfrm>
            <a:off x="9332559" y="6476496"/>
            <a:ext cx="635620" cy="264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4EC0BF-EE00-4C23-88C6-BF1639787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573" y="1700784"/>
            <a:ext cx="5312303" cy="418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71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166FC7-FABD-403E-84B0-C83C3FDCD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Hyper-</a:t>
            </a:r>
            <a:r>
              <a:rPr lang="fr-FR" dirty="0" err="1"/>
              <a:t>parameters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456EDF-21BC-4396-99C1-81A5B0B6A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14" y="2044539"/>
            <a:ext cx="5170538" cy="4676936"/>
          </a:xfrm>
        </p:spPr>
        <p:txBody>
          <a:bodyPr/>
          <a:lstStyle/>
          <a:p>
            <a:r>
              <a:rPr lang="en-US" dirty="0"/>
              <a:t>Graph architecture</a:t>
            </a:r>
          </a:p>
          <a:p>
            <a:pPr marL="98425" indent="0">
              <a:buNone/>
            </a:pPr>
            <a:r>
              <a:rPr lang="en-US" dirty="0"/>
              <a:t>The structure of the neural network: how layers and nodes are organized and connected. It defines how information flows from inputs to outputs (e.g., fully connected layers, convolutional layers, recurrent layers).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3DF0EE-495E-4C09-91D8-4D678C1E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43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CF02E92-718E-4BFF-ABB4-E22EAB35A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260" y="1027416"/>
            <a:ext cx="3599126" cy="583058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E6ACECD-C88B-4DF6-B8E3-411AC82F1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093" y="1149587"/>
            <a:ext cx="2827773" cy="164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4325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166FC7-FABD-403E-84B0-C83C3FDCD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Hyper-</a:t>
            </a:r>
            <a:r>
              <a:rPr lang="fr-FR" dirty="0" err="1"/>
              <a:t>parameters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456EDF-21BC-4396-99C1-81A5B0B6A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6" y="1500027"/>
            <a:ext cx="5033378" cy="4676936"/>
          </a:xfrm>
        </p:spPr>
        <p:txBody>
          <a:bodyPr/>
          <a:lstStyle/>
          <a:p>
            <a:r>
              <a:rPr lang="en-US" dirty="0"/>
              <a:t>Loss function</a:t>
            </a:r>
          </a:p>
          <a:p>
            <a:pPr marL="98425" indent="0">
              <a:buNone/>
            </a:pPr>
            <a:r>
              <a:rPr lang="en-US" dirty="0"/>
              <a:t>A mathematical function that measures how far the network’s predictions are from the target values (error). Guides the optimizer by providing feedback. Examples: Mean Squared Error (MSE) for regression, Cross-Entropy Loss for classification.</a:t>
            </a:r>
          </a:p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3DF0EE-495E-4C09-91D8-4D678C1E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44</a:t>
            </a:fld>
            <a:endParaRPr lang="en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B2DC938-C8B6-4397-966B-A44E4EE43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806" y="1500027"/>
            <a:ext cx="5334006" cy="400050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631C15A-7A33-4FE8-A11B-64A7127884AA}"/>
              </a:ext>
            </a:extLst>
          </p:cNvPr>
          <p:cNvSpPr txBox="1"/>
          <p:nvPr/>
        </p:nvSpPr>
        <p:spPr>
          <a:xfrm>
            <a:off x="8675738" y="5500532"/>
            <a:ext cx="1565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- target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6FDD0AE-0FDC-442F-A2CE-AD2BED4EB85F}"/>
              </a:ext>
            </a:extLst>
          </p:cNvPr>
          <p:cNvSpPr txBox="1"/>
          <p:nvPr/>
        </p:nvSpPr>
        <p:spPr>
          <a:xfrm rot="16200000">
            <a:off x="5760515" y="3030544"/>
            <a:ext cx="184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L</a:t>
            </a:r>
            <a:r>
              <a:rPr lang="en-US" dirty="0"/>
              <a:t>(output – target)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836AB03-AFD4-4653-B039-88D87838DB8B}"/>
              </a:ext>
            </a:extLst>
          </p:cNvPr>
          <p:cNvSpPr txBox="1"/>
          <p:nvPr/>
        </p:nvSpPr>
        <p:spPr>
          <a:xfrm>
            <a:off x="7845552" y="6007608"/>
            <a:ext cx="3145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 of loss functions used for regression</a:t>
            </a:r>
          </a:p>
        </p:txBody>
      </p:sp>
    </p:spTree>
    <p:extLst>
      <p:ext uri="{BB962C8B-B14F-4D97-AF65-F5344CB8AC3E}">
        <p14:creationId xmlns:p14="http://schemas.microsoft.com/office/powerpoint/2010/main" val="1733444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166FC7-FABD-403E-84B0-C83C3FDCD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Hyper-</a:t>
            </a:r>
            <a:r>
              <a:rPr lang="fr-FR" dirty="0" err="1"/>
              <a:t>parameters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456EDF-21BC-4396-99C1-81A5B0B6A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Optimizer</a:t>
            </a:r>
          </a:p>
          <a:p>
            <a:pPr marL="98425" indent="0">
              <a:buNone/>
            </a:pPr>
            <a:r>
              <a:rPr lang="en-US" dirty="0"/>
              <a:t>The algorithm used to adjust the neural network’s weights based on the gradients of the loss function. Common examples: SGD (Stochastic Gradient Descent), Adam, </a:t>
            </a:r>
            <a:r>
              <a:rPr lang="en-US" dirty="0" err="1"/>
              <a:t>RMSprop</a:t>
            </a:r>
            <a:r>
              <a:rPr lang="en-US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3DF0EE-495E-4C09-91D8-4D678C1E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45</a:t>
            </a:fld>
            <a:endParaRPr lang="en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EFE2AB2-CFAD-4895-84A6-0467D9743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206" y="3324681"/>
            <a:ext cx="6793588" cy="339679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756C434-630B-4049-A878-38244165FB83}"/>
              </a:ext>
            </a:extLst>
          </p:cNvPr>
          <p:cNvSpPr txBox="1"/>
          <p:nvPr/>
        </p:nvSpPr>
        <p:spPr>
          <a:xfrm>
            <a:off x="8083296" y="4160520"/>
            <a:ext cx="302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Momentum = inertia</a:t>
            </a:r>
          </a:p>
        </p:txBody>
      </p:sp>
    </p:spTree>
    <p:extLst>
      <p:ext uri="{BB962C8B-B14F-4D97-AF65-F5344CB8AC3E}">
        <p14:creationId xmlns:p14="http://schemas.microsoft.com/office/powerpoint/2010/main" val="18369949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166FC7-FABD-403E-84B0-C83C3FDCD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Hyper-</a:t>
            </a:r>
            <a:r>
              <a:rPr lang="fr-FR" dirty="0" err="1"/>
              <a:t>parameters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456EDF-21BC-4396-99C1-81A5B0B6A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rate</a:t>
            </a:r>
          </a:p>
          <a:p>
            <a:pPr marL="98425" indent="0">
              <a:buNone/>
            </a:pPr>
            <a:r>
              <a:rPr lang="en-US" dirty="0"/>
              <a:t>A hyperparameter that controls how much the model’s weights are updated during training. A high learning rate → faster learning but risk of instability. A low learning rate → more stable but slower convergence</a:t>
            </a:r>
          </a:p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3DF0EE-495E-4C09-91D8-4D678C1E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46</a:t>
            </a:fld>
            <a:endParaRPr lang="en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7FD8E5E-A5B6-4C69-96AC-7A928437B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4" y="3957300"/>
            <a:ext cx="7478839" cy="290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091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166FC7-FABD-403E-84B0-C83C3FDCD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Hyper-</a:t>
            </a:r>
            <a:r>
              <a:rPr lang="fr-FR" dirty="0" err="1"/>
              <a:t>parameters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456EDF-21BC-4396-99C1-81A5B0B6A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656" y="1500027"/>
            <a:ext cx="3497186" cy="522144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Epochs</a:t>
            </a:r>
          </a:p>
          <a:p>
            <a:pPr marL="98425" indent="0">
              <a:buNone/>
            </a:pPr>
            <a:r>
              <a:rPr lang="en-US" dirty="0"/>
              <a:t>The number of times the entire training dataset is passed through the network during training. 1 epoch = the model has seen each training example once. More epochs can improve learning, but too many may lead to overfitting.</a:t>
            </a:r>
          </a:p>
          <a:p>
            <a:pPr marL="98425" indent="0">
              <a:buNone/>
            </a:pP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3DF0EE-495E-4C09-91D8-4D678C1E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4E17-147F-4F49-A3E3-6B2A50F8D9A1}" type="slidenum">
              <a:rPr lang="en-CA" smtClean="0"/>
              <a:pPr/>
              <a:t>47</a:t>
            </a:fld>
            <a:endParaRPr lang="en-CA" dirty="0"/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838E939C-1346-4CAF-B436-4C08086E4F90}"/>
              </a:ext>
            </a:extLst>
          </p:cNvPr>
          <p:cNvSpPr txBox="1">
            <a:spLocks/>
          </p:cNvSpPr>
          <p:nvPr/>
        </p:nvSpPr>
        <p:spPr>
          <a:xfrm>
            <a:off x="927161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624E17-147F-4F49-A3E3-6B2A50F8D9A1}" type="slidenum">
              <a:rPr lang="en-CA" smtClean="0"/>
              <a:pPr/>
              <a:t>47</a:t>
            </a:fld>
            <a:endParaRPr lang="en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AC1961B-4742-4A6D-8219-50CEC0C66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588" y="1908535"/>
            <a:ext cx="8096250" cy="390525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D95EC26-3E88-45E5-BAC4-BA9D57B698BD}"/>
              </a:ext>
            </a:extLst>
          </p:cNvPr>
          <p:cNvSpPr txBox="1"/>
          <p:nvPr/>
        </p:nvSpPr>
        <p:spPr>
          <a:xfrm>
            <a:off x="6421318" y="1908535"/>
            <a:ext cx="206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Early stopping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6C3384-CC6F-4502-88BB-535561A3FA73}"/>
              </a:ext>
            </a:extLst>
          </p:cNvPr>
          <p:cNvSpPr/>
          <p:nvPr/>
        </p:nvSpPr>
        <p:spPr>
          <a:xfrm>
            <a:off x="10023162" y="5412342"/>
            <a:ext cx="635620" cy="264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7CC6DA-7AA6-49E5-978D-41F2F468F574}"/>
              </a:ext>
            </a:extLst>
          </p:cNvPr>
          <p:cNvSpPr/>
          <p:nvPr/>
        </p:nvSpPr>
        <p:spPr>
          <a:xfrm>
            <a:off x="11271087" y="5432282"/>
            <a:ext cx="635620" cy="264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E3BB1D9-8CB2-4ABB-81FD-9A9E5E66174A}"/>
              </a:ext>
            </a:extLst>
          </p:cNvPr>
          <p:cNvSpPr txBox="1"/>
          <p:nvPr/>
        </p:nvSpPr>
        <p:spPr>
          <a:xfrm>
            <a:off x="10833270" y="2973570"/>
            <a:ext cx="287456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Train set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6E7BAA3-9E0A-4289-83A2-71BD38C8E44B}"/>
              </a:ext>
            </a:extLst>
          </p:cNvPr>
          <p:cNvSpPr txBox="1"/>
          <p:nvPr/>
        </p:nvSpPr>
        <p:spPr>
          <a:xfrm>
            <a:off x="10842414" y="2478392"/>
            <a:ext cx="287456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Validation set</a:t>
            </a:r>
          </a:p>
        </p:txBody>
      </p:sp>
    </p:spTree>
    <p:extLst>
      <p:ext uri="{BB962C8B-B14F-4D97-AF65-F5344CB8AC3E}">
        <p14:creationId xmlns:p14="http://schemas.microsoft.com/office/powerpoint/2010/main" val="26322776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166FC7-FABD-403E-84B0-C83C3FDCD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Hyper-</a:t>
            </a:r>
            <a:r>
              <a:rPr lang="fr-FR" dirty="0" err="1"/>
              <a:t>parameters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456EDF-21BC-4396-99C1-81A5B0B6A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25" y="1500027"/>
            <a:ext cx="8142327" cy="302703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Batch size</a:t>
            </a:r>
          </a:p>
          <a:p>
            <a:pPr marL="98425" indent="0">
              <a:buNone/>
            </a:pPr>
            <a:r>
              <a:rPr lang="en-US" dirty="0"/>
              <a:t>The number of training samples processed before updating the model’s weights. </a:t>
            </a:r>
          </a:p>
          <a:p>
            <a:pPr marL="98425" indent="0">
              <a:buNone/>
            </a:pPr>
            <a:r>
              <a:rPr lang="en-US" dirty="0"/>
              <a:t>Small batch → more updates, noisier gradients, less memory required. </a:t>
            </a:r>
          </a:p>
          <a:p>
            <a:pPr marL="98425" indent="0">
              <a:buNone/>
            </a:pPr>
            <a:r>
              <a:rPr lang="en-US" dirty="0"/>
              <a:t>Large batch → smoother gradients, more memory required.</a:t>
            </a:r>
          </a:p>
          <a:p>
            <a:pPr marL="98425" indent="0">
              <a:buNone/>
            </a:pPr>
            <a:r>
              <a:rPr lang="en-US" dirty="0"/>
              <a:t>Epoch = whole dataset has been used for training</a:t>
            </a:r>
          </a:p>
          <a:p>
            <a:pPr marL="98425" indent="0">
              <a:buNone/>
            </a:pPr>
            <a:r>
              <a:rPr lang="en-US" dirty="0"/>
              <a:t>Iteration = a batch has been used for training and the weights have been changed</a:t>
            </a:r>
          </a:p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3DF0EE-495E-4C09-91D8-4D678C1E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2428" y="6356350"/>
            <a:ext cx="2743200" cy="365125"/>
          </a:xfrm>
        </p:spPr>
        <p:txBody>
          <a:bodyPr/>
          <a:lstStyle/>
          <a:p>
            <a:fld id="{F9624E17-147F-4F49-A3E3-6B2A50F8D9A1}" type="slidenum">
              <a:rPr lang="en-CA" smtClean="0"/>
              <a:pPr/>
              <a:t>48</a:t>
            </a:fld>
            <a:endParaRPr lang="en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35C4611-F6D0-4FA3-9DC2-F1B7AA72D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15" y="4527059"/>
            <a:ext cx="6347058" cy="207586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2CF4CB4-8DD7-45B9-98EB-D63D22E6A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342" y="4531429"/>
            <a:ext cx="5312854" cy="2071491"/>
          </a:xfrm>
          <a:prstGeom prst="rect">
            <a:avLst/>
          </a:prstGeom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2F6CA990-981B-415E-B24A-836D3F5D3BAE}"/>
              </a:ext>
            </a:extLst>
          </p:cNvPr>
          <p:cNvCxnSpPr/>
          <p:nvPr/>
        </p:nvCxnSpPr>
        <p:spPr>
          <a:xfrm flipV="1">
            <a:off x="6345342" y="6356350"/>
            <a:ext cx="0" cy="2465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5696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bleue" id="{550FF459-5EFB-584B-87BD-384DF3BCEFFE}" vid="{BC085E49-6BB5-6C43-94E2-CD1F9969A21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F2CCC636B3A49868671552C3429F4" ma:contentTypeVersion="3" ma:contentTypeDescription="Create a new document." ma:contentTypeScope="" ma:versionID="300fd19322c44417ba694682ccb746ab">
  <xsd:schema xmlns:xsd="http://www.w3.org/2001/XMLSchema" xmlns:xs="http://www.w3.org/2001/XMLSchema" xmlns:p="http://schemas.microsoft.com/office/2006/metadata/properties" xmlns:ns2="f433444e-70e4-4422-a7cb-e234f8e432ad" targetNamespace="http://schemas.microsoft.com/office/2006/metadata/properties" ma:root="true" ma:fieldsID="64568b1afdb60d002289c659bcd4e2c7" ns2:_="">
    <xsd:import namespace="f433444e-70e4-4422-a7cb-e234f8e432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33444e-70e4-4422-a7cb-e234f8e43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A8A4F23-CE29-4BD5-B59D-170D6FE6F4E8}"/>
</file>

<file path=customXml/itemProps2.xml><?xml version="1.0" encoding="utf-8"?>
<ds:datastoreItem xmlns:ds="http://schemas.openxmlformats.org/officeDocument/2006/customXml" ds:itemID="{CAE83ECE-A91C-495D-A2A4-4487C7F42D50}"/>
</file>

<file path=customXml/itemProps3.xml><?xml version="1.0" encoding="utf-8"?>
<ds:datastoreItem xmlns:ds="http://schemas.openxmlformats.org/officeDocument/2006/customXml" ds:itemID="{3AA334ED-6F6C-4C3D-86C7-EFC8360C2BD2}"/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TotalTime>0</TotalTime>
  <Words>2906</Words>
  <Application>Microsoft Office PowerPoint</Application>
  <PresentationFormat>Grand écran</PresentationFormat>
  <Paragraphs>624</Paragraphs>
  <Slides>48</Slides>
  <Notes>16</Notes>
  <HiddenSlides>0</HiddenSlides>
  <MMClips>0</MMClips>
  <ScaleCrop>false</ScaleCrop>
  <HeadingPairs>
    <vt:vector size="8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48</vt:i4>
      </vt:variant>
    </vt:vector>
  </HeadingPairs>
  <TitlesOfParts>
    <vt:vector size="61" baseType="lpstr">
      <vt:lpstr>ＭＳ Ｐゴシック</vt:lpstr>
      <vt:lpstr>Arial</vt:lpstr>
      <vt:lpstr>Calibri</vt:lpstr>
      <vt:lpstr>Calibri Light</vt:lpstr>
      <vt:lpstr>Cambria Math</vt:lpstr>
      <vt:lpstr>DejaVu Sans</vt:lpstr>
      <vt:lpstr>Liberation Sans</vt:lpstr>
      <vt:lpstr>Lohit Hindi</vt:lpstr>
      <vt:lpstr>StarSymbol</vt:lpstr>
      <vt:lpstr>Times New Roman</vt:lpstr>
      <vt:lpstr>Wingdings</vt:lpstr>
      <vt:lpstr>Thème Office</vt:lpstr>
      <vt:lpstr>Document</vt:lpstr>
      <vt:lpstr>Systèmes intelligents avancés classic CNN models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Linear VS non-linear classification</vt:lpstr>
      <vt:lpstr>Présentation PowerPoint</vt:lpstr>
      <vt:lpstr>Linear VS non-linear regression</vt:lpstr>
      <vt:lpstr>Présentation PowerPoint</vt:lpstr>
      <vt:lpstr>2-3 PERCEPTRON</vt:lpstr>
      <vt:lpstr>Perceptron Limitation</vt:lpstr>
      <vt:lpstr>2-4 Multi Layer Perceptron (MLP)</vt:lpstr>
      <vt:lpstr>Activation Function for a Multi-Layer Perceptron (1/2)</vt:lpstr>
      <vt:lpstr>Activation Function for a Multi-Layer Perceptron (1/2)</vt:lpstr>
      <vt:lpstr>Descente de gradient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What is a ANN in a mathematical view</vt:lpstr>
      <vt:lpstr>What is a ANN in a mathematical view</vt:lpstr>
      <vt:lpstr>What is a ANN in a mathematical view</vt:lpstr>
      <vt:lpstr>What is a ANN in a mathematical view</vt:lpstr>
      <vt:lpstr>What is a ANN in a mathematical view</vt:lpstr>
      <vt:lpstr>New concepts</vt:lpstr>
      <vt:lpstr>Dataset</vt:lpstr>
      <vt:lpstr>Dataset</vt:lpstr>
      <vt:lpstr>Dataset</vt:lpstr>
      <vt:lpstr>Training</vt:lpstr>
      <vt:lpstr>Hyper-parameters</vt:lpstr>
      <vt:lpstr>Hyper-parameters</vt:lpstr>
      <vt:lpstr>Hyper-parameters</vt:lpstr>
      <vt:lpstr>Hyper-parameters</vt:lpstr>
      <vt:lpstr>Hyper-parameters</vt:lpstr>
      <vt:lpstr>Hyper-parameters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Intelligence artificielle</dc:title>
  <dc:creator>Manon Ansart</dc:creator>
  <cp:lastModifiedBy>Maxime Ambard</cp:lastModifiedBy>
  <cp:revision>202</cp:revision>
  <dcterms:created xsi:type="dcterms:W3CDTF">2021-09-28T14:18:43Z</dcterms:created>
  <dcterms:modified xsi:type="dcterms:W3CDTF">2026-09-11T08:00:27Z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0x01010045BF2CCC636B3A49868671552C3429F4</vt:lpwstr>
  </property>
</Properties>
</file>