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40.xml" ContentType="application/vnd.openxmlformats-officedocument.presentationml.slide+xml"/>
  <Override PartName="/ppt/slides/slide54.xml" ContentType="application/vnd.openxmlformats-officedocument.presentationml.slide+xml"/>
  <Override PartName="/ppt/slides/slide52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6" r:id="rId1"/>
  </p:sldMasterIdLst>
  <p:notesMasterIdLst>
    <p:notesMasterId r:id="rId69"/>
  </p:notesMasterIdLst>
  <p:sldIdLst>
    <p:sldId id="256" r:id="rId2"/>
    <p:sldId id="287" r:id="rId3"/>
    <p:sldId id="702" r:id="rId4"/>
    <p:sldId id="293" r:id="rId5"/>
    <p:sldId id="295" r:id="rId6"/>
    <p:sldId id="649" r:id="rId7"/>
    <p:sldId id="652" r:id="rId8"/>
    <p:sldId id="684" r:id="rId9"/>
    <p:sldId id="296" r:id="rId10"/>
    <p:sldId id="297" r:id="rId11"/>
    <p:sldId id="298" r:id="rId12"/>
    <p:sldId id="311" r:id="rId13"/>
    <p:sldId id="650" r:id="rId14"/>
    <p:sldId id="654" r:id="rId15"/>
    <p:sldId id="653" r:id="rId16"/>
    <p:sldId id="669" r:id="rId17"/>
    <p:sldId id="664" r:id="rId18"/>
    <p:sldId id="665" r:id="rId19"/>
    <p:sldId id="666" r:id="rId20"/>
    <p:sldId id="667" r:id="rId21"/>
    <p:sldId id="668" r:id="rId22"/>
    <p:sldId id="662" r:id="rId23"/>
    <p:sldId id="670" r:id="rId24"/>
    <p:sldId id="672" r:id="rId25"/>
    <p:sldId id="673" r:id="rId26"/>
    <p:sldId id="687" r:id="rId27"/>
    <p:sldId id="692" r:id="rId28"/>
    <p:sldId id="688" r:id="rId29"/>
    <p:sldId id="689" r:id="rId30"/>
    <p:sldId id="690" r:id="rId31"/>
    <p:sldId id="693" r:id="rId32"/>
    <p:sldId id="691" r:id="rId33"/>
    <p:sldId id="697" r:id="rId34"/>
    <p:sldId id="675" r:id="rId35"/>
    <p:sldId id="695" r:id="rId36"/>
    <p:sldId id="696" r:id="rId37"/>
    <p:sldId id="299" r:id="rId38"/>
    <p:sldId id="300" r:id="rId39"/>
    <p:sldId id="698" r:id="rId40"/>
    <p:sldId id="648" r:id="rId41"/>
    <p:sldId id="681" r:id="rId42"/>
    <p:sldId id="682" r:id="rId43"/>
    <p:sldId id="683" r:id="rId44"/>
    <p:sldId id="257" r:id="rId45"/>
    <p:sldId id="258" r:id="rId46"/>
    <p:sldId id="259" r:id="rId47"/>
    <p:sldId id="260" r:id="rId48"/>
    <p:sldId id="264" r:id="rId49"/>
    <p:sldId id="261" r:id="rId50"/>
    <p:sldId id="262" r:id="rId51"/>
    <p:sldId id="267" r:id="rId52"/>
    <p:sldId id="268" r:id="rId53"/>
    <p:sldId id="265" r:id="rId54"/>
    <p:sldId id="266" r:id="rId55"/>
    <p:sldId id="271" r:id="rId56"/>
    <p:sldId id="272" r:id="rId57"/>
    <p:sldId id="274" r:id="rId58"/>
    <p:sldId id="275" r:id="rId59"/>
    <p:sldId id="277" r:id="rId60"/>
    <p:sldId id="699" r:id="rId61"/>
    <p:sldId id="280" r:id="rId62"/>
    <p:sldId id="281" r:id="rId63"/>
    <p:sldId id="282" r:id="rId64"/>
    <p:sldId id="283" r:id="rId65"/>
    <p:sldId id="700" r:id="rId66"/>
    <p:sldId id="701" r:id="rId67"/>
    <p:sldId id="703" r:id="rId6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8C"/>
    <a:srgbClr val="FE5B11"/>
    <a:srgbClr val="FE6D06"/>
    <a:srgbClr val="4A79E8"/>
    <a:srgbClr val="52C027"/>
    <a:srgbClr val="14AFD9"/>
    <a:srgbClr val="742182"/>
    <a:srgbClr val="33771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3"/>
    <p:restoredTop sz="96143"/>
  </p:normalViewPr>
  <p:slideViewPr>
    <p:cSldViewPr snapToGrid="0" snapToObjects="1">
      <p:cViewPr varScale="1">
        <p:scale>
          <a:sx n="155" d="100"/>
          <a:sy n="155" d="100"/>
        </p:scale>
        <p:origin x="2928" y="150"/>
      </p:cViewPr>
      <p:guideLst/>
    </p:cSldViewPr>
  </p:slideViewPr>
  <p:outlineViewPr>
    <p:cViewPr>
      <p:scale>
        <a:sx n="33" d="100"/>
        <a:sy n="33" d="100"/>
      </p:scale>
      <p:origin x="0" y="-1195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0" d="100"/>
          <a:sy n="90" d="100"/>
        </p:scale>
        <p:origin x="38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3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734AA-BD40-0244-9394-17F589BC472C}" type="datetimeFigureOut">
              <a:rPr lang="en-CA" smtClean="0"/>
              <a:t>2026-09-18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7EB9D-6C9B-B04A-8125-44A4A3C4B63E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57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7EB9D-6C9B-B04A-8125-44A4A3C4B63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51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Expansion = </a:t>
            </a:r>
            <a:r>
              <a:rPr lang="fr-FR" dirty="0" err="1"/>
              <a:t>Several</a:t>
            </a:r>
            <a:r>
              <a:rPr lang="fr-FR" dirty="0"/>
              <a:t> 1x1 convolutions to </a:t>
            </a:r>
            <a:r>
              <a:rPr lang="fr-FR" dirty="0" err="1"/>
              <a:t>increase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channel</a:t>
            </a:r>
            <a:r>
              <a:rPr lang="fr-FR" dirty="0"/>
              <a:t>. </a:t>
            </a:r>
            <a:r>
              <a:rPr lang="fr-FR" dirty="0" err="1"/>
              <a:t>allows</a:t>
            </a:r>
            <a:r>
              <a:rPr lang="fr-FR" dirty="0"/>
              <a:t> for more computation in </a:t>
            </a:r>
            <a:r>
              <a:rPr lang="fr-FR" dirty="0" err="1"/>
              <a:t>depthwise</a:t>
            </a:r>
            <a:r>
              <a:rPr lang="fr-FR" dirty="0"/>
              <a:t> convolution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shrinking</a:t>
            </a:r>
            <a:r>
              <a:rPr lang="fr-FR" dirty="0"/>
              <a:t> down </a:t>
            </a:r>
            <a:r>
              <a:rPr lang="fr-FR" dirty="0" err="1"/>
              <a:t>wit</a:t>
            </a:r>
            <a:r>
              <a:rPr lang="fr-FR" dirty="0"/>
              <a:t> projection for memory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7EB9D-6C9B-B04A-8125-44A4A3C4B63E}" type="slidenum">
              <a:rPr lang="en-CA" smtClean="0"/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32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4EDBC8-E91D-7B4F-B36D-0E81D9623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4F9E5D-BC68-F64E-987E-236BC5733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1A344B-59C4-664A-A012-A429FF9B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EA3B9-D958-C247-B217-4FE42638D83A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0AE56A-DBD7-BE42-BD95-3EB9FC27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68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D454A-EB4C-5A46-94F0-CFACA299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56DD6F-532D-1149-8608-C5CE0F48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57188" indent="-258763">
              <a:lnSpc>
                <a:spcPct val="150000"/>
              </a:lnSpc>
              <a:tabLst/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CA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3DFFF7-B736-3C46-AE59-9DC68D48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5A67-E4C5-494D-AD6B-6B69F2BE1A48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0C7A-FBF2-A848-AE52-400B515C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79A50D-BEC8-0048-8ADB-44A7811C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624E17-147F-4F49-A3E3-6B2A50F8D9A1}" type="slidenum">
              <a:rPr lang="en-CA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870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313143-64D8-5549-9607-5558404B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9079CE-AE02-1E4D-A60E-170F6BD1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ECE-1311-E948-A920-CB50D5B01013}" type="datetime1">
              <a:rPr lang="fr-FR" smtClean="0"/>
              <a:t>18/09/2026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273122-6128-AB49-8270-0166138A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3CED46-F2A8-A247-A832-5BF8717C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274AF39-1F22-7A45-9D7C-E9F3C628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667" y="4321176"/>
            <a:ext cx="7860665" cy="1496290"/>
          </a:xfrm>
          <a:solidFill>
            <a:srgbClr val="52C027">
              <a:alpha val="20000"/>
            </a:srgbClr>
          </a:solidFill>
        </p:spPr>
        <p:txBody>
          <a:bodyPr lIns="180000" tIns="180000" rIns="180000" bIns="180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4D44313-60C0-DF4D-80C4-6F3C8BB6DD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165667" y="3782292"/>
            <a:ext cx="7860665" cy="538883"/>
          </a:xfrm>
          <a:solidFill>
            <a:srgbClr val="52C027"/>
          </a:solidFill>
        </p:spPr>
        <p:txBody>
          <a:bodyPr lIns="180000" tIns="72000" rIns="180000" bIns="72000"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DD67E5A-C2B7-4C48-80A2-EABC101084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9326" y="1500027"/>
            <a:ext cx="10993348" cy="156256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14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978E8-55F1-D247-8EBE-0604DEDA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EAD088-939E-9E46-B986-E4D4C7A2C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2D937B-B568-2C4D-AE46-74BB7491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29F2-016C-EE48-B0CD-D263313E1DBE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FDEB9F-D4DA-C649-88F2-E37423EE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65831E-CEAD-4540-B42E-48D9A1D9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83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8C691-36BD-C34C-B812-597F6CB5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F7A964-EDE8-2F47-8579-C96BF9860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17BE2E-79B7-364D-95F7-B4064CC36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983EF0-D5AA-1C43-9251-E9DBB565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4A52-4A17-DD47-8038-1B20FDD3F77D}" type="datetime1">
              <a:rPr lang="fr-FR" smtClean="0"/>
              <a:t>18/09/2026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014992-C367-914A-82D2-E8564748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74CD14-3F6A-B64F-9D03-A0357CF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843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B0E05-0868-844E-BE5F-F733676E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802EE5-F5FA-194E-B92D-603EE414F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50CFB7-B0EB-F74D-BDC3-6FA22E6EB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A0F2E6-9F5E-A847-A818-9A8CC7661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18080E-264F-8549-86FE-F3CD7FE0D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319404-0144-A142-B40B-D663AD12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D263-19D6-FD4F-BCD9-0AB1CB7C2586}" type="datetime1">
              <a:rPr lang="fr-FR" smtClean="0"/>
              <a:t>18/09/2026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A2C28F-4E84-2A40-92C4-A26BC3C8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C3E10B-A28C-C846-9A47-BB645EC5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4898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802EE5-F5FA-194E-B92D-603EE414F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3763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50CFB7-B0EB-F74D-BDC3-6FA22E6EB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61544"/>
            <a:ext cx="5157787" cy="39047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A0F2E6-9F5E-A847-A818-9A8CC7661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3763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18080E-264F-8549-86FE-F3CD7FE0D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61544"/>
            <a:ext cx="5183188" cy="39047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319404-0144-A142-B40B-D663AD12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D263-19D6-FD4F-BCD9-0AB1CB7C2586}" type="datetime1">
              <a:rPr lang="fr-FR" smtClean="0"/>
              <a:t>18/09/2026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A2C28F-4E84-2A40-92C4-A26BC3C8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C3E10B-A28C-C846-9A47-BB645EC5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E012109-F047-2648-B9C1-DF0E860A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741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547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6513CF-18C0-C04B-B711-68DE25D7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C0E953-C945-DB46-A9E2-6250A2B2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2F4E-D569-0345-A8B2-D99D1285AD46}" type="datetime1">
              <a:rPr lang="fr-FR" smtClean="0"/>
              <a:t>18/09/2026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2B51CA-38E3-0241-9040-E8403758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DCEA3C-CFFF-2544-B63A-76AADC25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4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44411A-7373-C24E-9C7E-4D60993D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D0CDD-E749-CE4F-A86F-15DF6A4F85A5}" type="datetime1">
              <a:rPr lang="fr-FR" smtClean="0"/>
              <a:t>18/09/2026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ABC7C4-F213-D746-9299-0906F31C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CFCFD-6E57-7149-B238-7ABCF53B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00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54F93-AF6E-6646-A744-6E956FDA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F9857-BDCE-BE4B-97EF-700ED16E0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135A30-5630-D241-815B-E8D49A4E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A5FE60-C9A5-954C-B772-30E23834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6460-2F3F-9748-BF1D-A46F64759DC7}" type="datetime1">
              <a:rPr lang="fr-FR" smtClean="0"/>
              <a:t>18/09/2026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531A9E-81AE-ED41-9165-83E58A54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75726-565F-8C4D-A43B-907009EB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6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F4D61-A87C-F446-A469-9A4AA523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4731D3-B8FB-F84D-A0B5-84F809579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4E84EB-7E93-484F-B709-6469C48BA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31EE51-2731-144E-AAA4-EF94E34A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FF5B-5912-3C44-A198-A33BA50B8372}" type="datetime1">
              <a:rPr lang="fr-FR" smtClean="0"/>
              <a:t>18/09/2026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B2FA37-ADDD-054D-8F60-3DEA80FC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9EBB38-4446-504F-8D8E-7526AFF9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14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989E0-4539-4E48-B9E8-CBDAADD6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8671A1-EFD1-6F4F-A9CE-17769D50C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714E7E-9710-1949-8474-EC1BCF05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61178-D7B9-1A44-9B84-F2C785136013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56C84C-5810-7C4A-9428-99A0918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E5FD97-3708-0A45-8479-E62EE897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077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01A022-22E3-744E-9E51-FC571E4BC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178482-55FF-E640-8CFE-E637B6CB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DA9FDB-D4C3-1042-AEC6-3B2BB809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546-423C-DD4D-A8B6-B96D449FEE9F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85E9BE-CD92-4847-8230-BB19D9C9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6CC9F9-0C64-BD40-9B27-B5662273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33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D61DE5-C9C8-554B-B5CE-1A8F253B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7415"/>
          </a:xfrm>
          <a:prstGeom prst="rect">
            <a:avLst/>
          </a:prstGeom>
          <a:solidFill>
            <a:srgbClr val="4A79E8"/>
          </a:solidFill>
        </p:spPr>
        <p:txBody>
          <a:bodyPr vert="horz" lIns="324000" tIns="45720" rIns="108000" bIns="45720" rtlCol="0" anchor="ctr">
            <a:normAutofit/>
          </a:bodyPr>
          <a:lstStyle/>
          <a:p>
            <a:r>
              <a:rPr lang="en-CA" noProof="0" dirty="0" err="1"/>
              <a:t>Modifiez</a:t>
            </a:r>
            <a:r>
              <a:rPr lang="en-CA" noProof="0" dirty="0"/>
              <a:t>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E2B086-75BE-2047-9A5E-B78DD771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326" y="1500027"/>
            <a:ext cx="10993348" cy="467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noProof="0" dirty="0" err="1"/>
              <a:t>Cliquez</a:t>
            </a:r>
            <a:r>
              <a:rPr lang="en-CA" noProof="0" dirty="0"/>
              <a:t> pour modifier les styles du </a:t>
            </a:r>
            <a:r>
              <a:rPr lang="en-CA" noProof="0" dirty="0" err="1"/>
              <a:t>texte</a:t>
            </a:r>
            <a:r>
              <a:rPr lang="en-CA" noProof="0" dirty="0"/>
              <a:t> du masque</a:t>
            </a:r>
          </a:p>
          <a:p>
            <a:pPr lvl="1"/>
            <a:r>
              <a:rPr lang="en-CA" noProof="0" dirty="0" err="1"/>
              <a:t>Deuxième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2"/>
            <a:r>
              <a:rPr lang="en-CA" noProof="0" dirty="0" err="1"/>
              <a:t>Troisième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3"/>
            <a:r>
              <a:rPr lang="en-CA" noProof="0" dirty="0" err="1"/>
              <a:t>Quatrième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4"/>
            <a:r>
              <a:rPr lang="en-CA" noProof="0" dirty="0" err="1"/>
              <a:t>Cinquième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14FB36-E942-1548-8C87-0C77A5F86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BC037-9ABD-6748-8BED-2B8FFA515D81}" type="datetime1">
              <a:rPr lang="fr-FR" smtClean="0"/>
              <a:t>18/09/2026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82D8E5-6AD5-A146-9181-5C69C97B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CCEC0A-4B04-8D4C-AF2F-601E361C6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6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391F-B9A6-914E-A2B2-00F308C74B97}" type="slidenum">
              <a:rPr lang="en-CA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055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8" r:id="rId3"/>
    <p:sldLayoutId id="2147484049" r:id="rId4"/>
    <p:sldLayoutId id="2147484050" r:id="rId5"/>
    <p:sldLayoutId id="2147484051" r:id="rId6"/>
    <p:sldLayoutId id="2147484059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57188" indent="-258763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1.png"/><Relationship Id="rId1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17" Type="http://schemas.openxmlformats.org/officeDocument/2006/relationships/image" Target="../media/image24.png"/><Relationship Id="rId2" Type="http://schemas.openxmlformats.org/officeDocument/2006/relationships/image" Target="../media/image1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90.png"/><Relationship Id="rId5" Type="http://schemas.openxmlformats.org/officeDocument/2006/relationships/image" Target="../media/image17.png"/><Relationship Id="rId15" Type="http://schemas.openxmlformats.org/officeDocument/2006/relationships/image" Target="../media/image13.png"/><Relationship Id="rId10" Type="http://schemas.openxmlformats.org/officeDocument/2006/relationships/image" Target="../media/image80.png"/><Relationship Id="rId4" Type="http://schemas.openxmlformats.org/officeDocument/2006/relationships/image" Target="../media/image16.png"/><Relationship Id="rId9" Type="http://schemas.openxmlformats.org/officeDocument/2006/relationships/image" Target="../media/image70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7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79.png"/><Relationship Id="rId9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63.png"/><Relationship Id="rId7" Type="http://schemas.openxmlformats.org/officeDocument/2006/relationships/image" Target="../media/image10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65.png"/><Relationship Id="rId10" Type="http://schemas.openxmlformats.org/officeDocument/2006/relationships/image" Target="../media/image105.png"/><Relationship Id="rId4" Type="http://schemas.openxmlformats.org/officeDocument/2006/relationships/image" Target="../media/image64.png"/><Relationship Id="rId9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04FE4-E80F-AA43-9141-BB7E9BBD1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1743"/>
            <a:ext cx="9144000" cy="2040392"/>
          </a:xfrm>
        </p:spPr>
        <p:txBody>
          <a:bodyPr>
            <a:normAutofit fontScale="90000"/>
          </a:bodyPr>
          <a:lstStyle/>
          <a:p>
            <a:r>
              <a:rPr lang="fr-FR" dirty="0"/>
              <a:t>Systèmes intelligents avancés</a:t>
            </a:r>
            <a:br>
              <a:rPr lang="fr-FR" dirty="0"/>
            </a:br>
            <a:r>
              <a:rPr lang="fr-FR" dirty="0" err="1"/>
              <a:t>classic</a:t>
            </a:r>
            <a:r>
              <a:rPr lang="fr-FR" dirty="0"/>
              <a:t> CNN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73AA78-2271-544E-A7A7-3D95FF8BB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209"/>
            <a:ext cx="9144000" cy="3147105"/>
          </a:xfrm>
        </p:spPr>
        <p:txBody>
          <a:bodyPr>
            <a:normAutofit/>
          </a:bodyPr>
          <a:lstStyle/>
          <a:p>
            <a:endParaRPr lang="en-CA" b="1" dirty="0"/>
          </a:p>
          <a:p>
            <a:r>
              <a:rPr lang="en-CA" b="1" dirty="0"/>
              <a:t>Maxime </a:t>
            </a:r>
            <a:r>
              <a:rPr lang="en-CA" b="1" dirty="0" err="1"/>
              <a:t>Ambard</a:t>
            </a:r>
            <a:endParaRPr lang="en-CA" b="1" dirty="0"/>
          </a:p>
          <a:p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LEAD CNRS UMR 5022 </a:t>
            </a:r>
          </a:p>
          <a:p>
            <a:r>
              <a:rPr lang="en-CA" dirty="0" err="1">
                <a:solidFill>
                  <a:schemeClr val="bg2">
                    <a:lumMod val="50000"/>
                  </a:schemeClr>
                </a:solidFill>
              </a:rPr>
              <a:t>Institut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CA" dirty="0" err="1">
                <a:solidFill>
                  <a:schemeClr val="bg2">
                    <a:lumMod val="50000"/>
                  </a:schemeClr>
                </a:solidFill>
              </a:rPr>
              <a:t>Marey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– I3M</a:t>
            </a:r>
          </a:p>
          <a:p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64 rue Sully - 210000 DIJON CEDEX -  France</a:t>
            </a:r>
          </a:p>
          <a:p>
            <a:r>
              <a:rPr lang="en-CA" dirty="0"/>
              <a:t>Contact : maxime.ambard@u-bourgogne.fr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710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Reminder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fr-FR" dirty="0"/>
          </a:p>
          <a:p>
            <a:pPr lvl="1"/>
            <a:r>
              <a:rPr lang="fr-FR" dirty="0"/>
              <a:t>Graph architecture, </a:t>
            </a:r>
            <a:r>
              <a:rPr lang="fr-FR" dirty="0" err="1"/>
              <a:t>learning</a:t>
            </a:r>
            <a:r>
              <a:rPr lang="fr-FR" dirty="0"/>
              <a:t> rate,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epochs</a:t>
            </a:r>
            <a:r>
              <a:rPr lang="fr-FR" dirty="0"/>
              <a:t>, batch size, </a:t>
            </a:r>
            <a:r>
              <a:rPr lang="fr-FR" dirty="0" err="1"/>
              <a:t>optimizer</a:t>
            </a:r>
            <a:r>
              <a:rPr lang="fr-FR" dirty="0"/>
              <a:t>,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2798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CNN</a:t>
            </a:r>
          </a:p>
          <a:p>
            <a:pPr lvl="1"/>
            <a:r>
              <a:rPr lang="fr-FR" dirty="0"/>
              <a:t>Architecture, convolution, </a:t>
            </a:r>
            <a:r>
              <a:rPr lang="fr-FR" dirty="0" err="1"/>
              <a:t>pooling</a:t>
            </a:r>
            <a:r>
              <a:rPr lang="fr-FR" dirty="0"/>
              <a:t>, activation, </a:t>
            </a:r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connected</a:t>
            </a:r>
            <a:r>
              <a:rPr lang="fr-FR" dirty="0"/>
              <a:t>, </a:t>
            </a:r>
            <a:r>
              <a:rPr lang="fr-FR" dirty="0" err="1"/>
              <a:t>padding</a:t>
            </a:r>
            <a:r>
              <a:rPr lang="fr-FR" dirty="0"/>
              <a:t>, stride</a:t>
            </a:r>
          </a:p>
          <a:p>
            <a:r>
              <a:rPr lang="fr-FR" dirty="0" err="1"/>
              <a:t>Classical</a:t>
            </a:r>
            <a:r>
              <a:rPr lang="fr-FR" dirty="0"/>
              <a:t> CNN</a:t>
            </a:r>
          </a:p>
          <a:p>
            <a:pPr lvl="1"/>
            <a:r>
              <a:rPr lang="fr-FR" dirty="0"/>
              <a:t>LeNet-5 – Convolution</a:t>
            </a:r>
          </a:p>
          <a:p>
            <a:pPr lvl="1"/>
            <a:r>
              <a:rPr lang="fr-FR" dirty="0" err="1"/>
              <a:t>AlexNet</a:t>
            </a:r>
            <a:r>
              <a:rPr lang="fr-FR" dirty="0"/>
              <a:t> – </a:t>
            </a:r>
            <a:r>
              <a:rPr lang="fr-FR" dirty="0" err="1"/>
              <a:t>Same</a:t>
            </a:r>
            <a:r>
              <a:rPr lang="fr-FR" dirty="0"/>
              <a:t> RGB</a:t>
            </a:r>
          </a:p>
          <a:p>
            <a:pPr lvl="1"/>
            <a:r>
              <a:rPr lang="fr-FR" dirty="0"/>
              <a:t>VGG-16 –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bigger</a:t>
            </a:r>
            <a:endParaRPr lang="fr-FR" dirty="0"/>
          </a:p>
          <a:p>
            <a:pPr lvl="1"/>
            <a:r>
              <a:rPr lang="fr-FR" dirty="0" err="1"/>
              <a:t>ResNet</a:t>
            </a:r>
            <a:r>
              <a:rPr lang="fr-FR" dirty="0"/>
              <a:t> – jump</a:t>
            </a:r>
          </a:p>
          <a:p>
            <a:pPr lvl="1"/>
            <a:r>
              <a:rPr lang="fr-FR" dirty="0"/>
              <a:t>Inception - Multiple </a:t>
            </a:r>
            <a:r>
              <a:rPr lang="fr-FR" dirty="0" err="1"/>
              <a:t>simultaneous</a:t>
            </a:r>
            <a:r>
              <a:rPr lang="fr-FR" dirty="0"/>
              <a:t> </a:t>
            </a:r>
            <a:r>
              <a:rPr lang="fr-FR" dirty="0" err="1"/>
              <a:t>operations</a:t>
            </a:r>
            <a:endParaRPr lang="fr-FR" dirty="0"/>
          </a:p>
          <a:p>
            <a:pPr lvl="1"/>
            <a:r>
              <a:rPr lang="fr-FR" dirty="0" err="1"/>
              <a:t>MobileNet</a:t>
            </a:r>
            <a:r>
              <a:rPr lang="fr-FR" dirty="0"/>
              <a:t> - </a:t>
            </a:r>
            <a:r>
              <a:rPr lang="fr-FR" dirty="0" err="1"/>
              <a:t>Deptwise</a:t>
            </a:r>
            <a:r>
              <a:rPr lang="fr-FR" dirty="0"/>
              <a:t> </a:t>
            </a:r>
            <a:r>
              <a:rPr lang="fr-FR" dirty="0" err="1"/>
              <a:t>separable</a:t>
            </a:r>
            <a:r>
              <a:rPr lang="fr-FR" dirty="0"/>
              <a:t> convolution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35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326" y="1084277"/>
                <a:ext cx="3447512" cy="2044110"/>
              </a:xfrm>
            </p:spPr>
            <p:txBody>
              <a:bodyPr>
                <a:normAutofit fontScale="85000" lnSpcReduction="10000"/>
              </a:bodyPr>
              <a:lstStyle/>
              <a:p>
                <a:pPr marL="98425" indent="0">
                  <a:buNone/>
                </a:pPr>
                <a:r>
                  <a:rPr lang="fr-FR" i="1" u="sng" dirty="0">
                    <a:latin typeface="Cambria Math" panose="02040503050406030204" pitchFamily="18" charset="0"/>
                  </a:rPr>
                  <a:t>The solution: The Chain Rule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26" y="1084277"/>
                <a:ext cx="3447512" cy="20441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cxnSpLocks/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D8509D-7CE6-421C-9B7C-34B1FBAAA42C}"/>
              </a:ext>
            </a:extLst>
          </p:cNvPr>
          <p:cNvSpPr txBox="1"/>
          <p:nvPr/>
        </p:nvSpPr>
        <p:spPr>
          <a:xfrm>
            <a:off x="8205487" y="4509527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Y9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E80B3F-4CF0-44D6-905D-A3E09B77F3AA}"/>
              </a:ext>
            </a:extLst>
          </p:cNvPr>
          <p:cNvSpPr txBox="1"/>
          <p:nvPr/>
        </p:nvSpPr>
        <p:spPr>
          <a:xfrm>
            <a:off x="7123351" y="452558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Y8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F009D77-B5C2-46C5-8CFC-00D443524CD0}"/>
              </a:ext>
            </a:extLst>
          </p:cNvPr>
          <p:cNvSpPr txBox="1"/>
          <p:nvPr/>
        </p:nvSpPr>
        <p:spPr>
          <a:xfrm>
            <a:off x="5927313" y="426448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Y6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536C636-D80F-435F-91D7-9B30943415DB}"/>
              </a:ext>
            </a:extLst>
          </p:cNvPr>
          <p:cNvSpPr txBox="1"/>
          <p:nvPr/>
        </p:nvSpPr>
        <p:spPr>
          <a:xfrm>
            <a:off x="5952480" y="5075550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585B845-2A5D-4C89-ABCB-FC24CCE128A2}"/>
              </a:ext>
            </a:extLst>
          </p:cNvPr>
          <p:cNvSpPr txBox="1"/>
          <p:nvPr/>
        </p:nvSpPr>
        <p:spPr>
          <a:xfrm>
            <a:off x="4556650" y="395533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Y4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07AF985-46A8-4E70-A24F-C202A68D6D4B}"/>
              </a:ext>
            </a:extLst>
          </p:cNvPr>
          <p:cNvSpPr txBox="1"/>
          <p:nvPr/>
        </p:nvSpPr>
        <p:spPr>
          <a:xfrm>
            <a:off x="4592887" y="49386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CB19EF5-6181-4015-AC24-D139B6850125}"/>
              </a:ext>
            </a:extLst>
          </p:cNvPr>
          <p:cNvSpPr txBox="1"/>
          <p:nvPr/>
        </p:nvSpPr>
        <p:spPr>
          <a:xfrm>
            <a:off x="3339976" y="493190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Y3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644DC0-8451-482C-A642-5D932C5EF792}"/>
              </a:ext>
            </a:extLst>
          </p:cNvPr>
          <p:cNvSpPr txBox="1"/>
          <p:nvPr/>
        </p:nvSpPr>
        <p:spPr>
          <a:xfrm>
            <a:off x="3296607" y="39303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22B3CC8-34F3-48CE-AC98-32A5BAE7B66D}"/>
              </a:ext>
            </a:extLst>
          </p:cNvPr>
          <p:cNvSpPr txBox="1"/>
          <p:nvPr/>
        </p:nvSpPr>
        <p:spPr>
          <a:xfrm>
            <a:off x="1956140" y="4541793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01C3EE-1F6E-4168-84C6-1359C174F331}"/>
              </a:ext>
            </a:extLst>
          </p:cNvPr>
          <p:cNvCxnSpPr/>
          <p:nvPr/>
        </p:nvCxnSpPr>
        <p:spPr>
          <a:xfrm>
            <a:off x="1995616" y="4905792"/>
            <a:ext cx="475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9E6E643-09C7-47EB-B7DF-725A7D162807}"/>
              </a:ext>
            </a:extLst>
          </p:cNvPr>
          <p:cNvCxnSpPr>
            <a:endCxn id="11" idx="1"/>
          </p:cNvCxnSpPr>
          <p:nvPr/>
        </p:nvCxnSpPr>
        <p:spPr>
          <a:xfrm flipV="1">
            <a:off x="2471351" y="4356515"/>
            <a:ext cx="177113" cy="53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4694A1-F14F-460C-8FDF-C8D69369FA9E}"/>
              </a:ext>
            </a:extLst>
          </p:cNvPr>
          <p:cNvCxnSpPr>
            <a:endCxn id="13" idx="1"/>
          </p:cNvCxnSpPr>
          <p:nvPr/>
        </p:nvCxnSpPr>
        <p:spPr>
          <a:xfrm>
            <a:off x="2477517" y="4897670"/>
            <a:ext cx="170947" cy="4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/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blipFill>
                <a:blip r:embed="rId3"/>
                <a:stretch>
                  <a:fillRect l="-19048" t="-1493" r="-1190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/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blipFill>
                <a:blip r:embed="rId4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/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blipFill>
                <a:blip r:embed="rId5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/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blipFill>
                <a:blip r:embed="rId6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/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blipFill>
                <a:blip r:embed="rId7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/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blipFill>
                <a:blip r:embed="rId8"/>
                <a:stretch>
                  <a:fillRect l="-12281" r="-1052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/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blipFill>
                <a:blip r:embed="rId9"/>
                <a:stretch>
                  <a:fillRect l="-8955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/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blipFill>
                <a:blip r:embed="rId10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/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blipFill>
                <a:blip r:embed="rId11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/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blipFill>
                <a:blip r:embed="rId12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ZoneTexte 73">
            <a:extLst>
              <a:ext uri="{FF2B5EF4-FFF2-40B4-BE49-F238E27FC236}">
                <a16:creationId xmlns:a16="http://schemas.microsoft.com/office/drawing/2014/main" id="{5828835C-61E1-4DE8-A4F1-DDF18C9E782F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FE0E6D7-D5AF-433A-BFC9-56D83548102C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/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blipFill>
                <a:blip r:embed="rId13"/>
                <a:stretch>
                  <a:fillRect l="-10448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/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blipFill>
                <a:blip r:embed="rId14"/>
                <a:stretch>
                  <a:fillRect l="-12500" r="-12500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/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blipFill>
                <a:blip r:embed="rId15"/>
                <a:stretch>
                  <a:fillRect l="-10526" r="-12281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/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blipFill>
                <a:blip r:embed="rId16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57188" indent="-258763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Wingdings" pitchFamily="2" charset="2"/>
                  <a:buChar char="§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)(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/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blipFill>
                <a:blip r:embed="rId18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41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CNN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731820" cy="4097584"/>
          </a:xfrm>
        </p:spPr>
        <p:txBody>
          <a:bodyPr>
            <a:normAutofit/>
          </a:bodyPr>
          <a:lstStyle/>
          <a:p>
            <a:r>
              <a:rPr lang="fr-FR" dirty="0"/>
              <a:t>A graph of </a:t>
            </a:r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in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tuned</a:t>
            </a:r>
            <a:r>
              <a:rPr lang="fr-FR" dirty="0"/>
              <a:t> to </a:t>
            </a:r>
            <a:r>
              <a:rPr lang="fr-FR" dirty="0" err="1"/>
              <a:t>minimize</a:t>
            </a:r>
            <a:r>
              <a:rPr lang="fr-FR" dirty="0"/>
              <a:t> the </a:t>
            </a:r>
            <a:r>
              <a:rPr lang="fr-FR" dirty="0" err="1"/>
              <a:t>errors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computed</a:t>
            </a:r>
            <a:r>
              <a:rPr lang="fr-FR" dirty="0"/>
              <a:t> outputs (Y) and the </a:t>
            </a:r>
            <a:r>
              <a:rPr lang="fr-FR" dirty="0" err="1"/>
              <a:t>target</a:t>
            </a:r>
            <a:r>
              <a:rPr lang="fr-FR" dirty="0"/>
              <a:t> outputs (Y*) </a:t>
            </a:r>
            <a:r>
              <a:rPr lang="fr-FR" dirty="0" err="1"/>
              <a:t>given</a:t>
            </a:r>
            <a:r>
              <a:rPr lang="fr-FR" dirty="0"/>
              <a:t> the inputs (X). The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modified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gradient of the </a:t>
            </a:r>
            <a:r>
              <a:rPr lang="fr-FR" dirty="0" err="1"/>
              <a:t>error</a:t>
            </a:r>
            <a:r>
              <a:rPr lang="fr-FR" dirty="0"/>
              <a:t> (E) </a:t>
            </a:r>
            <a:r>
              <a:rPr lang="fr-FR" dirty="0" err="1"/>
              <a:t>relatively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  <a:p>
            <a:r>
              <a:rPr lang="fr-FR" dirty="0"/>
              <a:t>A </a:t>
            </a:r>
            <a:r>
              <a:rPr lang="fr-FR" dirty="0" err="1"/>
              <a:t>convolutional</a:t>
            </a:r>
            <a:r>
              <a:rPr lang="fr-FR" dirty="0"/>
              <a:t> neural network </a:t>
            </a:r>
            <a:r>
              <a:rPr lang="fr-FR" dirty="0" err="1"/>
              <a:t>is</a:t>
            </a:r>
            <a:r>
              <a:rPr lang="fr-FR" dirty="0"/>
              <a:t> a graph in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of the </a:t>
            </a:r>
            <a:r>
              <a:rPr lang="fr-FR" dirty="0" err="1"/>
              <a:t>operation</a:t>
            </a:r>
            <a:r>
              <a:rPr lang="fr-FR" dirty="0"/>
              <a:t> </a:t>
            </a:r>
            <a:r>
              <a:rPr lang="fr-FR" dirty="0" err="1"/>
              <a:t>consist</a:t>
            </a:r>
            <a:r>
              <a:rPr lang="fr-FR" dirty="0"/>
              <a:t> in convolutions of </a:t>
            </a:r>
            <a:r>
              <a:rPr lang="fr-FR" dirty="0" err="1"/>
              <a:t>tensors</a:t>
            </a:r>
            <a:r>
              <a:rPr lang="fr-FR" dirty="0"/>
              <a:t> (cross-</a:t>
            </a:r>
            <a:r>
              <a:rPr lang="fr-FR" dirty="0" err="1"/>
              <a:t>correlation</a:t>
            </a:r>
            <a:r>
              <a:rPr lang="fr-FR" dirty="0"/>
              <a:t>)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together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pooling</a:t>
            </a:r>
            <a:r>
              <a:rPr lang="fr-FR" dirty="0"/>
              <a:t> and activation </a:t>
            </a:r>
            <a:r>
              <a:rPr lang="fr-FR" dirty="0" err="1"/>
              <a:t>function</a:t>
            </a:r>
            <a:r>
              <a:rPr lang="fr-FR" dirty="0"/>
              <a:t>. But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operators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152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A2167-443B-4B58-B673-F63D2A274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for image analysis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01F7E7-258F-4683-AFE7-45509B2C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6015824-4222-4856-A372-5801922D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236431"/>
            <a:ext cx="9906000" cy="530248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FA621B9-A828-4AAD-A59D-EEFC5E558D3A}"/>
              </a:ext>
            </a:extLst>
          </p:cNvPr>
          <p:cNvSpPr txBox="1"/>
          <p:nvPr/>
        </p:nvSpPr>
        <p:spPr>
          <a:xfrm>
            <a:off x="10746398" y="3024554"/>
            <a:ext cx="53120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A</a:t>
            </a:r>
          </a:p>
          <a:p>
            <a:r>
              <a:rPr lang="en-US" sz="3400" dirty="0"/>
              <a:t>B</a:t>
            </a:r>
          </a:p>
          <a:p>
            <a:r>
              <a:rPr lang="en-US" sz="3400" dirty="0"/>
              <a:t>C</a:t>
            </a:r>
          </a:p>
          <a:p>
            <a:r>
              <a:rPr lang="en-US" sz="3400" dirty="0"/>
              <a:t>.</a:t>
            </a:r>
          </a:p>
          <a:p>
            <a:r>
              <a:rPr lang="en-US" sz="3400" dirty="0"/>
              <a:t>Z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4C33357-C36A-4AD7-A991-6DB8DD5C0DBF}"/>
              </a:ext>
            </a:extLst>
          </p:cNvPr>
          <p:cNvSpPr txBox="1"/>
          <p:nvPr/>
        </p:nvSpPr>
        <p:spPr>
          <a:xfrm>
            <a:off x="10292862" y="5216769"/>
            <a:ext cx="4418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5032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Image </a:t>
            </a:r>
            <a:r>
              <a:rPr lang="fr-FR" dirty="0" err="1"/>
              <a:t>analysis</a:t>
            </a:r>
            <a:r>
              <a:rPr lang="fr-FR" dirty="0"/>
              <a:t>…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else</a:t>
            </a:r>
            <a:r>
              <a:rPr lang="fr-FR" dirty="0"/>
              <a:t>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7</a:t>
            </a:fld>
            <a:endParaRPr lang="en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20DD277-40AF-46DC-A12F-A8FB88220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22" y="2936813"/>
            <a:ext cx="2228850" cy="28479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F5A7845-8AE3-4AFB-A430-31296641B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200" y="2769208"/>
            <a:ext cx="4056947" cy="273745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9311EB8-5F3D-451F-A0CB-9AE5C9734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099" y="2836169"/>
            <a:ext cx="2053034" cy="28485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9F567AF-5415-4516-B7A1-8AC4F416B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833" y="2710256"/>
            <a:ext cx="2114580" cy="285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0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Image </a:t>
            </a:r>
            <a:r>
              <a:rPr lang="fr-FR" dirty="0" err="1"/>
              <a:t>analysis</a:t>
            </a:r>
            <a:r>
              <a:rPr lang="fr-FR" dirty="0"/>
              <a:t>: convolution bloc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8</a:t>
            </a:fld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0757E-E81B-4671-A595-B71CD25DBFB3}"/>
              </a:ext>
            </a:extLst>
          </p:cNvPr>
          <p:cNvSpPr/>
          <p:nvPr/>
        </p:nvSpPr>
        <p:spPr>
          <a:xfrm>
            <a:off x="562232" y="2545492"/>
            <a:ext cx="2279822" cy="2391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010C66A2-3AFD-41D8-8293-D9AFF78BBC95}"/>
              </a:ext>
            </a:extLst>
          </p:cNvPr>
          <p:cNvCxnSpPr>
            <a:cxnSpLocks/>
          </p:cNvCxnSpPr>
          <p:nvPr/>
        </p:nvCxnSpPr>
        <p:spPr>
          <a:xfrm>
            <a:off x="2842054" y="3793524"/>
            <a:ext cx="315097" cy="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781D834F-5804-474C-AF01-F62ECAA25EC2}"/>
              </a:ext>
            </a:extLst>
          </p:cNvPr>
          <p:cNvSpPr txBox="1"/>
          <p:nvPr/>
        </p:nvSpPr>
        <p:spPr>
          <a:xfrm>
            <a:off x="3398107" y="3477738"/>
            <a:ext cx="141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convolution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4A7E7B94-4620-466A-AF6E-9AB52DB8E8FB}"/>
              </a:ext>
            </a:extLst>
          </p:cNvPr>
          <p:cNvCxnSpPr/>
          <p:nvPr/>
        </p:nvCxnSpPr>
        <p:spPr>
          <a:xfrm>
            <a:off x="4831490" y="3761948"/>
            <a:ext cx="722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679A4141-0326-47FE-8218-85FADC759318}"/>
              </a:ext>
            </a:extLst>
          </p:cNvPr>
          <p:cNvSpPr txBox="1"/>
          <p:nvPr/>
        </p:nvSpPr>
        <p:spPr>
          <a:xfrm>
            <a:off x="5677929" y="3477738"/>
            <a:ext cx="141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pooling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A19217C-7066-4E6E-ABF2-EDA20EEF0F6E}"/>
              </a:ext>
            </a:extLst>
          </p:cNvPr>
          <p:cNvSpPr txBox="1"/>
          <p:nvPr/>
        </p:nvSpPr>
        <p:spPr>
          <a:xfrm>
            <a:off x="7368745" y="3472930"/>
            <a:ext cx="141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43075B3A-B1AB-4FE6-AC8C-35C063E568EC}"/>
              </a:ext>
            </a:extLst>
          </p:cNvPr>
          <p:cNvCxnSpPr/>
          <p:nvPr/>
        </p:nvCxnSpPr>
        <p:spPr>
          <a:xfrm>
            <a:off x="6645875" y="3781508"/>
            <a:ext cx="722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D36A63B-717A-4EC7-AFDE-50CF0DC956E6}"/>
              </a:ext>
            </a:extLst>
          </p:cNvPr>
          <p:cNvCxnSpPr>
            <a:cxnSpLocks/>
          </p:cNvCxnSpPr>
          <p:nvPr/>
        </p:nvCxnSpPr>
        <p:spPr>
          <a:xfrm>
            <a:off x="8507626" y="3781508"/>
            <a:ext cx="2409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607A2EA-5FD5-4E05-9A0B-AEA4D64BE760}"/>
              </a:ext>
            </a:extLst>
          </p:cNvPr>
          <p:cNvSpPr/>
          <p:nvPr/>
        </p:nvSpPr>
        <p:spPr>
          <a:xfrm>
            <a:off x="3157151" y="3063787"/>
            <a:ext cx="5350475" cy="1161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EFABD82-DDF8-4305-9696-224B39460090}"/>
              </a:ext>
            </a:extLst>
          </p:cNvPr>
          <p:cNvSpPr txBox="1"/>
          <p:nvPr/>
        </p:nvSpPr>
        <p:spPr>
          <a:xfrm>
            <a:off x="4979773" y="4274002"/>
            <a:ext cx="1869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Convolution bloc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0C544-ACDD-41E9-94D2-25206A71A305}"/>
              </a:ext>
            </a:extLst>
          </p:cNvPr>
          <p:cNvSpPr/>
          <p:nvPr/>
        </p:nvSpPr>
        <p:spPr>
          <a:xfrm>
            <a:off x="8760939" y="3074085"/>
            <a:ext cx="885568" cy="1161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C4DD7EE-CBC9-4486-A6E5-5210B729D44C}"/>
              </a:ext>
            </a:extLst>
          </p:cNvPr>
          <p:cNvSpPr txBox="1"/>
          <p:nvPr/>
        </p:nvSpPr>
        <p:spPr>
          <a:xfrm>
            <a:off x="10040893" y="3295108"/>
            <a:ext cx="710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Conv.</a:t>
            </a:r>
          </a:p>
          <a:p>
            <a:r>
              <a:rPr lang="en-US" dirty="0"/>
              <a:t>bloc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B45568-AC7A-40D6-851A-DD7BEB3AC752}"/>
              </a:ext>
            </a:extLst>
          </p:cNvPr>
          <p:cNvSpPr/>
          <p:nvPr/>
        </p:nvSpPr>
        <p:spPr>
          <a:xfrm>
            <a:off x="9957560" y="3074085"/>
            <a:ext cx="885568" cy="1161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1E089FF-92A2-49ED-8990-FAA54483A550}"/>
              </a:ext>
            </a:extLst>
          </p:cNvPr>
          <p:cNvCxnSpPr>
            <a:cxnSpLocks/>
          </p:cNvCxnSpPr>
          <p:nvPr/>
        </p:nvCxnSpPr>
        <p:spPr>
          <a:xfrm>
            <a:off x="9646507" y="3804162"/>
            <a:ext cx="311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5B43C40-7568-4F47-BC19-FB51C2BE7C6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10843128" y="3686902"/>
            <a:ext cx="218301" cy="8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7E72533D-77EE-472D-9EFF-8FFCB2E0DE09}"/>
              </a:ext>
            </a:extLst>
          </p:cNvPr>
          <p:cNvSpPr txBox="1"/>
          <p:nvPr/>
        </p:nvSpPr>
        <p:spPr>
          <a:xfrm>
            <a:off x="8966959" y="3363737"/>
            <a:ext cx="710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Conv.</a:t>
            </a:r>
          </a:p>
          <a:p>
            <a:r>
              <a:rPr lang="en-US" dirty="0"/>
              <a:t>bloc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FC4689-5F69-4F88-BD87-BDB507DCC154}"/>
              </a:ext>
            </a:extLst>
          </p:cNvPr>
          <p:cNvSpPr/>
          <p:nvPr/>
        </p:nvSpPr>
        <p:spPr>
          <a:xfrm>
            <a:off x="11061429" y="3106163"/>
            <a:ext cx="885568" cy="11614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A0F8AE4-1C68-4AFC-9A10-53DFA25D4F28}"/>
              </a:ext>
            </a:extLst>
          </p:cNvPr>
          <p:cNvSpPr txBox="1"/>
          <p:nvPr/>
        </p:nvSpPr>
        <p:spPr>
          <a:xfrm>
            <a:off x="11148955" y="3321359"/>
            <a:ext cx="798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fully.</a:t>
            </a:r>
          </a:p>
          <a:p>
            <a:r>
              <a:rPr lang="en-US" dirty="0"/>
              <a:t>Conn.</a:t>
            </a:r>
          </a:p>
        </p:txBody>
      </p:sp>
    </p:spTree>
    <p:extLst>
      <p:ext uri="{BB962C8B-B14F-4D97-AF65-F5344CB8AC3E}">
        <p14:creationId xmlns:p14="http://schemas.microsoft.com/office/powerpoint/2010/main" val="78200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66AD9-3095-E502-2C75-5C8E119C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Convoution</a:t>
            </a:r>
            <a:r>
              <a:rPr lang="fr-FR" dirty="0"/>
              <a:t>: Vertical </a:t>
            </a:r>
            <a:r>
              <a:rPr lang="fr-FR" dirty="0" err="1"/>
              <a:t>edge</a:t>
            </a:r>
            <a:r>
              <a:rPr lang="fr-FR" dirty="0"/>
              <a:t> </a:t>
            </a:r>
            <a:r>
              <a:rPr lang="fr-FR" dirty="0" err="1"/>
              <a:t>detection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15C9447D-FFD5-5D2C-3413-895E58915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499" y="1724792"/>
            <a:ext cx="5572125" cy="3114889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048B73-FCF1-CCBC-003A-FF03E752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9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79C6A3-A8EA-5BEA-4821-99039A80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262" y="5022776"/>
            <a:ext cx="8001000" cy="10454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7816254-1584-E38B-545C-65107B4C2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828" y="2107442"/>
            <a:ext cx="2763982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389D7-A2FD-2D51-E41D-FB489F7D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Convolution: Vertical </a:t>
            </a:r>
            <a:r>
              <a:rPr lang="fr-FR" dirty="0" err="1"/>
              <a:t>edge</a:t>
            </a:r>
            <a:r>
              <a:rPr lang="fr-FR" dirty="0"/>
              <a:t> </a:t>
            </a:r>
            <a:r>
              <a:rPr lang="fr-FR" dirty="0" err="1"/>
              <a:t>detection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DE5F53F-5303-E083-7336-DDC647025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781" y="1212945"/>
            <a:ext cx="8072438" cy="247893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1D5A1F-1F71-B08D-0EEC-FBD22F9A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10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0305BD-B7C5-1CCF-B254-04E551C62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781" y="3980639"/>
            <a:ext cx="4356055" cy="247893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4C133AD-C539-BE58-6FCC-AFF57B2A5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912" y="4249903"/>
            <a:ext cx="2797307" cy="194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A4397-B465-0F8A-A13B-A193FBCF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Vertical and horizontal </a:t>
            </a:r>
            <a:r>
              <a:rPr lang="fr-FR" dirty="0" err="1"/>
              <a:t>edges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39BF21E-1103-F2E6-C92B-38D381ED1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254" y="1273728"/>
            <a:ext cx="1602874" cy="1917284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59367E-CDE7-F0E9-EF82-C95FB653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11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18DC879-FC6B-EFBE-18E4-19E941474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026" y="1273728"/>
            <a:ext cx="1442331" cy="191292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4F753F6-2ECB-5C6B-3EA8-6423759B1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750" y="3587568"/>
            <a:ext cx="5514808" cy="276878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5EB26C4-1D46-CFA0-AF0A-6F1A67C20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789" y="4015498"/>
            <a:ext cx="2742097" cy="19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3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6EC27-D1CA-4C59-BEB9-8E7E6063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Stride and Image </a:t>
            </a:r>
            <a:r>
              <a:rPr lang="fr-FR" dirty="0" err="1"/>
              <a:t>padding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6347B-DAC6-4083-A4C4-72BD976104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 err="1"/>
              <a:t>Padding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avoid</a:t>
            </a:r>
            <a:r>
              <a:rPr lang="fr-FR" dirty="0"/>
              <a:t> the output </a:t>
            </a:r>
            <a:r>
              <a:rPr lang="fr-FR" dirty="0" err="1"/>
              <a:t>shrinking</a:t>
            </a:r>
            <a:r>
              <a:rPr lang="fr-FR" dirty="0"/>
              <a:t> at </a:t>
            </a:r>
            <a:r>
              <a:rPr lang="fr-FR" dirty="0" err="1"/>
              <a:t>every</a:t>
            </a:r>
            <a:r>
              <a:rPr lang="fr-FR" dirty="0"/>
              <a:t> convolution</a:t>
            </a:r>
          </a:p>
          <a:p>
            <a:pPr lvl="1"/>
            <a:r>
              <a:rPr lang="fr-FR" dirty="0" err="1"/>
              <a:t>Usefull</a:t>
            </a:r>
            <a:r>
              <a:rPr lang="fr-FR" dirty="0"/>
              <a:t> on </a:t>
            </a:r>
            <a:r>
              <a:rPr lang="fr-FR" dirty="0" err="1"/>
              <a:t>small</a:t>
            </a:r>
            <a:r>
              <a:rPr lang="fr-FR" dirty="0"/>
              <a:t> images</a:t>
            </a:r>
          </a:p>
          <a:p>
            <a:r>
              <a:rPr lang="fr-FR" dirty="0"/>
              <a:t>Stride</a:t>
            </a:r>
          </a:p>
          <a:p>
            <a:pPr lvl="1"/>
            <a:r>
              <a:rPr lang="fr-FR" dirty="0"/>
              <a:t>Convolution kernel shift</a:t>
            </a:r>
          </a:p>
          <a:p>
            <a:pPr lvl="1"/>
            <a:r>
              <a:rPr lang="fr-FR" dirty="0"/>
              <a:t>To </a:t>
            </a:r>
            <a:r>
              <a:rPr lang="fr-FR" dirty="0" err="1"/>
              <a:t>reduce</a:t>
            </a:r>
            <a:r>
              <a:rPr lang="fr-FR" dirty="0"/>
              <a:t> data dimension by </a:t>
            </a:r>
            <a:r>
              <a:rPr lang="fr-FR" dirty="0" err="1"/>
              <a:t>subsampling</a:t>
            </a:r>
            <a:endParaRPr lang="fr-FR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FCEA9330-DEA5-4B1D-9391-B102478104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519" y="2342652"/>
            <a:ext cx="3052962" cy="3041060"/>
          </a:xfrm>
        </p:spPr>
      </p:pic>
      <p:sp>
        <p:nvSpPr>
          <p:cNvPr id="10" name="Flèche : en arc 9">
            <a:extLst>
              <a:ext uri="{FF2B5EF4-FFF2-40B4-BE49-F238E27FC236}">
                <a16:creationId xmlns:a16="http://schemas.microsoft.com/office/drawing/2014/main" id="{8F0C81BA-413A-470E-B96E-D91CBABE51D2}"/>
              </a:ext>
            </a:extLst>
          </p:cNvPr>
          <p:cNvSpPr/>
          <p:nvPr/>
        </p:nvSpPr>
        <p:spPr>
          <a:xfrm>
            <a:off x="7818692" y="2534725"/>
            <a:ext cx="463264" cy="49782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Flèche : en arc 10">
            <a:extLst>
              <a:ext uri="{FF2B5EF4-FFF2-40B4-BE49-F238E27FC236}">
                <a16:creationId xmlns:a16="http://schemas.microsoft.com/office/drawing/2014/main" id="{69B3EF2B-2229-4727-B3AD-092C30A55524}"/>
              </a:ext>
            </a:extLst>
          </p:cNvPr>
          <p:cNvSpPr/>
          <p:nvPr/>
        </p:nvSpPr>
        <p:spPr>
          <a:xfrm>
            <a:off x="8183297" y="2534725"/>
            <a:ext cx="463264" cy="49782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Flèche : en arc 11">
            <a:extLst>
              <a:ext uri="{FF2B5EF4-FFF2-40B4-BE49-F238E27FC236}">
                <a16:creationId xmlns:a16="http://schemas.microsoft.com/office/drawing/2014/main" id="{17606543-7764-4100-B63D-EBD996809FB8}"/>
              </a:ext>
            </a:extLst>
          </p:cNvPr>
          <p:cNvSpPr/>
          <p:nvPr/>
        </p:nvSpPr>
        <p:spPr>
          <a:xfrm>
            <a:off x="8547902" y="2534725"/>
            <a:ext cx="463264" cy="49782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Flèche : en arc 12">
            <a:extLst>
              <a:ext uri="{FF2B5EF4-FFF2-40B4-BE49-F238E27FC236}">
                <a16:creationId xmlns:a16="http://schemas.microsoft.com/office/drawing/2014/main" id="{E3E5D272-2A32-4FB6-AFE3-874AE45D7912}"/>
              </a:ext>
            </a:extLst>
          </p:cNvPr>
          <p:cNvSpPr/>
          <p:nvPr/>
        </p:nvSpPr>
        <p:spPr>
          <a:xfrm>
            <a:off x="8912507" y="2534725"/>
            <a:ext cx="463264" cy="49782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Flèche : en arc 13">
            <a:extLst>
              <a:ext uri="{FF2B5EF4-FFF2-40B4-BE49-F238E27FC236}">
                <a16:creationId xmlns:a16="http://schemas.microsoft.com/office/drawing/2014/main" id="{38F47F80-ACEB-44DA-A09C-13F78F3AD5CA}"/>
              </a:ext>
            </a:extLst>
          </p:cNvPr>
          <p:cNvSpPr/>
          <p:nvPr/>
        </p:nvSpPr>
        <p:spPr>
          <a:xfrm>
            <a:off x="9277111" y="2534725"/>
            <a:ext cx="463264" cy="497828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Flèche : en arc 15">
            <a:extLst>
              <a:ext uri="{FF2B5EF4-FFF2-40B4-BE49-F238E27FC236}">
                <a16:creationId xmlns:a16="http://schemas.microsoft.com/office/drawing/2014/main" id="{53A47DAA-AA4B-4D2C-9490-86D2D323F4DC}"/>
              </a:ext>
            </a:extLst>
          </p:cNvPr>
          <p:cNvSpPr/>
          <p:nvPr/>
        </p:nvSpPr>
        <p:spPr>
          <a:xfrm>
            <a:off x="7725444" y="2420888"/>
            <a:ext cx="824265" cy="740706"/>
          </a:xfrm>
          <a:prstGeom prst="circular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Flèche : en arc 17">
            <a:extLst>
              <a:ext uri="{FF2B5EF4-FFF2-40B4-BE49-F238E27FC236}">
                <a16:creationId xmlns:a16="http://schemas.microsoft.com/office/drawing/2014/main" id="{12DD7C41-984C-4410-83E8-A8AD71E5C6D9}"/>
              </a:ext>
            </a:extLst>
          </p:cNvPr>
          <p:cNvSpPr/>
          <p:nvPr/>
        </p:nvSpPr>
        <p:spPr>
          <a:xfrm>
            <a:off x="8454654" y="2420888"/>
            <a:ext cx="824265" cy="740706"/>
          </a:xfrm>
          <a:prstGeom prst="circular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8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DC562-02BB-46A2-8097-500376EB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58B98-85DB-406E-B0BB-2F258D98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13</a:t>
            </a:fld>
            <a:endParaRPr lang="en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32D0DF6-7F69-4DC3-AD1F-D7CFF8A5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3" y="2738437"/>
            <a:ext cx="10713714" cy="3138488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541B89C-DE25-449B-A4B1-3B90C4DF2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44175" cy="4351338"/>
          </a:xfrm>
        </p:spPr>
        <p:txBody>
          <a:bodyPr/>
          <a:lstStyle/>
          <a:p>
            <a:r>
              <a:rPr lang="fr-FR" dirty="0"/>
              <a:t>Image 5x5, kernel 3x3, </a:t>
            </a:r>
            <a:r>
              <a:rPr lang="fr-FR" dirty="0" err="1"/>
              <a:t>padding</a:t>
            </a:r>
            <a:r>
              <a:rPr lang="fr-FR" dirty="0"/>
              <a:t> 1, stride 1</a:t>
            </a:r>
          </a:p>
        </p:txBody>
      </p:sp>
    </p:spTree>
    <p:extLst>
      <p:ext uri="{BB962C8B-B14F-4D97-AF65-F5344CB8AC3E}">
        <p14:creationId xmlns:p14="http://schemas.microsoft.com/office/powerpoint/2010/main" val="2670794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6EC27-D1CA-4C59-BEB9-8E7E6063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Stride and Image </a:t>
            </a:r>
            <a:r>
              <a:rPr lang="fr-FR" dirty="0" err="1"/>
              <a:t>padding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8345F64-7798-4A82-9A81-12AB66C9D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425"/>
            <a:ext cx="12192000" cy="40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9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DC562-02BB-46A2-8097-500376EB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58B98-85DB-406E-B0BB-2F258D98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15</a:t>
            </a:fld>
            <a:endParaRPr lang="en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02BE35C-12B9-41AF-B205-C67C6774A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00" y="2425100"/>
            <a:ext cx="4191585" cy="429637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60C37DD-5806-4546-A6CB-E09D48A07EB0}"/>
              </a:ext>
            </a:extLst>
          </p:cNvPr>
          <p:cNvSpPr txBox="1"/>
          <p:nvPr/>
        </p:nvSpPr>
        <p:spPr>
          <a:xfrm>
            <a:off x="7217876" y="5522099"/>
            <a:ext cx="452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 complete shape of the output also depends on the number of channels and the number of filters !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CEF101-8F3A-4361-A611-CE2CAAAC27D4}"/>
              </a:ext>
            </a:extLst>
          </p:cNvPr>
          <p:cNvSpPr txBox="1"/>
          <p:nvPr/>
        </p:nvSpPr>
        <p:spPr>
          <a:xfrm>
            <a:off x="733331" y="1385180"/>
            <a:ext cx="50337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 know the size of the output on each dimension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C0E9CE7-5E87-40E7-A29F-52ECACE92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780" y="2631091"/>
            <a:ext cx="1879868" cy="33358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BD3D3BB-9327-4DD0-B449-DF99A913D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354" y="2621858"/>
            <a:ext cx="967966" cy="34282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BE4F933F-04E3-49D8-A79F-7F25640D8E28}"/>
              </a:ext>
            </a:extLst>
          </p:cNvPr>
          <p:cNvSpPr txBox="1"/>
          <p:nvPr/>
        </p:nvSpPr>
        <p:spPr>
          <a:xfrm>
            <a:off x="7731659" y="2621858"/>
            <a:ext cx="325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51A94B2-C72A-4593-8F49-7D587F3FD9EF}"/>
              </a:ext>
            </a:extLst>
          </p:cNvPr>
          <p:cNvSpPr txBox="1"/>
          <p:nvPr/>
        </p:nvSpPr>
        <p:spPr>
          <a:xfrm>
            <a:off x="9239346" y="2531658"/>
            <a:ext cx="325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=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ED9A3CD-45A6-4D7B-9294-C0FB441B3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73" y="2631091"/>
            <a:ext cx="1159018" cy="308829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B8B92928-D597-4D1D-AD75-D812D468CCC9}"/>
              </a:ext>
            </a:extLst>
          </p:cNvPr>
          <p:cNvSpPr txBox="1"/>
          <p:nvPr/>
        </p:nvSpPr>
        <p:spPr>
          <a:xfrm>
            <a:off x="8485502" y="3054878"/>
            <a:ext cx="518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K=3</a:t>
            </a:r>
          </a:p>
          <a:p>
            <a:r>
              <a:rPr lang="en-US" sz="1600" dirty="0"/>
              <a:t>S=1</a:t>
            </a:r>
          </a:p>
          <a:p>
            <a:r>
              <a:rPr lang="en-US" sz="1600" dirty="0"/>
              <a:t>P=0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B50F548-1869-4BA2-883F-23E90F1E821C}"/>
              </a:ext>
            </a:extLst>
          </p:cNvPr>
          <p:cNvSpPr txBox="1"/>
          <p:nvPr/>
        </p:nvSpPr>
        <p:spPr>
          <a:xfrm>
            <a:off x="6383808" y="3054878"/>
            <a:ext cx="691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W=6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568A5E8-B590-4BF4-BBA3-08819ACF5A1B}"/>
              </a:ext>
            </a:extLst>
          </p:cNvPr>
          <p:cNvSpPr txBox="1"/>
          <p:nvPr/>
        </p:nvSpPr>
        <p:spPr>
          <a:xfrm>
            <a:off x="10068453" y="3038001"/>
            <a:ext cx="691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W=4</a:t>
            </a:r>
          </a:p>
        </p:txBody>
      </p:sp>
    </p:spTree>
    <p:extLst>
      <p:ext uri="{BB962C8B-B14F-4D97-AF65-F5344CB8AC3E}">
        <p14:creationId xmlns:p14="http://schemas.microsoft.com/office/powerpoint/2010/main" val="162610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16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10231316" y="4536191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163D5A14-C118-45D1-B65E-2F41344DD6CB}"/>
              </a:ext>
            </a:extLst>
          </p:cNvPr>
          <p:cNvSpPr/>
          <p:nvPr/>
        </p:nvSpPr>
        <p:spPr>
          <a:xfrm>
            <a:off x="596347" y="2198137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20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17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10330961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F3B756-1327-45BB-8755-CC59D9149026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C9E2A92-0E9C-403C-A349-D0EDE22C6C12}"/>
              </a:ext>
            </a:extLst>
          </p:cNvPr>
          <p:cNvSpPr txBox="1"/>
          <p:nvPr/>
        </p:nvSpPr>
        <p:spPr>
          <a:xfrm>
            <a:off x="10231316" y="4536191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6ED23C38-562A-4283-BD51-F627CC52EF6C}"/>
              </a:ext>
            </a:extLst>
          </p:cNvPr>
          <p:cNvSpPr/>
          <p:nvPr/>
        </p:nvSpPr>
        <p:spPr>
          <a:xfrm>
            <a:off x="1073426" y="2198137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7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18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10750185" y="2881148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EAB235-73CE-4A24-B914-A958525E020A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0134E24-4C0D-434F-B2AA-B4DA8E1ACEF9}"/>
              </a:ext>
            </a:extLst>
          </p:cNvPr>
          <p:cNvSpPr txBox="1"/>
          <p:nvPr/>
        </p:nvSpPr>
        <p:spPr>
          <a:xfrm>
            <a:off x="10231316" y="4536191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BBB78A8F-DD56-492D-B16F-B14E3C855479}"/>
              </a:ext>
            </a:extLst>
          </p:cNvPr>
          <p:cNvSpPr/>
          <p:nvPr/>
        </p:nvSpPr>
        <p:spPr>
          <a:xfrm>
            <a:off x="1529862" y="2198137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5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19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11145838" y="2881148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1D2646-9929-4E9E-A655-B7C467BDE5CB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FA6789D-1FDD-4275-AE1E-E021A01DC712}"/>
              </a:ext>
            </a:extLst>
          </p:cNvPr>
          <p:cNvSpPr txBox="1"/>
          <p:nvPr/>
        </p:nvSpPr>
        <p:spPr>
          <a:xfrm>
            <a:off x="10231316" y="4536191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C9C1ED45-0B40-49E9-96C5-7D465C42ED41}"/>
              </a:ext>
            </a:extLst>
          </p:cNvPr>
          <p:cNvSpPr/>
          <p:nvPr/>
        </p:nvSpPr>
        <p:spPr>
          <a:xfrm>
            <a:off x="2035533" y="2198137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20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41292" y="3241632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C9DE6E-ED82-4FA9-B65C-6F1A100B2D84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8BD14AB-A6EB-4388-B596-F7B7B6924F75}"/>
              </a:ext>
            </a:extLst>
          </p:cNvPr>
          <p:cNvSpPr txBox="1"/>
          <p:nvPr/>
        </p:nvSpPr>
        <p:spPr>
          <a:xfrm>
            <a:off x="10231316" y="4536191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F978DFD-6D2F-4AAB-8471-533EF6BB955B}"/>
              </a:ext>
            </a:extLst>
          </p:cNvPr>
          <p:cNvSpPr/>
          <p:nvPr/>
        </p:nvSpPr>
        <p:spPr>
          <a:xfrm>
            <a:off x="596347" y="2673602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8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21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3" y="2092689"/>
            <a:ext cx="11139854" cy="349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529862" y="5587787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10336945" y="3248758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8BB7F3-8A8D-4AC2-A130-D04CCFF5A93E}"/>
              </a:ext>
            </a:extLst>
          </p:cNvPr>
          <p:cNvSpPr txBox="1"/>
          <p:nvPr/>
        </p:nvSpPr>
        <p:spPr>
          <a:xfrm>
            <a:off x="6207369" y="4544433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5E77F11-7DD3-4BF7-A486-8A0817C71945}"/>
              </a:ext>
            </a:extLst>
          </p:cNvPr>
          <p:cNvSpPr txBox="1"/>
          <p:nvPr/>
        </p:nvSpPr>
        <p:spPr>
          <a:xfrm>
            <a:off x="10096500" y="4536191"/>
            <a:ext cx="1444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4x4x1x1</a:t>
            </a:r>
          </a:p>
          <a:p>
            <a:r>
              <a:rPr lang="en-US" sz="2800" dirty="0"/>
              <a:t>=4x4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EAFEFF0-E8C9-479A-9E30-29E6C9CFA715}"/>
              </a:ext>
            </a:extLst>
          </p:cNvPr>
          <p:cNvSpPr/>
          <p:nvPr/>
        </p:nvSpPr>
        <p:spPr>
          <a:xfrm>
            <a:off x="1041621" y="2665486"/>
            <a:ext cx="1948069" cy="1857028"/>
          </a:xfrm>
          <a:prstGeom prst="cube">
            <a:avLst>
              <a:gd name="adj" fmla="val 22859"/>
            </a:avLst>
          </a:prstGeom>
          <a:solidFill>
            <a:srgbClr val="FFFF0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64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22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2258C25-79A0-4FB8-A30D-C3799D72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41" y="3275525"/>
            <a:ext cx="458665" cy="46630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586FB86-56B8-4552-BCAE-76C15D2C1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30" y="3113942"/>
            <a:ext cx="781050" cy="64770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0A8A804-0202-49AA-B832-3D15BCA8463E}"/>
              </a:ext>
            </a:extLst>
          </p:cNvPr>
          <p:cNvSpPr txBox="1"/>
          <p:nvPr/>
        </p:nvSpPr>
        <p:spPr>
          <a:xfrm>
            <a:off x="9455074" y="4221918"/>
            <a:ext cx="96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4x4x1x2</a:t>
            </a:r>
          </a:p>
          <a:p>
            <a:r>
              <a:rPr lang="en-US" dirty="0"/>
              <a:t>-&gt; 4x4x2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4D53FF37-246A-47A8-A768-DDDE694CC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52" y="2229864"/>
            <a:ext cx="3150149" cy="296639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52BF689-6627-4C61-ACA8-2657F200F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840" y="1754759"/>
            <a:ext cx="1947496" cy="175392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8DE732E-71AF-4C80-A92E-8890C1086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806" y="3908571"/>
            <a:ext cx="1751563" cy="1577462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2AB83ECC-BEDE-4AA2-9598-C69C35859D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733" y="2351600"/>
            <a:ext cx="1924050" cy="184785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5B123A98-7B69-474E-AA15-C0B757C8FA97}"/>
              </a:ext>
            </a:extLst>
          </p:cNvPr>
          <p:cNvSpPr txBox="1"/>
          <p:nvPr/>
        </p:nvSpPr>
        <p:spPr>
          <a:xfrm>
            <a:off x="5340152" y="3275525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DC84229-BBB4-440A-AE57-029C5FFFDA3B}"/>
              </a:ext>
            </a:extLst>
          </p:cNvPr>
          <p:cNvSpPr txBox="1"/>
          <p:nvPr/>
        </p:nvSpPr>
        <p:spPr>
          <a:xfrm>
            <a:off x="5493500" y="5344698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1706E0E-8EEB-403D-BF38-9248393CB622}"/>
              </a:ext>
            </a:extLst>
          </p:cNvPr>
          <p:cNvSpPr txBox="1"/>
          <p:nvPr/>
        </p:nvSpPr>
        <p:spPr>
          <a:xfrm>
            <a:off x="5186806" y="6198255"/>
            <a:ext cx="169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= 3x3x3x2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195ADDD-4B66-4853-89DA-90D32A774B23}"/>
              </a:ext>
            </a:extLst>
          </p:cNvPr>
          <p:cNvCxnSpPr/>
          <p:nvPr/>
        </p:nvCxnSpPr>
        <p:spPr>
          <a:xfrm>
            <a:off x="4758906" y="5999799"/>
            <a:ext cx="2424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F57C2BB-7407-4D3C-8605-1335BE42B28C}"/>
              </a:ext>
            </a:extLst>
          </p:cNvPr>
          <p:cNvSpPr txBox="1"/>
          <p:nvPr/>
        </p:nvSpPr>
        <p:spPr>
          <a:xfrm>
            <a:off x="1176777" y="5196254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</p:spTree>
    <p:extLst>
      <p:ext uri="{BB962C8B-B14F-4D97-AF65-F5344CB8AC3E}">
        <p14:creationId xmlns:p14="http://schemas.microsoft.com/office/powerpoint/2010/main" val="3300185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23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2258C25-79A0-4FB8-A30D-C3799D72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41" y="3275525"/>
            <a:ext cx="458665" cy="46630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586FB86-56B8-4552-BCAE-76C15D2C1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30" y="3113942"/>
            <a:ext cx="781050" cy="64770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0A8A804-0202-49AA-B832-3D15BCA8463E}"/>
              </a:ext>
            </a:extLst>
          </p:cNvPr>
          <p:cNvSpPr txBox="1"/>
          <p:nvPr/>
        </p:nvSpPr>
        <p:spPr>
          <a:xfrm>
            <a:off x="9455074" y="4221918"/>
            <a:ext cx="96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4x4x1x3</a:t>
            </a:r>
          </a:p>
          <a:p>
            <a:r>
              <a:rPr lang="en-US" dirty="0"/>
              <a:t>-&gt; 4x4x3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4D53FF37-246A-47A8-A768-DDDE694CC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52" y="2229864"/>
            <a:ext cx="3150149" cy="296639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52BF689-6627-4C61-ACA8-2657F200F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840" y="1051374"/>
            <a:ext cx="1947496" cy="175392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8DE732E-71AF-4C80-A92E-8890C1086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3033" y="2943525"/>
            <a:ext cx="1751563" cy="1577462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5B123A98-7B69-474E-AA15-C0B757C8FA97}"/>
              </a:ext>
            </a:extLst>
          </p:cNvPr>
          <p:cNvSpPr txBox="1"/>
          <p:nvPr/>
        </p:nvSpPr>
        <p:spPr>
          <a:xfrm>
            <a:off x="5340152" y="2572140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DC84229-BBB4-440A-AE57-029C5FFFDA3B}"/>
              </a:ext>
            </a:extLst>
          </p:cNvPr>
          <p:cNvSpPr txBox="1"/>
          <p:nvPr/>
        </p:nvSpPr>
        <p:spPr>
          <a:xfrm>
            <a:off x="5493500" y="435451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926A9E6-6A55-4730-AD46-BD58E05EDB32}"/>
              </a:ext>
            </a:extLst>
          </p:cNvPr>
          <p:cNvSpPr txBox="1"/>
          <p:nvPr/>
        </p:nvSpPr>
        <p:spPr>
          <a:xfrm>
            <a:off x="5457078" y="6225430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C0007F-188E-4CB7-AAA7-D6408003CD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927" y="4868249"/>
            <a:ext cx="1149152" cy="106871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8FE8025-D876-4D2C-BBB2-35C91209E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1424" y="5068181"/>
            <a:ext cx="1149152" cy="1068711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CE494766-63E3-42FF-A7EA-36B767A08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3405" y="5245787"/>
            <a:ext cx="1149152" cy="10687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CE9ABB6-2749-4DD3-8011-59AB18D02C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987" y="1863138"/>
            <a:ext cx="2522584" cy="2358780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6BE04AA-91A3-45C2-9FA3-27752AC02878}"/>
              </a:ext>
            </a:extLst>
          </p:cNvPr>
          <p:cNvSpPr txBox="1"/>
          <p:nvPr/>
        </p:nvSpPr>
        <p:spPr>
          <a:xfrm>
            <a:off x="1203938" y="5196254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</p:spTree>
    <p:extLst>
      <p:ext uri="{BB962C8B-B14F-4D97-AF65-F5344CB8AC3E}">
        <p14:creationId xmlns:p14="http://schemas.microsoft.com/office/powerpoint/2010/main" val="3804058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DC562-02BB-46A2-8097-500376EB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Convolution: Dimensions writing Rules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58B98-85DB-406E-B0BB-2F258D98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24</a:t>
            </a:fld>
            <a:endParaRPr lang="en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A34AAA3-E460-443F-93C8-6AD24C4BFD23}"/>
              </a:ext>
            </a:extLst>
          </p:cNvPr>
          <p:cNvSpPr txBox="1"/>
          <p:nvPr/>
        </p:nvSpPr>
        <p:spPr>
          <a:xfrm>
            <a:off x="1673882" y="4960473"/>
            <a:ext cx="96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4x4x1x3</a:t>
            </a:r>
          </a:p>
          <a:p>
            <a:r>
              <a:rPr lang="en-US" dirty="0"/>
              <a:t>-&gt; 4x4x3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6D8D81E-11FA-41E9-999C-ADB01B68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95" y="2601693"/>
            <a:ext cx="2522584" cy="235878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F042D8E-3DF0-48A7-8B5C-6E4912B1E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266" y="2601693"/>
            <a:ext cx="2522585" cy="236382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A374178-04CE-4232-85FA-CF30D7E198E7}"/>
              </a:ext>
            </a:extLst>
          </p:cNvPr>
          <p:cNvSpPr txBox="1"/>
          <p:nvPr/>
        </p:nvSpPr>
        <p:spPr>
          <a:xfrm>
            <a:off x="5387167" y="4968116"/>
            <a:ext cx="96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4x4x1x1</a:t>
            </a:r>
          </a:p>
          <a:p>
            <a:r>
              <a:rPr lang="en-US" dirty="0"/>
              <a:t>-&gt; 4x4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3F7E6F5-3B1B-4E89-9BE5-E4AF9A392987}"/>
              </a:ext>
            </a:extLst>
          </p:cNvPr>
          <p:cNvSpPr txBox="1"/>
          <p:nvPr/>
        </p:nvSpPr>
        <p:spPr>
          <a:xfrm>
            <a:off x="8396654" y="2890057"/>
            <a:ext cx="3496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input and output tensors, dimensions equal to 1 are discarded</a:t>
            </a:r>
          </a:p>
        </p:txBody>
      </p:sp>
    </p:spTree>
    <p:extLst>
      <p:ext uri="{BB962C8B-B14F-4D97-AF65-F5344CB8AC3E}">
        <p14:creationId xmlns:p14="http://schemas.microsoft.com/office/powerpoint/2010/main" val="3272752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DC562-02BB-46A2-8097-500376EB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Convolution: Dimensions writing Rules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58B98-85DB-406E-B0BB-2F258D98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25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3F7E6F5-3B1B-4E89-9BE5-E4AF9A392987}"/>
              </a:ext>
            </a:extLst>
          </p:cNvPr>
          <p:cNvSpPr txBox="1"/>
          <p:nvPr/>
        </p:nvSpPr>
        <p:spPr>
          <a:xfrm>
            <a:off x="8396654" y="2740587"/>
            <a:ext cx="349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convolution tensor (kernel), dimensions equal to 1 are kept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A013F33-CFF2-4975-88E2-67E5D5632ABB}"/>
              </a:ext>
            </a:extLst>
          </p:cNvPr>
          <p:cNvSpPr txBox="1"/>
          <p:nvPr/>
        </p:nvSpPr>
        <p:spPr>
          <a:xfrm>
            <a:off x="1248507" y="4588395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3x3x1x3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1E21551-27DB-4665-B130-EA332502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57" y="2910255"/>
            <a:ext cx="1861168" cy="18089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BAB9D8C-B88E-4C74-BDE8-DBD9DCFB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891" y="2740587"/>
            <a:ext cx="2391109" cy="25149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F6891E5-65EF-4790-BAC6-FA1E36C2B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841" y="3437792"/>
            <a:ext cx="781050" cy="647700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D0A71C9-CBB6-4021-8D47-2FC81530834B}"/>
              </a:ext>
            </a:extLst>
          </p:cNvPr>
          <p:cNvCxnSpPr>
            <a:cxnSpLocks/>
          </p:cNvCxnSpPr>
          <p:nvPr/>
        </p:nvCxnSpPr>
        <p:spPr>
          <a:xfrm flipV="1">
            <a:off x="3510044" y="3482672"/>
            <a:ext cx="497413" cy="578967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959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26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AC3423D5-747A-4499-BA63-5555B8DD5EBA}"/>
              </a:ext>
            </a:extLst>
          </p:cNvPr>
          <p:cNvSpPr txBox="1"/>
          <p:nvPr/>
        </p:nvSpPr>
        <p:spPr>
          <a:xfrm>
            <a:off x="4345657" y="4768125"/>
            <a:ext cx="12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 P=0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597031-FCBD-4796-ADB0-23F20667362B}"/>
              </a:ext>
            </a:extLst>
          </p:cNvPr>
          <p:cNvSpPr/>
          <p:nvPr/>
        </p:nvSpPr>
        <p:spPr>
          <a:xfrm>
            <a:off x="9219652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3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27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095BE65-5D0A-49DE-BBB9-E51AD5311690}"/>
              </a:ext>
            </a:extLst>
          </p:cNvPr>
          <p:cNvSpPr txBox="1"/>
          <p:nvPr/>
        </p:nvSpPr>
        <p:spPr>
          <a:xfrm>
            <a:off x="505142" y="5451699"/>
            <a:ext cx="214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Ws</a:t>
            </a:r>
            <a:r>
              <a:rPr lang="en-US" dirty="0"/>
              <a:t>=(W-K+2P)/S+1</a:t>
            </a:r>
          </a:p>
          <a:p>
            <a:r>
              <a:rPr lang="en-US" dirty="0" err="1"/>
              <a:t>Ws</a:t>
            </a:r>
            <a:r>
              <a:rPr lang="en-US" dirty="0"/>
              <a:t> = (6-3+0)/1+1 =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EF5164-C9DB-4E70-8F6A-5B8E7E2F00A6}"/>
              </a:ext>
            </a:extLst>
          </p:cNvPr>
          <p:cNvSpPr/>
          <p:nvPr/>
        </p:nvSpPr>
        <p:spPr>
          <a:xfrm>
            <a:off x="1214629" y="4743858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85D2B6-6411-49C8-A18B-F47E19536D5C}"/>
              </a:ext>
            </a:extLst>
          </p:cNvPr>
          <p:cNvSpPr/>
          <p:nvPr/>
        </p:nvSpPr>
        <p:spPr>
          <a:xfrm>
            <a:off x="5957583" y="3974908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EB4447-79AA-4AEA-A9FE-A1CE2D55984B}"/>
              </a:ext>
            </a:extLst>
          </p:cNvPr>
          <p:cNvSpPr/>
          <p:nvPr/>
        </p:nvSpPr>
        <p:spPr>
          <a:xfrm>
            <a:off x="9565581" y="3820525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C3423D5-747A-4499-BA63-5555B8DD5EBA}"/>
              </a:ext>
            </a:extLst>
          </p:cNvPr>
          <p:cNvSpPr txBox="1"/>
          <p:nvPr/>
        </p:nvSpPr>
        <p:spPr>
          <a:xfrm>
            <a:off x="4345657" y="4768125"/>
            <a:ext cx="12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 P=0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33BF99-42CD-45EF-8246-D37CF904562C}"/>
              </a:ext>
            </a:extLst>
          </p:cNvPr>
          <p:cNvSpPr/>
          <p:nvPr/>
        </p:nvSpPr>
        <p:spPr>
          <a:xfrm>
            <a:off x="9219652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7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28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095BE65-5D0A-49DE-BBB9-E51AD5311690}"/>
              </a:ext>
            </a:extLst>
          </p:cNvPr>
          <p:cNvSpPr txBox="1"/>
          <p:nvPr/>
        </p:nvSpPr>
        <p:spPr>
          <a:xfrm>
            <a:off x="505142" y="5451699"/>
            <a:ext cx="214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Ws</a:t>
            </a:r>
            <a:r>
              <a:rPr lang="en-US" dirty="0"/>
              <a:t>=(W-K+2P)/S+1</a:t>
            </a:r>
          </a:p>
          <a:p>
            <a:r>
              <a:rPr lang="en-US" dirty="0" err="1"/>
              <a:t>Ws</a:t>
            </a:r>
            <a:r>
              <a:rPr lang="en-US" dirty="0"/>
              <a:t> = (6-3+0)/1+1 = 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FE09E7-B5F8-418E-9541-9EDDA2B812DE}"/>
              </a:ext>
            </a:extLst>
          </p:cNvPr>
          <p:cNvSpPr/>
          <p:nvPr/>
        </p:nvSpPr>
        <p:spPr>
          <a:xfrm>
            <a:off x="1624204" y="4743858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FBC10C-07F1-431A-942F-95497D64C756}"/>
              </a:ext>
            </a:extLst>
          </p:cNvPr>
          <p:cNvSpPr/>
          <p:nvPr/>
        </p:nvSpPr>
        <p:spPr>
          <a:xfrm>
            <a:off x="6300483" y="3974908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14C347-42DB-4F70-9972-7877174F21CF}"/>
              </a:ext>
            </a:extLst>
          </p:cNvPr>
          <p:cNvSpPr/>
          <p:nvPr/>
        </p:nvSpPr>
        <p:spPr>
          <a:xfrm>
            <a:off x="9937056" y="3820525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EA6011E-9BB5-4F11-80ED-D9932760A4B6}"/>
              </a:ext>
            </a:extLst>
          </p:cNvPr>
          <p:cNvSpPr txBox="1"/>
          <p:nvPr/>
        </p:nvSpPr>
        <p:spPr>
          <a:xfrm>
            <a:off x="4345657" y="4768125"/>
            <a:ext cx="12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 P=0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D690C8-A74F-45E3-BD71-6B7944ADF993}"/>
              </a:ext>
            </a:extLst>
          </p:cNvPr>
          <p:cNvSpPr/>
          <p:nvPr/>
        </p:nvSpPr>
        <p:spPr>
          <a:xfrm>
            <a:off x="9219652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97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29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095BE65-5D0A-49DE-BBB9-E51AD5311690}"/>
              </a:ext>
            </a:extLst>
          </p:cNvPr>
          <p:cNvSpPr txBox="1"/>
          <p:nvPr/>
        </p:nvSpPr>
        <p:spPr>
          <a:xfrm>
            <a:off x="505142" y="5451699"/>
            <a:ext cx="214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Ws</a:t>
            </a:r>
            <a:r>
              <a:rPr lang="en-US" dirty="0"/>
              <a:t>=(W-K+2P)/S+1</a:t>
            </a:r>
          </a:p>
          <a:p>
            <a:r>
              <a:rPr lang="en-US" dirty="0" err="1"/>
              <a:t>Ws</a:t>
            </a:r>
            <a:r>
              <a:rPr lang="en-US" dirty="0"/>
              <a:t> = (3-3+0)/1+1 =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15C2AC-92BA-40E4-9ADB-05C374583F15}"/>
              </a:ext>
            </a:extLst>
          </p:cNvPr>
          <p:cNvSpPr/>
          <p:nvPr/>
        </p:nvSpPr>
        <p:spPr>
          <a:xfrm>
            <a:off x="1909954" y="4743858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FC09F4-E21D-453D-BFDC-79FCAE10BE58}"/>
              </a:ext>
            </a:extLst>
          </p:cNvPr>
          <p:cNvSpPr/>
          <p:nvPr/>
        </p:nvSpPr>
        <p:spPr>
          <a:xfrm>
            <a:off x="6624253" y="3986654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E40C16-EA37-4865-B029-103D3EC0FD90}"/>
              </a:ext>
            </a:extLst>
          </p:cNvPr>
          <p:cNvSpPr/>
          <p:nvPr/>
        </p:nvSpPr>
        <p:spPr>
          <a:xfrm>
            <a:off x="10231606" y="3820525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991C59E-7056-4787-B721-547566A68569}"/>
              </a:ext>
            </a:extLst>
          </p:cNvPr>
          <p:cNvSpPr txBox="1"/>
          <p:nvPr/>
        </p:nvSpPr>
        <p:spPr>
          <a:xfrm>
            <a:off x="4345657" y="4768125"/>
            <a:ext cx="12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S=1, P=0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B14515-10BA-4198-9521-898F3EB8AA7A}"/>
              </a:ext>
            </a:extLst>
          </p:cNvPr>
          <p:cNvSpPr/>
          <p:nvPr/>
        </p:nvSpPr>
        <p:spPr>
          <a:xfrm>
            <a:off x="9219652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2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30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4x4x1x2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2E40C16-EA37-4865-B029-103D3EC0FD90}"/>
              </a:ext>
            </a:extLst>
          </p:cNvPr>
          <p:cNvSpPr/>
          <p:nvPr/>
        </p:nvSpPr>
        <p:spPr>
          <a:xfrm>
            <a:off x="10597367" y="3820525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CD13BA-EDC5-454A-8350-C8912C2D1690}"/>
              </a:ext>
            </a:extLst>
          </p:cNvPr>
          <p:cNvSpPr/>
          <p:nvPr/>
        </p:nvSpPr>
        <p:spPr>
          <a:xfrm>
            <a:off x="7022740" y="3956989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A34AF88-3235-4736-9BD6-5AD503477990}"/>
              </a:ext>
            </a:extLst>
          </p:cNvPr>
          <p:cNvSpPr txBox="1"/>
          <p:nvPr/>
        </p:nvSpPr>
        <p:spPr>
          <a:xfrm>
            <a:off x="7615524" y="4854224"/>
            <a:ext cx="210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filters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54E266FA-9B1B-4480-B545-D51B4A0BC2C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224665" y="4347126"/>
            <a:ext cx="390859" cy="691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AA6A06B-860F-46AD-9622-E929B51C69F7}"/>
              </a:ext>
            </a:extLst>
          </p:cNvPr>
          <p:cNvCxnSpPr>
            <a:cxnSpLocks/>
          </p:cNvCxnSpPr>
          <p:nvPr/>
        </p:nvCxnSpPr>
        <p:spPr>
          <a:xfrm flipH="1">
            <a:off x="9453377" y="4182794"/>
            <a:ext cx="1364308" cy="87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47D9B0D-BF45-4551-8604-644586196F3E}"/>
              </a:ext>
            </a:extLst>
          </p:cNvPr>
          <p:cNvSpPr/>
          <p:nvPr/>
        </p:nvSpPr>
        <p:spPr>
          <a:xfrm>
            <a:off x="9219652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93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31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541294" y="3718352"/>
            <a:ext cx="1512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4x4x1x2</a:t>
            </a:r>
          </a:p>
          <a:p>
            <a:pPr algn="r"/>
            <a:r>
              <a:rPr lang="en-US" sz="2800" dirty="0"/>
              <a:t>=4x4x2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62E40C16-EA37-4865-B029-103D3EC0FD90}"/>
              </a:ext>
            </a:extLst>
          </p:cNvPr>
          <p:cNvSpPr/>
          <p:nvPr/>
        </p:nvSpPr>
        <p:spPr>
          <a:xfrm>
            <a:off x="10671262" y="4195405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CD13BA-EDC5-454A-8350-C8912C2D1690}"/>
              </a:ext>
            </a:extLst>
          </p:cNvPr>
          <p:cNvSpPr/>
          <p:nvPr/>
        </p:nvSpPr>
        <p:spPr>
          <a:xfrm>
            <a:off x="7022740" y="3956989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A34AF88-3235-4736-9BD6-5AD503477990}"/>
              </a:ext>
            </a:extLst>
          </p:cNvPr>
          <p:cNvSpPr txBox="1"/>
          <p:nvPr/>
        </p:nvSpPr>
        <p:spPr>
          <a:xfrm>
            <a:off x="7615524" y="4854224"/>
            <a:ext cx="210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filters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54E266FA-9B1B-4480-B545-D51B4A0BC2C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224665" y="4347126"/>
            <a:ext cx="390859" cy="691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AA6A06B-860F-46AD-9622-E929B51C69F7}"/>
              </a:ext>
            </a:extLst>
          </p:cNvPr>
          <p:cNvCxnSpPr>
            <a:cxnSpLocks/>
          </p:cNvCxnSpPr>
          <p:nvPr/>
        </p:nvCxnSpPr>
        <p:spPr>
          <a:xfrm flipH="1">
            <a:off x="9453377" y="4672459"/>
            <a:ext cx="1143990" cy="381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324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32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D7E16264-6861-4E11-B883-C5B534063A99}"/>
              </a:ext>
            </a:extLst>
          </p:cNvPr>
          <p:cNvSpPr txBox="1"/>
          <p:nvPr/>
        </p:nvSpPr>
        <p:spPr>
          <a:xfrm>
            <a:off x="1194612" y="5079441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108 </a:t>
            </a:r>
            <a:r>
              <a:rPr lang="en-US" dirty="0" err="1"/>
              <a:t>valeurs</a:t>
            </a:r>
            <a:endParaRPr lang="en-US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40C8542-2271-492D-AEBF-37E7B37DB15D}"/>
              </a:ext>
            </a:extLst>
          </p:cNvPr>
          <p:cNvSpPr txBox="1"/>
          <p:nvPr/>
        </p:nvSpPr>
        <p:spPr>
          <a:xfrm>
            <a:off x="6134035" y="4363815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54 </a:t>
            </a:r>
            <a:r>
              <a:rPr lang="en-US" dirty="0" err="1"/>
              <a:t>valeurs</a:t>
            </a:r>
            <a:endParaRPr lang="en-US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A2C359B-B58A-4023-A5CC-6FC1ADDCCEED}"/>
              </a:ext>
            </a:extLst>
          </p:cNvPr>
          <p:cNvSpPr txBox="1"/>
          <p:nvPr/>
        </p:nvSpPr>
        <p:spPr>
          <a:xfrm>
            <a:off x="9675933" y="4168086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valeurs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159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33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D7E16264-6861-4E11-B883-C5B534063A99}"/>
              </a:ext>
            </a:extLst>
          </p:cNvPr>
          <p:cNvSpPr txBox="1"/>
          <p:nvPr/>
        </p:nvSpPr>
        <p:spPr>
          <a:xfrm>
            <a:off x="1194612" y="5079441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108 </a:t>
            </a:r>
            <a:r>
              <a:rPr lang="en-US" dirty="0" err="1"/>
              <a:t>valeurs</a:t>
            </a:r>
            <a:endParaRPr lang="en-US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40C8542-2271-492D-AEBF-37E7B37DB15D}"/>
              </a:ext>
            </a:extLst>
          </p:cNvPr>
          <p:cNvSpPr txBox="1"/>
          <p:nvPr/>
        </p:nvSpPr>
        <p:spPr>
          <a:xfrm>
            <a:off x="6134035" y="4363815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54 </a:t>
            </a:r>
            <a:r>
              <a:rPr lang="en-US" dirty="0" err="1"/>
              <a:t>valeurs</a:t>
            </a:r>
            <a:endParaRPr lang="en-US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A2C359B-B58A-4023-A5CC-6FC1ADDCCEED}"/>
              </a:ext>
            </a:extLst>
          </p:cNvPr>
          <p:cNvSpPr txBox="1"/>
          <p:nvPr/>
        </p:nvSpPr>
        <p:spPr>
          <a:xfrm>
            <a:off x="9675933" y="4168086"/>
            <a:ext cx="131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valeurs</a:t>
            </a:r>
            <a:endParaRPr lang="en-US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3E2A305-1702-4E0C-B2B6-46F507E59AC8}"/>
              </a:ext>
            </a:extLst>
          </p:cNvPr>
          <p:cNvSpPr txBox="1"/>
          <p:nvPr/>
        </p:nvSpPr>
        <p:spPr>
          <a:xfrm>
            <a:off x="6515360" y="5375545"/>
            <a:ext cx="422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Nombres</a:t>
            </a:r>
            <a:r>
              <a:rPr lang="en-US" dirty="0"/>
              <a:t> de multiplications</a:t>
            </a:r>
          </a:p>
          <a:p>
            <a:r>
              <a:rPr lang="en-US" dirty="0"/>
              <a:t>= </a:t>
            </a:r>
            <a:r>
              <a:rPr lang="en-US" dirty="0" err="1"/>
              <a:t>taille</a:t>
            </a:r>
            <a:r>
              <a:rPr lang="en-US" dirty="0"/>
              <a:t> de sortie x </a:t>
            </a:r>
            <a:r>
              <a:rPr lang="en-US" dirty="0" err="1"/>
              <a:t>taille</a:t>
            </a:r>
            <a:r>
              <a:rPr lang="en-US" dirty="0"/>
              <a:t> d’un </a:t>
            </a:r>
            <a:r>
              <a:rPr lang="en-US" dirty="0" err="1"/>
              <a:t>filtre</a:t>
            </a:r>
            <a:endParaRPr lang="en-US" dirty="0"/>
          </a:p>
          <a:p>
            <a:r>
              <a:rPr lang="en-US" dirty="0"/>
              <a:t>= (4x4x2) x (3x3x3) = 864</a:t>
            </a:r>
          </a:p>
        </p:txBody>
      </p:sp>
    </p:spTree>
    <p:extLst>
      <p:ext uri="{BB962C8B-B14F-4D97-AF65-F5344CB8AC3E}">
        <p14:creationId xmlns:p14="http://schemas.microsoft.com/office/powerpoint/2010/main" val="1631217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34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1C8C7-79D4-4230-8D79-6E20FB8DFB16}"/>
              </a:ext>
            </a:extLst>
          </p:cNvPr>
          <p:cNvSpPr/>
          <p:nvPr/>
        </p:nvSpPr>
        <p:spPr>
          <a:xfrm>
            <a:off x="1267833" y="4788459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A9681F-3D0F-460B-8779-33CF49FDA7EB}"/>
              </a:ext>
            </a:extLst>
          </p:cNvPr>
          <p:cNvSpPr/>
          <p:nvPr/>
        </p:nvSpPr>
        <p:spPr>
          <a:xfrm>
            <a:off x="5999219" y="4018462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EC81B2E-B693-4D05-877A-57AB054552DD}"/>
              </a:ext>
            </a:extLst>
          </p:cNvPr>
          <p:cNvCxnSpPr>
            <a:stCxn id="3" idx="2"/>
          </p:cNvCxnSpPr>
          <p:nvPr/>
        </p:nvCxnSpPr>
        <p:spPr>
          <a:xfrm flipH="1">
            <a:off x="1750539" y="5117123"/>
            <a:ext cx="1" cy="405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9854E89-251E-4F6B-9025-E0F9BD515F3E}"/>
              </a:ext>
            </a:extLst>
          </p:cNvPr>
          <p:cNvCxnSpPr>
            <a:stCxn id="13" idx="2"/>
          </p:cNvCxnSpPr>
          <p:nvPr/>
        </p:nvCxnSpPr>
        <p:spPr>
          <a:xfrm flipH="1">
            <a:off x="6481925" y="4347126"/>
            <a:ext cx="1" cy="1175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BE918CF-72A9-4091-9110-F6A9942DECF3}"/>
              </a:ext>
            </a:extLst>
          </p:cNvPr>
          <p:cNvCxnSpPr>
            <a:cxnSpLocks/>
          </p:cNvCxnSpPr>
          <p:nvPr/>
        </p:nvCxnSpPr>
        <p:spPr>
          <a:xfrm>
            <a:off x="1750539" y="5522614"/>
            <a:ext cx="47313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5277EF-8991-4AFC-989A-944D13D1CAA4}"/>
              </a:ext>
            </a:extLst>
          </p:cNvPr>
          <p:cNvCxnSpPr>
            <a:cxnSpLocks/>
          </p:cNvCxnSpPr>
          <p:nvPr/>
        </p:nvCxnSpPr>
        <p:spPr>
          <a:xfrm flipV="1">
            <a:off x="4074059" y="5564639"/>
            <a:ext cx="0" cy="220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07773EB-987C-416C-976F-8864CC3875DA}"/>
              </a:ext>
            </a:extLst>
          </p:cNvPr>
          <p:cNvSpPr txBox="1"/>
          <p:nvPr/>
        </p:nvSpPr>
        <p:spPr>
          <a:xfrm>
            <a:off x="3168713" y="5785164"/>
            <a:ext cx="1837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number of dimensions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49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35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1C8C7-79D4-4230-8D79-6E20FB8DFB16}"/>
              </a:ext>
            </a:extLst>
          </p:cNvPr>
          <p:cNvSpPr/>
          <p:nvPr/>
        </p:nvSpPr>
        <p:spPr>
          <a:xfrm>
            <a:off x="1267833" y="4788459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A9681F-3D0F-460B-8779-33CF49FDA7EB}"/>
              </a:ext>
            </a:extLst>
          </p:cNvPr>
          <p:cNvSpPr/>
          <p:nvPr/>
        </p:nvSpPr>
        <p:spPr>
          <a:xfrm>
            <a:off x="5999219" y="4018462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EC81B2E-B693-4D05-877A-57AB054552DD}"/>
              </a:ext>
            </a:extLst>
          </p:cNvPr>
          <p:cNvCxnSpPr>
            <a:cxnSpLocks/>
          </p:cNvCxnSpPr>
          <p:nvPr/>
        </p:nvCxnSpPr>
        <p:spPr>
          <a:xfrm flipH="1">
            <a:off x="2092445" y="5135923"/>
            <a:ext cx="1" cy="405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9854E89-251E-4F6B-9025-E0F9BD515F3E}"/>
              </a:ext>
            </a:extLst>
          </p:cNvPr>
          <p:cNvCxnSpPr>
            <a:cxnSpLocks/>
          </p:cNvCxnSpPr>
          <p:nvPr/>
        </p:nvCxnSpPr>
        <p:spPr>
          <a:xfrm flipH="1">
            <a:off x="6812390" y="4347126"/>
            <a:ext cx="1" cy="1175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BE918CF-72A9-4091-9110-F6A9942DECF3}"/>
              </a:ext>
            </a:extLst>
          </p:cNvPr>
          <p:cNvCxnSpPr>
            <a:cxnSpLocks/>
          </p:cNvCxnSpPr>
          <p:nvPr/>
        </p:nvCxnSpPr>
        <p:spPr>
          <a:xfrm flipV="1">
            <a:off x="2092446" y="5522614"/>
            <a:ext cx="4719944" cy="1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5277EF-8991-4AFC-989A-944D13D1CAA4}"/>
              </a:ext>
            </a:extLst>
          </p:cNvPr>
          <p:cNvCxnSpPr>
            <a:cxnSpLocks/>
          </p:cNvCxnSpPr>
          <p:nvPr/>
        </p:nvCxnSpPr>
        <p:spPr>
          <a:xfrm flipV="1">
            <a:off x="4074059" y="5564639"/>
            <a:ext cx="0" cy="220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07773EB-987C-416C-976F-8864CC3875DA}"/>
              </a:ext>
            </a:extLst>
          </p:cNvPr>
          <p:cNvSpPr txBox="1"/>
          <p:nvPr/>
        </p:nvSpPr>
        <p:spPr>
          <a:xfrm>
            <a:off x="3168713" y="5785164"/>
            <a:ext cx="2007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or channels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EB2E490-5E5D-4D8D-AFF9-15674C92A144}"/>
              </a:ext>
            </a:extLst>
          </p:cNvPr>
          <p:cNvSpPr/>
          <p:nvPr/>
        </p:nvSpPr>
        <p:spPr>
          <a:xfrm>
            <a:off x="1967716" y="4733751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94D3B4-3544-48EF-9214-56324CB36A8D}"/>
              </a:ext>
            </a:extLst>
          </p:cNvPr>
          <p:cNvSpPr/>
          <p:nvPr/>
        </p:nvSpPr>
        <p:spPr>
          <a:xfrm>
            <a:off x="6649769" y="3948813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94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on RGB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36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CBC7C1-6998-4480-AF34-93B94417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" y="1293361"/>
            <a:ext cx="11139854" cy="3495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7A04D70-DB70-42EA-BF03-A185A3B6C67D}"/>
              </a:ext>
            </a:extLst>
          </p:cNvPr>
          <p:cNvSpPr txBox="1"/>
          <p:nvPr/>
        </p:nvSpPr>
        <p:spPr>
          <a:xfrm>
            <a:off x="1267833" y="4675279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AAEB813-18DF-4E7E-A19B-827F734FDECD}"/>
              </a:ext>
            </a:extLst>
          </p:cNvPr>
          <p:cNvSpPr txBox="1"/>
          <p:nvPr/>
        </p:nvSpPr>
        <p:spPr>
          <a:xfrm>
            <a:off x="5999219" y="3896966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3x3x3x2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1B5379-4F20-4FED-9B4D-976A4EF80E32}"/>
              </a:ext>
            </a:extLst>
          </p:cNvPr>
          <p:cNvSpPr txBox="1"/>
          <p:nvPr/>
        </p:nvSpPr>
        <p:spPr>
          <a:xfrm>
            <a:off x="9608526" y="3718352"/>
            <a:ext cx="144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4x4x2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A0C8F-D475-4C6E-8A45-856A9E4FBC12}"/>
              </a:ext>
            </a:extLst>
          </p:cNvPr>
          <p:cNvSpPr/>
          <p:nvPr/>
        </p:nvSpPr>
        <p:spPr>
          <a:xfrm>
            <a:off x="9935308" y="2866293"/>
            <a:ext cx="395653" cy="36048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1C8C7-79D4-4230-8D79-6E20FB8DFB16}"/>
              </a:ext>
            </a:extLst>
          </p:cNvPr>
          <p:cNvSpPr/>
          <p:nvPr/>
        </p:nvSpPr>
        <p:spPr>
          <a:xfrm>
            <a:off x="1267833" y="4788459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A9681F-3D0F-460B-8779-33CF49FDA7EB}"/>
              </a:ext>
            </a:extLst>
          </p:cNvPr>
          <p:cNvSpPr/>
          <p:nvPr/>
        </p:nvSpPr>
        <p:spPr>
          <a:xfrm>
            <a:off x="5999219" y="4018462"/>
            <a:ext cx="965413" cy="328664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EC81B2E-B693-4D05-877A-57AB054552DD}"/>
              </a:ext>
            </a:extLst>
          </p:cNvPr>
          <p:cNvCxnSpPr>
            <a:cxnSpLocks/>
          </p:cNvCxnSpPr>
          <p:nvPr/>
        </p:nvCxnSpPr>
        <p:spPr>
          <a:xfrm>
            <a:off x="10458108" y="4158576"/>
            <a:ext cx="0" cy="1340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9854E89-251E-4F6B-9025-E0F9BD515F3E}"/>
              </a:ext>
            </a:extLst>
          </p:cNvPr>
          <p:cNvCxnSpPr>
            <a:cxnSpLocks/>
          </p:cNvCxnSpPr>
          <p:nvPr/>
        </p:nvCxnSpPr>
        <p:spPr>
          <a:xfrm flipH="1">
            <a:off x="7162405" y="4323386"/>
            <a:ext cx="1" cy="1175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BE918CF-72A9-4091-9110-F6A9942DECF3}"/>
              </a:ext>
            </a:extLst>
          </p:cNvPr>
          <p:cNvCxnSpPr>
            <a:cxnSpLocks/>
          </p:cNvCxnSpPr>
          <p:nvPr/>
        </p:nvCxnSpPr>
        <p:spPr>
          <a:xfrm flipV="1">
            <a:off x="7162406" y="5476531"/>
            <a:ext cx="3295702" cy="1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5277EF-8991-4AFC-989A-944D13D1CAA4}"/>
              </a:ext>
            </a:extLst>
          </p:cNvPr>
          <p:cNvCxnSpPr>
            <a:cxnSpLocks/>
          </p:cNvCxnSpPr>
          <p:nvPr/>
        </p:nvCxnSpPr>
        <p:spPr>
          <a:xfrm flipV="1">
            <a:off x="8693767" y="5499565"/>
            <a:ext cx="0" cy="220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07773EB-987C-416C-976F-8864CC3875DA}"/>
              </a:ext>
            </a:extLst>
          </p:cNvPr>
          <p:cNvSpPr txBox="1"/>
          <p:nvPr/>
        </p:nvSpPr>
        <p:spPr>
          <a:xfrm>
            <a:off x="7788421" y="5720090"/>
            <a:ext cx="2542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filters becomes the depth of the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569986-49D1-4C10-A48F-B38816FA333D}"/>
              </a:ext>
            </a:extLst>
          </p:cNvPr>
          <p:cNvSpPr/>
          <p:nvPr/>
        </p:nvSpPr>
        <p:spPr>
          <a:xfrm>
            <a:off x="5565913" y="2003776"/>
            <a:ext cx="2162755" cy="17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183A712A-6356-4E54-AB16-DD65D275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48" y="1435101"/>
            <a:ext cx="1266609" cy="114071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886EF19-9171-4E23-8FF8-2506149F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48" y="2651403"/>
            <a:ext cx="1266609" cy="11407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A8955866-6F7B-4F11-9E44-C4D5E5A21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163" y="1870502"/>
            <a:ext cx="1924050" cy="18478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EB2E490-5E5D-4D8D-AFF9-15674C92A144}"/>
              </a:ext>
            </a:extLst>
          </p:cNvPr>
          <p:cNvSpPr/>
          <p:nvPr/>
        </p:nvSpPr>
        <p:spPr>
          <a:xfrm>
            <a:off x="10273245" y="3775029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94D3B4-3544-48EF-9214-56324CB36A8D}"/>
              </a:ext>
            </a:extLst>
          </p:cNvPr>
          <p:cNvSpPr/>
          <p:nvPr/>
        </p:nvSpPr>
        <p:spPr>
          <a:xfrm>
            <a:off x="6979020" y="3948813"/>
            <a:ext cx="369727" cy="433532"/>
          </a:xfrm>
          <a:prstGeom prst="rect">
            <a:avLst/>
          </a:prstGeom>
          <a:noFill/>
          <a:ln w="34925">
            <a:solidFill>
              <a:srgbClr val="01BD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0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60D57-5001-D9C0-B30D-6AC0BF23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Max </a:t>
            </a:r>
            <a:r>
              <a:rPr lang="fr-FR" dirty="0" err="1"/>
              <a:t>pooling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5AEDFD9-0B8A-F9BB-D9C7-40544DEC8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757" y="2352203"/>
            <a:ext cx="2946387" cy="2939077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2F0F43-CE43-6A07-66A0-8C7185DA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37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F54BC66-B128-99CE-3AF9-2115FCD89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37" y="3186947"/>
            <a:ext cx="1332498" cy="1269590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AEEF627-A590-D71A-9F5E-E321D49545D9}"/>
              </a:ext>
            </a:extLst>
          </p:cNvPr>
          <p:cNvCxnSpPr/>
          <p:nvPr/>
        </p:nvCxnSpPr>
        <p:spPr>
          <a:xfrm>
            <a:off x="5471652" y="3821742"/>
            <a:ext cx="1533832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FAF8EF97-D2EA-D556-2C66-3C89D726BA5C}"/>
              </a:ext>
            </a:extLst>
          </p:cNvPr>
          <p:cNvSpPr txBox="1"/>
          <p:nvPr/>
        </p:nvSpPr>
        <p:spPr>
          <a:xfrm>
            <a:off x="7757653" y="3266891"/>
            <a:ext cx="37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5DB7214-7C77-12FD-021A-926E430CED80}"/>
              </a:ext>
            </a:extLst>
          </p:cNvPr>
          <p:cNvSpPr txBox="1"/>
          <p:nvPr/>
        </p:nvSpPr>
        <p:spPr>
          <a:xfrm>
            <a:off x="8352878" y="3266891"/>
            <a:ext cx="37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357256F-C002-758B-1B93-937D2421D02F}"/>
              </a:ext>
            </a:extLst>
          </p:cNvPr>
          <p:cNvSpPr txBox="1"/>
          <p:nvPr/>
        </p:nvSpPr>
        <p:spPr>
          <a:xfrm>
            <a:off x="7726141" y="3843106"/>
            <a:ext cx="37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6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B954BB2-51A4-95C4-EB1A-0B84791145CA}"/>
              </a:ext>
            </a:extLst>
          </p:cNvPr>
          <p:cNvSpPr txBox="1"/>
          <p:nvPr/>
        </p:nvSpPr>
        <p:spPr>
          <a:xfrm>
            <a:off x="8352878" y="3843106"/>
            <a:ext cx="37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3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836D92F-B898-4F67-FD52-2F9E2E10CDD0}"/>
              </a:ext>
            </a:extLst>
          </p:cNvPr>
          <p:cNvSpPr txBox="1"/>
          <p:nvPr/>
        </p:nvSpPr>
        <p:spPr>
          <a:xfrm>
            <a:off x="2964426" y="547914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4x4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BDE5906-A63C-1EC2-7BB0-764D7EA71DC9}"/>
              </a:ext>
            </a:extLst>
          </p:cNvPr>
          <p:cNvSpPr txBox="1"/>
          <p:nvPr/>
        </p:nvSpPr>
        <p:spPr>
          <a:xfrm>
            <a:off x="7911894" y="4456537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2x2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1B0F33C-D526-F09B-F780-D47F8F56F22F}"/>
              </a:ext>
            </a:extLst>
          </p:cNvPr>
          <p:cNvSpPr txBox="1"/>
          <p:nvPr/>
        </p:nvSpPr>
        <p:spPr>
          <a:xfrm>
            <a:off x="5305250" y="5340648"/>
            <a:ext cx="24524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Hyperparameters</a:t>
            </a:r>
            <a:r>
              <a:rPr lang="fr-FR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k=2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s=2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6F52B3-9E17-4ECC-A3CE-2B7D927A8159}"/>
              </a:ext>
            </a:extLst>
          </p:cNvPr>
          <p:cNvSpPr/>
          <p:nvPr/>
        </p:nvSpPr>
        <p:spPr>
          <a:xfrm>
            <a:off x="1914525" y="2438400"/>
            <a:ext cx="1409700" cy="1404706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3EB9D1C-B017-486D-B549-A589E2758AC0}"/>
              </a:ext>
            </a:extLst>
          </p:cNvPr>
          <p:cNvSpPr txBox="1"/>
          <p:nvPr/>
        </p:nvSpPr>
        <p:spPr>
          <a:xfrm>
            <a:off x="1118798" y="2909920"/>
            <a:ext cx="6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k=2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95D4C-DB15-42F9-BD5F-0F2409A90164}"/>
              </a:ext>
            </a:extLst>
          </p:cNvPr>
          <p:cNvSpPr/>
          <p:nvPr/>
        </p:nvSpPr>
        <p:spPr>
          <a:xfrm>
            <a:off x="3312871" y="2428875"/>
            <a:ext cx="1409700" cy="1404706"/>
          </a:xfrm>
          <a:prstGeom prst="rect">
            <a:avLst/>
          </a:pr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11FD99FC-8FB2-4A90-94C4-8AEDF76A67AB}"/>
              </a:ext>
            </a:extLst>
          </p:cNvPr>
          <p:cNvCxnSpPr>
            <a:stCxn id="3" idx="0"/>
          </p:cNvCxnSpPr>
          <p:nvPr/>
        </p:nvCxnSpPr>
        <p:spPr>
          <a:xfrm flipV="1">
            <a:off x="2619375" y="1828800"/>
            <a:ext cx="659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AC388B7D-668F-4139-838E-06BF23BC865A}"/>
              </a:ext>
            </a:extLst>
          </p:cNvPr>
          <p:cNvCxnSpPr/>
          <p:nvPr/>
        </p:nvCxnSpPr>
        <p:spPr>
          <a:xfrm>
            <a:off x="3292950" y="1828800"/>
            <a:ext cx="631350" cy="523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712D19CE-6300-4566-80EE-89A0CAA33E96}"/>
              </a:ext>
            </a:extLst>
          </p:cNvPr>
          <p:cNvSpPr txBox="1"/>
          <p:nvPr/>
        </p:nvSpPr>
        <p:spPr>
          <a:xfrm>
            <a:off x="2938778" y="1414684"/>
            <a:ext cx="61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s=2</a:t>
            </a:r>
          </a:p>
        </p:txBody>
      </p:sp>
    </p:spTree>
    <p:extLst>
      <p:ext uri="{BB962C8B-B14F-4D97-AF65-F5344CB8AC3E}">
        <p14:creationId xmlns:p14="http://schemas.microsoft.com/office/powerpoint/2010/main" val="348455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8" grpId="0"/>
      <p:bldP spid="19" grpId="0"/>
      <p:bldP spid="20" grpId="0"/>
      <p:bldP spid="16" grpId="0"/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850A2-48E7-9641-25C2-C9E5B525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pooling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D19FC4A-53F2-9C85-5DF6-0B5CF5CD8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2715" y="2112135"/>
            <a:ext cx="8025496" cy="3948919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D6E2DD-77C6-4206-8513-BED5F2C4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38</a:t>
            </a:fld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96453-F244-4B42-8F89-52192BF436A6}"/>
              </a:ext>
            </a:extLst>
          </p:cNvPr>
          <p:cNvSpPr/>
          <p:nvPr/>
        </p:nvSpPr>
        <p:spPr>
          <a:xfrm>
            <a:off x="6838950" y="4857750"/>
            <a:ext cx="1323975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642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15655-A7A0-589B-1208-F5CC44D2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D0AC1-A305-AE3A-75A6-B8BBB8B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39</a:t>
            </a:fld>
            <a:endParaRPr lang="en-CA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1E6C9B7-ECD5-4D05-8DDA-7A594B0D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52" y="2229864"/>
            <a:ext cx="3150149" cy="29663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D29FC4C-D923-4D5C-867A-C2E107E41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274" y="2988570"/>
            <a:ext cx="880369" cy="816035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BC66028B-61DA-4DE8-AB76-9BC12A76D7D2}"/>
              </a:ext>
            </a:extLst>
          </p:cNvPr>
          <p:cNvSpPr txBox="1"/>
          <p:nvPr/>
        </p:nvSpPr>
        <p:spPr>
          <a:xfrm>
            <a:off x="4139390" y="3273282"/>
            <a:ext cx="880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POOL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58D0CA4-00AE-404A-8900-F53C3FD31545}"/>
              </a:ext>
            </a:extLst>
          </p:cNvPr>
          <p:cNvSpPr txBox="1"/>
          <p:nvPr/>
        </p:nvSpPr>
        <p:spPr>
          <a:xfrm>
            <a:off x="5722274" y="3876608"/>
            <a:ext cx="14941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K=2x2</a:t>
            </a:r>
          </a:p>
          <a:p>
            <a:r>
              <a:rPr lang="fr-FR" sz="2400" dirty="0"/>
              <a:t>Stride=2</a:t>
            </a:r>
          </a:p>
          <a:p>
            <a:r>
              <a:rPr lang="fr-FR" sz="2400" dirty="0" err="1"/>
              <a:t>Padding</a:t>
            </a:r>
            <a:r>
              <a:rPr lang="fr-FR" sz="2400" dirty="0"/>
              <a:t>=0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F18623C-E6FE-44FF-BABB-94C1137AF35D}"/>
              </a:ext>
            </a:extLst>
          </p:cNvPr>
          <p:cNvSpPr txBox="1"/>
          <p:nvPr/>
        </p:nvSpPr>
        <p:spPr>
          <a:xfrm>
            <a:off x="2948845" y="5848168"/>
            <a:ext cx="5032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!! Toujours </a:t>
            </a:r>
            <a:r>
              <a:rPr lang="fr-FR" sz="2400" dirty="0" err="1"/>
              <a:t>depthwise</a:t>
            </a:r>
            <a:endParaRPr lang="fr-FR" sz="2400" dirty="0"/>
          </a:p>
          <a:p>
            <a:r>
              <a:rPr lang="fr-FR" sz="2400" dirty="0"/>
              <a:t>= ne change pas le nombre de canaux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2E160285-854A-49C9-9B99-2447F550F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930" y="3113942"/>
            <a:ext cx="781050" cy="64770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C334043-862A-465D-85D1-E323A26F5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912" y="2727375"/>
            <a:ext cx="1861168" cy="18089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BB45817-AB6D-47E6-9F22-59736F009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740" y="5526869"/>
            <a:ext cx="2375008" cy="829481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0CF8FE1-7B42-4863-95C5-DC3F72B35CBD}"/>
              </a:ext>
            </a:extLst>
          </p:cNvPr>
          <p:cNvSpPr txBox="1"/>
          <p:nvPr/>
        </p:nvSpPr>
        <p:spPr>
          <a:xfrm>
            <a:off x="1199253" y="5196254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6x6x3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B832135-EEA7-48A0-864C-9994B7694BA8}"/>
              </a:ext>
            </a:extLst>
          </p:cNvPr>
          <p:cNvSpPr txBox="1"/>
          <p:nvPr/>
        </p:nvSpPr>
        <p:spPr>
          <a:xfrm>
            <a:off x="9260080" y="4476773"/>
            <a:ext cx="1310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3x3x3</a:t>
            </a:r>
          </a:p>
        </p:txBody>
      </p:sp>
    </p:spTree>
    <p:extLst>
      <p:ext uri="{BB962C8B-B14F-4D97-AF65-F5344CB8AC3E}">
        <p14:creationId xmlns:p14="http://schemas.microsoft.com/office/powerpoint/2010/main" val="132123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Espace réservé du numéro de diapositive 1">
            <a:extLst>
              <a:ext uri="{FF2B5EF4-FFF2-40B4-BE49-F238E27FC236}">
                <a16:creationId xmlns:a16="http://schemas.microsoft.com/office/drawing/2014/main" id="{4BB4BD7A-E8E8-4AC3-8190-C5C4C601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4E371D7-B7D4-4712-8F74-ACF532DB418E}" type="slidenum">
              <a:rPr lang="fr-FR" altLang="en-US" sz="1400"/>
              <a:pPr/>
              <a:t>40</a:t>
            </a:fld>
            <a:endParaRPr lang="fr-FR" altLang="en-US" sz="1400"/>
          </a:p>
        </p:txBody>
      </p:sp>
      <p:pic>
        <p:nvPicPr>
          <p:cNvPr id="23554" name="Image 2">
            <a:extLst>
              <a:ext uri="{FF2B5EF4-FFF2-40B4-BE49-F238E27FC236}">
                <a16:creationId xmlns:a16="http://schemas.microsoft.com/office/drawing/2014/main" id="{BA997A95-B81E-4C4D-A4AB-80CB8DD1D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31864"/>
            <a:ext cx="9906000" cy="588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ZoneTexte 3">
            <a:extLst>
              <a:ext uri="{FF2B5EF4-FFF2-40B4-BE49-F238E27FC236}">
                <a16:creationId xmlns:a16="http://schemas.microsoft.com/office/drawing/2014/main" id="{9B011A24-0312-45BF-B193-E6F059203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0"/>
            <a:ext cx="6650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fr-FR" altLang="en-US" sz="3200" b="1" dirty="0">
                <a:solidFill>
                  <a:srgbClr val="FF0000"/>
                </a:solidFill>
              </a:rPr>
              <a:t>Types de fonctions d</a:t>
            </a:r>
            <a:r>
              <a:rPr lang="fr-FR" altLang="fr-FR" sz="3200" b="1" dirty="0">
                <a:solidFill>
                  <a:srgbClr val="FF0000"/>
                </a:solidFill>
              </a:rPr>
              <a:t>’</a:t>
            </a:r>
            <a:r>
              <a:rPr lang="fr-FR" altLang="en-US" sz="3200" b="1" dirty="0">
                <a:solidFill>
                  <a:srgbClr val="FF0000"/>
                </a:solidFill>
              </a:rPr>
              <a:t>activation (1/2):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850A2-48E7-9641-25C2-C9E5B525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connected</a:t>
            </a:r>
            <a:r>
              <a:rPr lang="fr-FR" dirty="0"/>
              <a:t> (</a:t>
            </a:r>
            <a:r>
              <a:rPr lang="fr-FR" dirty="0" err="1"/>
              <a:t>head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D6E2DD-77C6-4206-8513-BED5F2C4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41</a:t>
            </a:fld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96453-F244-4B42-8F89-52192BF436A6}"/>
              </a:ext>
            </a:extLst>
          </p:cNvPr>
          <p:cNvSpPr/>
          <p:nvPr/>
        </p:nvSpPr>
        <p:spPr>
          <a:xfrm>
            <a:off x="6838950" y="4857750"/>
            <a:ext cx="1323975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0AA357F-8866-4E4B-BE6F-6D6C8242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236431"/>
            <a:ext cx="9906000" cy="530248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660E23F-A5F9-41D6-886C-17E91EFE7230}"/>
              </a:ext>
            </a:extLst>
          </p:cNvPr>
          <p:cNvSpPr txBox="1"/>
          <p:nvPr/>
        </p:nvSpPr>
        <p:spPr>
          <a:xfrm>
            <a:off x="10746398" y="3024554"/>
            <a:ext cx="53120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A</a:t>
            </a:r>
          </a:p>
          <a:p>
            <a:r>
              <a:rPr lang="en-US" sz="3400" dirty="0"/>
              <a:t>B</a:t>
            </a:r>
          </a:p>
          <a:p>
            <a:r>
              <a:rPr lang="en-US" sz="3400" dirty="0"/>
              <a:t>C</a:t>
            </a:r>
          </a:p>
          <a:p>
            <a:r>
              <a:rPr lang="en-US" sz="3400" dirty="0"/>
              <a:t>.</a:t>
            </a:r>
          </a:p>
          <a:p>
            <a:r>
              <a:rPr lang="en-US" sz="3400" dirty="0"/>
              <a:t>Z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951C98-DA02-4CA8-8B70-5239462C06CC}"/>
              </a:ext>
            </a:extLst>
          </p:cNvPr>
          <p:cNvSpPr txBox="1"/>
          <p:nvPr/>
        </p:nvSpPr>
        <p:spPr>
          <a:xfrm>
            <a:off x="10292862" y="5216769"/>
            <a:ext cx="4418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B2CA0-5F3C-49BD-9B63-714C606D5131}"/>
              </a:ext>
            </a:extLst>
          </p:cNvPr>
          <p:cNvSpPr/>
          <p:nvPr/>
        </p:nvSpPr>
        <p:spPr>
          <a:xfrm>
            <a:off x="7599406" y="1303638"/>
            <a:ext cx="3763920" cy="5177481"/>
          </a:xfrm>
          <a:prstGeom prst="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84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850A2-48E7-9641-25C2-C9E5B525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connected</a:t>
            </a:r>
            <a:r>
              <a:rPr lang="fr-FR" dirty="0"/>
              <a:t> (</a:t>
            </a:r>
            <a:r>
              <a:rPr lang="fr-FR" dirty="0" err="1"/>
              <a:t>head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D6E2DD-77C6-4206-8513-BED5F2C4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42</a:t>
            </a:fld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96453-F244-4B42-8F89-52192BF436A6}"/>
              </a:ext>
            </a:extLst>
          </p:cNvPr>
          <p:cNvSpPr/>
          <p:nvPr/>
        </p:nvSpPr>
        <p:spPr>
          <a:xfrm>
            <a:off x="6838950" y="4857750"/>
            <a:ext cx="1323975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011B2BA-51EA-459E-ACC5-E5493CA04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67" y="1185115"/>
            <a:ext cx="888806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850A2-48E7-9641-25C2-C9E5B525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connected</a:t>
            </a:r>
            <a:r>
              <a:rPr lang="fr-FR" dirty="0"/>
              <a:t> (</a:t>
            </a:r>
            <a:r>
              <a:rPr lang="fr-FR" dirty="0" err="1"/>
              <a:t>head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D6E2DD-77C6-4206-8513-BED5F2C4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43</a:t>
            </a:fld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96453-F244-4B42-8F89-52192BF436A6}"/>
              </a:ext>
            </a:extLst>
          </p:cNvPr>
          <p:cNvSpPr/>
          <p:nvPr/>
        </p:nvSpPr>
        <p:spPr>
          <a:xfrm>
            <a:off x="6838950" y="4857750"/>
            <a:ext cx="1323975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B44D52-E0CB-473F-8788-C9C46A779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766" y="2100078"/>
            <a:ext cx="6365866" cy="258613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930CCB6-BCCF-4BE1-A9DF-0CDE015B8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972" y="4686211"/>
            <a:ext cx="76001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 </a:t>
            </a:r>
            <a:r>
              <a:rPr lang="en-US" altLang="en-US" dirty="0" err="1">
                <a:latin typeface="Arial" panose="020B0604020202020204" pitchFamily="34" charset="0"/>
              </a:rPr>
              <a:t>est</a:t>
            </a:r>
            <a:r>
              <a:rPr lang="en-US" altLang="en-US" dirty="0">
                <a:latin typeface="Arial" panose="020B0604020202020204" pitchFamily="34" charset="0"/>
              </a:rPr>
              <a:t> le </a:t>
            </a:r>
            <a:r>
              <a:rPr lang="en-US" altLang="en-US" dirty="0" err="1">
                <a:latin typeface="Arial" panose="020B0604020202020204" pitchFamily="34" charset="0"/>
              </a:rPr>
              <a:t>nombre</a:t>
            </a:r>
            <a:r>
              <a:rPr lang="en-US" altLang="en-US" dirty="0">
                <a:latin typeface="Arial" panose="020B0604020202020204" pitchFamily="34" charset="0"/>
              </a:rPr>
              <a:t> de classes.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yi</a:t>
            </a:r>
            <a:r>
              <a:rPr lang="en-US" altLang="en-US" dirty="0">
                <a:latin typeface="Arial" panose="020B0604020202020204" pitchFamily="34" charset="0"/>
              </a:rPr>
              <a:t>​ </a:t>
            </a:r>
            <a:r>
              <a:rPr lang="en-US" altLang="en-US" dirty="0" err="1">
                <a:latin typeface="Arial" panose="020B0604020202020204" pitchFamily="34" charset="0"/>
              </a:rPr>
              <a:t>est</a:t>
            </a:r>
            <a:r>
              <a:rPr lang="en-US" altLang="en-US" dirty="0">
                <a:latin typeface="Arial" panose="020B0604020202020204" pitchFamily="34" charset="0"/>
              </a:rPr>
              <a:t> 1 pour la </a:t>
            </a:r>
            <a:r>
              <a:rPr lang="en-US" altLang="en-US" dirty="0" err="1">
                <a:latin typeface="Arial" panose="020B0604020202020204" pitchFamily="34" charset="0"/>
              </a:rPr>
              <a:t>classe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correcte</a:t>
            </a:r>
            <a:r>
              <a:rPr lang="en-US" altLang="en-US" dirty="0">
                <a:latin typeface="Arial" panose="020B0604020202020204" pitchFamily="34" charset="0"/>
              </a:rPr>
              <a:t> et 0 pour les </a:t>
            </a:r>
            <a:r>
              <a:rPr lang="en-US" altLang="en-US" dirty="0" err="1">
                <a:latin typeface="Arial" panose="020B0604020202020204" pitchFamily="34" charset="0"/>
              </a:rPr>
              <a:t>autres</a:t>
            </a:r>
            <a:r>
              <a:rPr lang="en-US" altLang="en-US" dirty="0">
                <a:latin typeface="Arial" panose="020B0604020202020204" pitchFamily="34" charset="0"/>
              </a:rPr>
              <a:t> (one-hot encoding).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y^i</a:t>
            </a:r>
            <a:r>
              <a:rPr lang="en-US" altLang="en-US" dirty="0">
                <a:latin typeface="Arial" panose="020B0604020202020204" pitchFamily="34" charset="0"/>
              </a:rPr>
              <a:t>​ </a:t>
            </a:r>
            <a:r>
              <a:rPr lang="en-US" altLang="en-US" dirty="0" err="1">
                <a:latin typeface="Arial" panose="020B0604020202020204" pitchFamily="34" charset="0"/>
              </a:rPr>
              <a:t>est</a:t>
            </a:r>
            <a:r>
              <a:rPr lang="en-US" altLang="en-US" dirty="0">
                <a:latin typeface="Arial" panose="020B0604020202020204" pitchFamily="34" charset="0"/>
              </a:rPr>
              <a:t> la </a:t>
            </a:r>
            <a:r>
              <a:rPr lang="en-US" altLang="en-US" dirty="0" err="1">
                <a:latin typeface="Arial" panose="020B0604020202020204" pitchFamily="34" charset="0"/>
              </a:rPr>
              <a:t>probabilité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prédite</a:t>
            </a:r>
            <a:r>
              <a:rPr lang="en-US" altLang="en-US" dirty="0">
                <a:latin typeface="Arial" panose="020B0604020202020204" pitchFamily="34" charset="0"/>
              </a:rPr>
              <a:t> pour la </a:t>
            </a:r>
            <a:r>
              <a:rPr lang="en-US" altLang="en-US" dirty="0" err="1">
                <a:latin typeface="Arial" panose="020B0604020202020204" pitchFamily="34" charset="0"/>
              </a:rPr>
              <a:t>classe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9DACE96-C544-4B95-8DB8-61A72FE04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072" y="1605373"/>
            <a:ext cx="27911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Cross-entropy (Log loss)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31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Why</a:t>
            </a:r>
            <a:r>
              <a:rPr lang="fr-FR" dirty="0"/>
              <a:t> look at </a:t>
            </a:r>
            <a:r>
              <a:rPr lang="fr-FR" dirty="0" err="1"/>
              <a:t>classic</a:t>
            </a:r>
            <a:r>
              <a:rPr lang="fr-FR" dirty="0"/>
              <a:t>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2432277"/>
          </a:xfrm>
        </p:spPr>
        <p:txBody>
          <a:bodyPr/>
          <a:lstStyle/>
          <a:p>
            <a:r>
              <a:rPr lang="fr-FR" dirty="0" err="1"/>
              <a:t>Get</a:t>
            </a:r>
            <a:r>
              <a:rPr lang="fr-FR" dirty="0"/>
              <a:t> a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idea</a:t>
            </a:r>
            <a:r>
              <a:rPr lang="fr-FR" dirty="0"/>
              <a:t> of how to assemble the building blocks</a:t>
            </a:r>
          </a:p>
          <a:p>
            <a:r>
              <a:rPr lang="fr-FR" dirty="0"/>
              <a:t>Common </a:t>
            </a:r>
            <a:r>
              <a:rPr lang="fr-FR" dirty="0" err="1"/>
              <a:t>models</a:t>
            </a:r>
            <a:r>
              <a:rPr lang="fr-FR" dirty="0"/>
              <a:t> in computer vision</a:t>
            </a:r>
          </a:p>
          <a:p>
            <a:r>
              <a:rPr lang="fr-FR" dirty="0"/>
              <a:t>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applied</a:t>
            </a:r>
            <a:r>
              <a:rPr lang="fr-FR" dirty="0"/>
              <a:t> to </a:t>
            </a:r>
            <a:r>
              <a:rPr lang="fr-FR" dirty="0" err="1"/>
              <a:t>other</a:t>
            </a:r>
            <a:r>
              <a:rPr lang="fr-FR" dirty="0"/>
              <a:t> use case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44</a:t>
            </a:fld>
            <a:endParaRPr lang="en-CA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237EF7A-B962-FC8D-3A8B-BAA34B5B12EE}"/>
              </a:ext>
            </a:extLst>
          </p:cNvPr>
          <p:cNvSpPr txBox="1">
            <a:spLocks/>
          </p:cNvSpPr>
          <p:nvPr/>
        </p:nvSpPr>
        <p:spPr>
          <a:xfrm>
            <a:off x="599326" y="3907564"/>
            <a:ext cx="4560503" cy="2432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/>
              <a:t>LeNet5	</a:t>
            </a:r>
          </a:p>
          <a:p>
            <a:pPr lvl="1"/>
            <a:r>
              <a:rPr lang="fr-FR" dirty="0" err="1"/>
              <a:t>AlexNet</a:t>
            </a:r>
            <a:endParaRPr lang="fr-FR" dirty="0"/>
          </a:p>
          <a:p>
            <a:pPr lvl="1"/>
            <a:r>
              <a:rPr lang="fr-FR" dirty="0"/>
              <a:t>VGG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3A5E382B-4E41-2399-84DB-BEED0EC02AC4}"/>
              </a:ext>
            </a:extLst>
          </p:cNvPr>
          <p:cNvSpPr txBox="1">
            <a:spLocks/>
          </p:cNvSpPr>
          <p:nvPr/>
        </p:nvSpPr>
        <p:spPr>
          <a:xfrm>
            <a:off x="5987755" y="3885385"/>
            <a:ext cx="4560503" cy="2432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dirty="0" err="1"/>
              <a:t>ResNet</a:t>
            </a:r>
            <a:endParaRPr lang="fr-FR" dirty="0"/>
          </a:p>
          <a:p>
            <a:pPr lvl="1"/>
            <a:r>
              <a:rPr lang="fr-FR" dirty="0"/>
              <a:t>Inception</a:t>
            </a:r>
          </a:p>
        </p:txBody>
      </p:sp>
    </p:spTree>
    <p:extLst>
      <p:ext uri="{BB962C8B-B14F-4D97-AF65-F5344CB8AC3E}">
        <p14:creationId xmlns:p14="http://schemas.microsoft.com/office/powerpoint/2010/main" val="88964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020F3-5805-D3EC-0DF8-AEA2E4AF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Net - 5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D91E453-12D9-F00F-B6AD-9EF76ABA8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5" y="1395381"/>
            <a:ext cx="10991850" cy="25346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4D3EEF-3407-26A8-91AA-95060813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45</a:t>
            </a:fld>
            <a:endParaRPr lang="en-CA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30B3DD-656B-6A16-39D5-425541EA17AE}"/>
              </a:ext>
            </a:extLst>
          </p:cNvPr>
          <p:cNvSpPr txBox="1"/>
          <p:nvPr/>
        </p:nvSpPr>
        <p:spPr>
          <a:xfrm>
            <a:off x="386443" y="5987018"/>
            <a:ext cx="8485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 err="1">
                <a:effectLst/>
                <a:latin typeface="Helvetica" pitchFamily="2" charset="0"/>
              </a:rPr>
              <a:t>LeCun</a:t>
            </a:r>
            <a:r>
              <a:rPr lang="fr-FR" i="1" dirty="0">
                <a:effectLst/>
                <a:latin typeface="Helvetica" pitchFamily="2" charset="0"/>
              </a:rPr>
              <a:t> et al., 1998. Gradient-</a:t>
            </a:r>
            <a:r>
              <a:rPr lang="fr-FR" i="1" dirty="0" err="1">
                <a:effectLst/>
                <a:latin typeface="Helvetica" pitchFamily="2" charset="0"/>
              </a:rPr>
              <a:t>based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learning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applied</a:t>
            </a:r>
            <a:r>
              <a:rPr lang="fr-FR" i="1" dirty="0">
                <a:effectLst/>
                <a:latin typeface="Helvetica" pitchFamily="2" charset="0"/>
              </a:rPr>
              <a:t> to document recognition]</a:t>
            </a:r>
            <a:endParaRPr lang="fr-FR" dirty="0">
              <a:effectLst/>
              <a:latin typeface="Helvetica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C63D79-1857-4E25-88C3-87719839E171}"/>
              </a:ext>
            </a:extLst>
          </p:cNvPr>
          <p:cNvSpPr txBox="1"/>
          <p:nvPr/>
        </p:nvSpPr>
        <p:spPr>
          <a:xfrm>
            <a:off x="2181225" y="1840466"/>
            <a:ext cx="7620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5x5x1x6</a:t>
            </a:r>
          </a:p>
          <a:p>
            <a:r>
              <a:rPr lang="en-US" sz="1100" b="1" dirty="0"/>
              <a:t>s=1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FA3AA75-D85E-4F80-8987-79E51B6BB3BB}"/>
              </a:ext>
            </a:extLst>
          </p:cNvPr>
          <p:cNvSpPr txBox="1"/>
          <p:nvPr/>
        </p:nvSpPr>
        <p:spPr>
          <a:xfrm>
            <a:off x="5657850" y="1742008"/>
            <a:ext cx="76200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5x5x6x16</a:t>
            </a:r>
          </a:p>
          <a:p>
            <a:r>
              <a:rPr lang="en-US" sz="1100" b="1" dirty="0"/>
              <a:t>s=1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25D2790-3C21-4F0D-934A-850A0D2413E7}"/>
              </a:ext>
            </a:extLst>
          </p:cNvPr>
          <p:cNvSpPr txBox="1"/>
          <p:nvPr/>
        </p:nvSpPr>
        <p:spPr>
          <a:xfrm>
            <a:off x="8477250" y="1526564"/>
            <a:ext cx="9096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5x5x16x120</a:t>
            </a:r>
          </a:p>
          <a:p>
            <a:r>
              <a:rPr lang="en-US" sz="1100" b="1" dirty="0"/>
              <a:t>s=1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E46196-86D3-4403-B33F-28820C44DD32}"/>
              </a:ext>
            </a:extLst>
          </p:cNvPr>
          <p:cNvSpPr/>
          <p:nvPr/>
        </p:nvSpPr>
        <p:spPr>
          <a:xfrm>
            <a:off x="2181225" y="2590800"/>
            <a:ext cx="571500" cy="493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38E9D-FC92-4DEA-95F0-8D8BC3213308}"/>
              </a:ext>
            </a:extLst>
          </p:cNvPr>
          <p:cNvSpPr/>
          <p:nvPr/>
        </p:nvSpPr>
        <p:spPr>
          <a:xfrm>
            <a:off x="5657850" y="2590800"/>
            <a:ext cx="466725" cy="493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FD96A-D42D-4DBF-942A-3DBEFA5D2096}"/>
              </a:ext>
            </a:extLst>
          </p:cNvPr>
          <p:cNvSpPr/>
          <p:nvPr/>
        </p:nvSpPr>
        <p:spPr>
          <a:xfrm>
            <a:off x="8815387" y="1926093"/>
            <a:ext cx="456225" cy="493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131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79029-05E5-EDE2-4678-43F2E870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AlexNet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003DA-9B24-E14A-B720-D4CB5855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5498072"/>
            <a:ext cx="7726329" cy="770232"/>
          </a:xfrm>
        </p:spPr>
        <p:txBody>
          <a:bodyPr/>
          <a:lstStyle/>
          <a:p>
            <a:r>
              <a:rPr lang="fr-FR" dirty="0" err="1"/>
              <a:t>Similar</a:t>
            </a:r>
            <a:r>
              <a:rPr lang="fr-FR" dirty="0"/>
              <a:t> to </a:t>
            </a:r>
            <a:r>
              <a:rPr lang="fr-FR" dirty="0" err="1"/>
              <a:t>LeNet</a:t>
            </a:r>
            <a:r>
              <a:rPr lang="fr-FR" dirty="0"/>
              <a:t> but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bigger</a:t>
            </a:r>
            <a:r>
              <a:rPr lang="fr-FR" dirty="0"/>
              <a:t> (160 M </a:t>
            </a:r>
            <a:r>
              <a:rPr lang="fr-FR" dirty="0" err="1"/>
              <a:t>parameters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FCD0F0-0F1F-C3ED-2774-996A5D5A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46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207A1F6-C8E3-7A13-8800-3843AF86F9BB}"/>
              </a:ext>
            </a:extLst>
          </p:cNvPr>
          <p:cNvSpPr txBox="1"/>
          <p:nvPr/>
        </p:nvSpPr>
        <p:spPr>
          <a:xfrm>
            <a:off x="418513" y="6352143"/>
            <a:ext cx="986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 err="1">
                <a:effectLst/>
                <a:latin typeface="Helvetica" pitchFamily="2" charset="0"/>
              </a:rPr>
              <a:t>Krizhevsky</a:t>
            </a:r>
            <a:r>
              <a:rPr lang="fr-FR" i="1" dirty="0">
                <a:effectLst/>
                <a:latin typeface="Helvetica" pitchFamily="2" charset="0"/>
              </a:rPr>
              <a:t> et al., 2012. </a:t>
            </a:r>
            <a:r>
              <a:rPr lang="fr-FR" i="1" dirty="0" err="1">
                <a:effectLst/>
                <a:latin typeface="Helvetica" pitchFamily="2" charset="0"/>
              </a:rPr>
              <a:t>ImageNet</a:t>
            </a:r>
            <a:r>
              <a:rPr lang="fr-FR" i="1" dirty="0">
                <a:effectLst/>
                <a:latin typeface="Helvetica" pitchFamily="2" charset="0"/>
              </a:rPr>
              <a:t> classification </a:t>
            </a:r>
            <a:r>
              <a:rPr lang="fr-FR" i="1" dirty="0" err="1">
                <a:effectLst/>
                <a:latin typeface="Helvetica" pitchFamily="2" charset="0"/>
              </a:rPr>
              <a:t>with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deep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convolutional</a:t>
            </a:r>
            <a:r>
              <a:rPr lang="fr-FR" i="1" dirty="0">
                <a:effectLst/>
                <a:latin typeface="Helvetica" pitchFamily="2" charset="0"/>
              </a:rPr>
              <a:t> neural networks</a:t>
            </a:r>
            <a:endParaRPr lang="fr-FR" dirty="0">
              <a:effectLst/>
              <a:latin typeface="Helvetica" pitchFamily="2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D0974E-3B6A-33C8-9156-1DB430633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9"/>
          <a:stretch/>
        </p:blipFill>
        <p:spPr>
          <a:xfrm>
            <a:off x="599326" y="1166120"/>
            <a:ext cx="11415485" cy="4302974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6DDCCA00-5B27-087E-5222-4E2E9EE8E688}"/>
              </a:ext>
            </a:extLst>
          </p:cNvPr>
          <p:cNvSpPr txBox="1">
            <a:spLocks/>
          </p:cNvSpPr>
          <p:nvPr/>
        </p:nvSpPr>
        <p:spPr>
          <a:xfrm>
            <a:off x="7903517" y="5498070"/>
            <a:ext cx="3710546" cy="111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ReLU</a:t>
            </a:r>
            <a:r>
              <a:rPr lang="fr-FR" dirty="0"/>
              <a:t> activation</a:t>
            </a:r>
          </a:p>
        </p:txBody>
      </p:sp>
    </p:spTree>
    <p:extLst>
      <p:ext uri="{BB962C8B-B14F-4D97-AF65-F5344CB8AC3E}">
        <p14:creationId xmlns:p14="http://schemas.microsoft.com/office/powerpoint/2010/main" val="340227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46D45-8868-759C-4C5F-B0E393E36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VGG – 16 (</a:t>
            </a:r>
            <a:r>
              <a:rPr lang="en-US" dirty="0"/>
              <a:t>Visual Geometry Group 16 layers)</a:t>
            </a:r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4D15F1C0-303D-7BA7-8D3A-0538F368B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98" y="1311786"/>
            <a:ext cx="11507404" cy="461352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3E2BA0-AD60-4BBF-AFF6-BDFFCF19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47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536D92-2FDD-8087-763C-3532680ACFA4}"/>
              </a:ext>
            </a:extLst>
          </p:cNvPr>
          <p:cNvSpPr txBox="1"/>
          <p:nvPr/>
        </p:nvSpPr>
        <p:spPr>
          <a:xfrm>
            <a:off x="406908" y="6100628"/>
            <a:ext cx="10419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13 CONV + 2FC + </a:t>
            </a:r>
            <a:r>
              <a:rPr lang="fr-FR" i="1" dirty="0" err="1">
                <a:effectLst/>
                <a:latin typeface="Helvetica" pitchFamily="2" charset="0"/>
              </a:rPr>
              <a:t>SoftMax</a:t>
            </a:r>
            <a:r>
              <a:rPr lang="fr-FR" i="1" dirty="0">
                <a:effectLst/>
                <a:latin typeface="Helvetica" pitchFamily="2" charset="0"/>
              </a:rPr>
              <a:t> = 16</a:t>
            </a:r>
          </a:p>
          <a:p>
            <a:r>
              <a:rPr lang="fr-FR" i="1" dirty="0">
                <a:effectLst/>
                <a:latin typeface="Helvetica" pitchFamily="2" charset="0"/>
              </a:rPr>
              <a:t>[</a:t>
            </a:r>
            <a:r>
              <a:rPr lang="fr-FR" i="1" dirty="0" err="1">
                <a:effectLst/>
                <a:latin typeface="Helvetica" pitchFamily="2" charset="0"/>
              </a:rPr>
              <a:t>Simonyan</a:t>
            </a:r>
            <a:r>
              <a:rPr lang="fr-FR" i="1" dirty="0">
                <a:effectLst/>
                <a:latin typeface="Helvetica" pitchFamily="2" charset="0"/>
              </a:rPr>
              <a:t> &amp; </a:t>
            </a:r>
            <a:r>
              <a:rPr lang="fr-FR" i="1" dirty="0" err="1">
                <a:effectLst/>
                <a:latin typeface="Helvetica" pitchFamily="2" charset="0"/>
              </a:rPr>
              <a:t>Zisserman</a:t>
            </a:r>
            <a:r>
              <a:rPr lang="fr-FR" i="1" dirty="0">
                <a:effectLst/>
                <a:latin typeface="Helvetica" pitchFamily="2" charset="0"/>
              </a:rPr>
              <a:t> 2015. Very </a:t>
            </a:r>
            <a:r>
              <a:rPr lang="fr-FR" i="1" dirty="0" err="1">
                <a:effectLst/>
                <a:latin typeface="Helvetica" pitchFamily="2" charset="0"/>
              </a:rPr>
              <a:t>deep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convolutional</a:t>
            </a:r>
            <a:r>
              <a:rPr lang="fr-FR" i="1" dirty="0">
                <a:effectLst/>
                <a:latin typeface="Helvetica" pitchFamily="2" charset="0"/>
              </a:rPr>
              <a:t> networks for large-</a:t>
            </a:r>
            <a:r>
              <a:rPr lang="fr-FR" i="1" dirty="0" err="1">
                <a:effectLst/>
                <a:latin typeface="Helvetica" pitchFamily="2" charset="0"/>
              </a:rPr>
              <a:t>scale</a:t>
            </a:r>
            <a:r>
              <a:rPr lang="fr-FR" i="1" dirty="0">
                <a:effectLst/>
                <a:latin typeface="Helvetica" pitchFamily="2" charset="0"/>
              </a:rPr>
              <a:t> image recognition]</a:t>
            </a:r>
            <a:endParaRPr lang="fr-FR" dirty="0">
              <a:effectLst/>
              <a:latin typeface="Helvetica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AA90CF-E0B6-0C17-8E50-127C9E15A56F}"/>
              </a:ext>
            </a:extLst>
          </p:cNvPr>
          <p:cNvSpPr txBox="1"/>
          <p:nvPr/>
        </p:nvSpPr>
        <p:spPr>
          <a:xfrm>
            <a:off x="2567177" y="1311786"/>
            <a:ext cx="9147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effectLst/>
                <a:latin typeface="Helvetica" pitchFamily="2" charset="0"/>
              </a:rPr>
              <a:t>CONV = 3x3 </a:t>
            </a:r>
            <a:r>
              <a:rPr lang="fr-FR" dirty="0" err="1">
                <a:effectLst/>
                <a:latin typeface="Helvetica" pitchFamily="2" charset="0"/>
              </a:rPr>
              <a:t>filter</a:t>
            </a:r>
            <a:r>
              <a:rPr lang="fr-FR" dirty="0">
                <a:effectLst/>
                <a:latin typeface="Helvetica" pitchFamily="2" charset="0"/>
              </a:rPr>
              <a:t>, s = 1, p=</a:t>
            </a:r>
            <a:r>
              <a:rPr lang="fr-FR" dirty="0" err="1">
                <a:effectLst/>
                <a:latin typeface="Helvetica" pitchFamily="2" charset="0"/>
              </a:rPr>
              <a:t>same</a:t>
            </a:r>
            <a:r>
              <a:rPr lang="fr-FR" dirty="0">
                <a:effectLst/>
                <a:latin typeface="Helvetica" pitchFamily="2" charset="0"/>
              </a:rPr>
              <a:t>, activation=RELU, MAX-POOL = 2x2 , s = 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17ADFDA-D580-DCEA-9AA6-DF4D1207F72D}"/>
              </a:ext>
            </a:extLst>
          </p:cNvPr>
          <p:cNvSpPr txBox="1"/>
          <p:nvPr/>
        </p:nvSpPr>
        <p:spPr>
          <a:xfrm>
            <a:off x="9938217" y="4412359"/>
            <a:ext cx="1911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138 M </a:t>
            </a:r>
            <a:r>
              <a:rPr lang="fr-FR" dirty="0" err="1"/>
              <a:t>parameters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590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FB3C4-1668-BAD5-E715-EF72AD3B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ResNet</a:t>
            </a:r>
            <a:r>
              <a:rPr lang="fr-FR" dirty="0"/>
              <a:t> for images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FA4625-3435-C964-8882-2B66E0F0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48</a:t>
            </a:fld>
            <a:endParaRPr lang="en-CA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B2441DA8-4629-144B-1111-2D63F99A7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4" y="1213868"/>
            <a:ext cx="10991850" cy="1984763"/>
          </a:xfr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11D157A-D8D5-EB15-1AEC-EBCBA17AE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4" y="3385084"/>
            <a:ext cx="10846061" cy="234939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0EA1E56-619B-57A5-9A4E-C5350E5DCB2B}"/>
              </a:ext>
            </a:extLst>
          </p:cNvPr>
          <p:cNvSpPr txBox="1"/>
          <p:nvPr/>
        </p:nvSpPr>
        <p:spPr>
          <a:xfrm>
            <a:off x="177188" y="6356350"/>
            <a:ext cx="8127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[He et al., 2015. </a:t>
            </a:r>
            <a:r>
              <a:rPr lang="fr-FR" i="1" dirty="0" err="1">
                <a:effectLst/>
                <a:latin typeface="Helvetica" pitchFamily="2" charset="0"/>
              </a:rPr>
              <a:t>Deep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residual</a:t>
            </a:r>
            <a:r>
              <a:rPr lang="fr-FR" i="1" dirty="0">
                <a:effectLst/>
                <a:latin typeface="Helvetica" pitchFamily="2" charset="0"/>
              </a:rPr>
              <a:t> networks for image recognition]</a:t>
            </a:r>
            <a:endParaRPr lang="fr-FR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028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03452-C16A-1EB0-2EC7-9A4171E1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block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AF2FF574-0D20-9A8B-EFE3-6287E7863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491" y="4225198"/>
            <a:ext cx="10991850" cy="931512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BE34D-4B20-F7F3-38BA-A4370134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49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77C9A2E-7536-7363-9CD8-DD5F553B6576}"/>
              </a:ext>
            </a:extLst>
          </p:cNvPr>
          <p:cNvSpPr txBox="1"/>
          <p:nvPr/>
        </p:nvSpPr>
        <p:spPr>
          <a:xfrm>
            <a:off x="416052" y="6280242"/>
            <a:ext cx="7594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[He et al., 2015. </a:t>
            </a:r>
            <a:r>
              <a:rPr lang="fr-FR" i="1" dirty="0" err="1">
                <a:effectLst/>
                <a:latin typeface="Helvetica" pitchFamily="2" charset="0"/>
              </a:rPr>
              <a:t>Deep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residual</a:t>
            </a:r>
            <a:r>
              <a:rPr lang="fr-FR" i="1" dirty="0">
                <a:effectLst/>
                <a:latin typeface="Helvetica" pitchFamily="2" charset="0"/>
              </a:rPr>
              <a:t> networks for image recognition]</a:t>
            </a:r>
            <a:endParaRPr lang="fr-FR" dirty="0">
              <a:effectLst/>
              <a:latin typeface="Helvetica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3EEE6B6-F651-AA1A-09DA-A851EA7DE9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52" y="3712869"/>
            <a:ext cx="11083290" cy="13737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ECC9849-08B8-D342-464E-7A364CCC1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90" y="1616861"/>
            <a:ext cx="5715000" cy="19939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761CEA6F-59F1-50F0-B6F5-544640BA47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t="5912"/>
          <a:stretch/>
        </p:blipFill>
        <p:spPr>
          <a:xfrm>
            <a:off x="3338468" y="1129524"/>
            <a:ext cx="5773091" cy="2489572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42612335-DB96-676F-DE2C-57922666044F}"/>
              </a:ext>
            </a:extLst>
          </p:cNvPr>
          <p:cNvSpPr txBox="1"/>
          <p:nvPr/>
        </p:nvSpPr>
        <p:spPr>
          <a:xfrm>
            <a:off x="4554684" y="3667947"/>
            <a:ext cx="167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Skip </a:t>
            </a:r>
            <a:r>
              <a:rPr lang="fr-FR" dirty="0" err="1"/>
              <a:t>connection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18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63900-C4D2-4CED-74A6-C99A9CBD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Network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86B1872-43BF-13D9-D605-7AB27C634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553" y="1739552"/>
            <a:ext cx="10991850" cy="144717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3DCE01-9ACB-4F5E-1A0E-AFDE3D88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50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1CF8BBF-0DD2-787F-F9CE-FEBE4F5148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55" y="1446168"/>
            <a:ext cx="10957890" cy="168840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018A904-5484-0AFB-9E1B-665883AB6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94" y="3427953"/>
            <a:ext cx="3713432" cy="29629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5189D66-7D4E-639A-ED6A-1BC1E7C9F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336" y="3427953"/>
            <a:ext cx="3694070" cy="312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1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FB225E-726A-1414-4E42-6814E2B5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Motivation for Inception Network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7BB7AD-957E-C0BE-9367-868C16A0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layer, </a:t>
            </a:r>
            <a:r>
              <a:rPr lang="fr-FR" dirty="0" err="1"/>
              <a:t>should</a:t>
            </a:r>
            <a:r>
              <a:rPr lang="fr-FR" dirty="0"/>
              <a:t> I use :</a:t>
            </a:r>
          </a:p>
          <a:p>
            <a:pPr lvl="1"/>
            <a:r>
              <a:rPr lang="fr-FR" dirty="0"/>
              <a:t>3x3 convolution</a:t>
            </a:r>
          </a:p>
          <a:p>
            <a:pPr lvl="1"/>
            <a:r>
              <a:rPr lang="fr-FR" dirty="0"/>
              <a:t>5x5 convolution</a:t>
            </a:r>
          </a:p>
          <a:p>
            <a:pPr lvl="1"/>
            <a:r>
              <a:rPr lang="fr-FR" dirty="0" err="1"/>
              <a:t>Pooling</a:t>
            </a:r>
            <a:r>
              <a:rPr lang="fr-FR" dirty="0"/>
              <a:t> layer</a:t>
            </a:r>
          </a:p>
          <a:p>
            <a:pPr lvl="1"/>
            <a:r>
              <a:rPr lang="fr-FR" dirty="0"/>
              <a:t>…. ?</a:t>
            </a:r>
          </a:p>
          <a:p>
            <a:pPr lvl="1"/>
            <a:endParaRPr lang="fr-FR" dirty="0"/>
          </a:p>
          <a:p>
            <a:r>
              <a:rPr lang="fr-FR" dirty="0" err="1"/>
              <a:t>Let’s</a:t>
            </a:r>
            <a:r>
              <a:rPr lang="fr-FR" dirty="0"/>
              <a:t> do </a:t>
            </a:r>
            <a:r>
              <a:rPr lang="fr-FR" dirty="0" err="1"/>
              <a:t>it</a:t>
            </a:r>
            <a:r>
              <a:rPr lang="fr-FR" dirty="0"/>
              <a:t> all!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73C25-0B17-7183-C47A-D59A715C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89242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5D257-8169-DC5F-DAE7-E21501CA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Inception module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E5C1ED9B-A8D8-EA8D-E2A5-73B480C70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75" y="1600120"/>
            <a:ext cx="10991850" cy="365776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DB8F20-C347-8F1B-5CDB-08FF60AE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52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96B9D6-6FAC-E628-4AA9-A491C0A5DE16}"/>
              </a:ext>
            </a:extLst>
          </p:cNvPr>
          <p:cNvSpPr txBox="1"/>
          <p:nvPr/>
        </p:nvSpPr>
        <p:spPr>
          <a:xfrm>
            <a:off x="408710" y="6356350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 err="1">
                <a:effectLst/>
                <a:latin typeface="Helvetica" pitchFamily="2" charset="0"/>
              </a:rPr>
              <a:t>Szegedy</a:t>
            </a:r>
            <a:r>
              <a:rPr lang="fr-FR" i="1" dirty="0">
                <a:effectLst/>
                <a:latin typeface="Helvetica" pitchFamily="2" charset="0"/>
              </a:rPr>
              <a:t> et al. 2014. </a:t>
            </a:r>
            <a:r>
              <a:rPr lang="fr-FR" i="1" dirty="0" err="1">
                <a:effectLst/>
                <a:latin typeface="Helvetica" pitchFamily="2" charset="0"/>
              </a:rPr>
              <a:t>Going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deeper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with</a:t>
            </a:r>
            <a:r>
              <a:rPr lang="fr-FR" i="1" dirty="0">
                <a:effectLst/>
                <a:latin typeface="Helvetica" pitchFamily="2" charset="0"/>
              </a:rPr>
              <a:t> convolutions]</a:t>
            </a:r>
            <a:endParaRPr lang="fr-FR" dirty="0">
              <a:effectLst/>
              <a:latin typeface="Helvetica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A47D008-4E41-FDCA-2156-00914CC211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03" y="1584161"/>
            <a:ext cx="10816260" cy="36577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405351A-D481-E1D2-209D-488699062D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508" y="1616079"/>
            <a:ext cx="11236753" cy="36072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720C49A-FE04-C71A-B771-8786B3CD2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183" y="5257880"/>
            <a:ext cx="1027444" cy="73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6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D471D-8581-552C-D92A-06F71A79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1x1 convolution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D63E4C-B06E-A4EB-5B53-9DDAF932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53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584546F-FC72-0F00-CECA-F3E3E00D4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23" y="2536300"/>
            <a:ext cx="7772400" cy="223839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1AF75B1-AB59-AAB9-1CBC-DD33567A52CA}"/>
              </a:ext>
            </a:extLst>
          </p:cNvPr>
          <p:cNvSpPr txBox="1"/>
          <p:nvPr/>
        </p:nvSpPr>
        <p:spPr>
          <a:xfrm>
            <a:off x="177188" y="6352143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[Lin et al., 2013. Network in network]</a:t>
            </a:r>
            <a:endParaRPr lang="fr-FR" dirty="0">
              <a:effectLst/>
              <a:latin typeface="Helvetica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915F2CD-2969-6EC7-0ACD-26F24C27C2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298" y="2785247"/>
            <a:ext cx="1831562" cy="1733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7809024-2CFE-60E3-3778-DA871D93B729}"/>
              </a:ext>
            </a:extLst>
          </p:cNvPr>
          <p:cNvSpPr/>
          <p:nvPr/>
        </p:nvSpPr>
        <p:spPr>
          <a:xfrm>
            <a:off x="1939636" y="6352143"/>
            <a:ext cx="200890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F445519-8027-4032-A9EE-926E78FA2326}"/>
              </a:ext>
            </a:extLst>
          </p:cNvPr>
          <p:cNvSpPr txBox="1"/>
          <p:nvPr/>
        </p:nvSpPr>
        <p:spPr>
          <a:xfrm>
            <a:off x="2317411" y="4519039"/>
            <a:ext cx="12634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 x 3 x 32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F79AD-1A52-4DBE-9C88-3EDE20DCED34}"/>
              </a:ext>
            </a:extLst>
          </p:cNvPr>
          <p:cNvSpPr txBox="1"/>
          <p:nvPr/>
        </p:nvSpPr>
        <p:spPr>
          <a:xfrm>
            <a:off x="4558010" y="4485029"/>
            <a:ext cx="219713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 x 1 x 32 x #filters</a:t>
            </a:r>
          </a:p>
          <a:p>
            <a:r>
              <a:rPr lang="en-US" dirty="0"/>
              <a:t>          #filters=1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227057F-9434-45A3-B092-EF571DDCA383}"/>
              </a:ext>
            </a:extLst>
          </p:cNvPr>
          <p:cNvSpPr txBox="1"/>
          <p:nvPr/>
        </p:nvSpPr>
        <p:spPr>
          <a:xfrm>
            <a:off x="7982435" y="4438862"/>
            <a:ext cx="18315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 x 3 x #filters</a:t>
            </a:r>
          </a:p>
        </p:txBody>
      </p:sp>
    </p:spTree>
    <p:extLst>
      <p:ext uri="{BB962C8B-B14F-4D97-AF65-F5344CB8AC3E}">
        <p14:creationId xmlns:p14="http://schemas.microsoft.com/office/powerpoint/2010/main" val="93434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0268E1-7941-A8BB-1D7D-F3B2A5FC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1x1 convolution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F4B010-1952-AC56-9C35-2A500BF95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shrink</a:t>
            </a:r>
            <a:r>
              <a:rPr lang="fr-FR" dirty="0"/>
              <a:t> </a:t>
            </a:r>
            <a:r>
              <a:rPr lang="fr-FR" dirty="0" err="1"/>
              <a:t>height</a:t>
            </a:r>
            <a:r>
              <a:rPr lang="fr-FR" dirty="0"/>
              <a:t> an </a:t>
            </a:r>
            <a:r>
              <a:rPr lang="fr-FR" dirty="0" err="1"/>
              <a:t>width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have </a:t>
            </a:r>
            <a:r>
              <a:rPr lang="fr-FR" dirty="0" err="1"/>
              <a:t>pooling</a:t>
            </a:r>
            <a:endParaRPr lang="fr-FR" dirty="0"/>
          </a:p>
          <a:p>
            <a:r>
              <a:rPr lang="fr-FR" dirty="0" err="1"/>
              <a:t>Using</a:t>
            </a:r>
            <a:r>
              <a:rPr lang="fr-FR" dirty="0"/>
              <a:t> 1x1 convolution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reduce</a:t>
            </a:r>
            <a:r>
              <a:rPr lang="fr-FR" dirty="0"/>
              <a:t> the </a:t>
            </a:r>
            <a:r>
              <a:rPr lang="fr-FR" dirty="0" err="1"/>
              <a:t>number</a:t>
            </a:r>
            <a:r>
              <a:rPr lang="fr-FR" dirty="0"/>
              <a:t> of channels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EEBCE0-785B-FEB1-364C-D34751E6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54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5853795-30A6-2700-997A-965F36ADC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658" y="3105272"/>
            <a:ext cx="7267954" cy="29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961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 82">
            <a:extLst>
              <a:ext uri="{FF2B5EF4-FFF2-40B4-BE49-F238E27FC236}">
                <a16:creationId xmlns:a16="http://schemas.microsoft.com/office/drawing/2014/main" id="{22AACAFC-11F1-FBEE-590A-00F0A4C391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66466" r="3539" b="10027"/>
          <a:stretch/>
        </p:blipFill>
        <p:spPr>
          <a:xfrm>
            <a:off x="9350596" y="997927"/>
            <a:ext cx="2373183" cy="2285213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43706060-1D24-BE77-D966-F39342219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7" y="3146564"/>
            <a:ext cx="6184376" cy="181418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C720F82-FEFD-3CF7-8127-3B79EA2E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Inception module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AA7530-240A-BECB-7278-CE686508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55</a:t>
            </a:fld>
            <a:endParaRPr lang="en-CA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FBB69AA5-C600-CF23-EAA7-195D9FC0A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121" y="4132325"/>
            <a:ext cx="1493012" cy="38214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95009A3F-120A-A64A-45D9-373686E83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352" y="2261688"/>
            <a:ext cx="4106741" cy="1388610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A2C5BA26-B12E-EDBB-FA38-B92BBD663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88" y="2951572"/>
            <a:ext cx="1084211" cy="337705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E92A14E5-781A-859E-DE15-CBB863945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6" y="1258901"/>
            <a:ext cx="5206247" cy="193929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06E026BA-319C-017A-80AB-39C9073E5F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775" y="1598206"/>
            <a:ext cx="1448578" cy="417688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8FA67D45-7D37-F94B-511C-9D315C3767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8283" y="3658906"/>
            <a:ext cx="2350952" cy="2473479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1179DEC9-563E-63E3-A7AE-C82407603D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4529" y="5058911"/>
            <a:ext cx="1810496" cy="1006608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0289E424-6D95-FA09-4AB7-293595EB16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7257" y="5371145"/>
            <a:ext cx="1617430" cy="382140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A025F123-25E6-77C3-989D-27B0D197BC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7604" y="3289277"/>
            <a:ext cx="1774626" cy="1027415"/>
          </a:xfrm>
          <a:prstGeom prst="rect">
            <a:avLst/>
          </a:prstGeom>
        </p:spPr>
      </p:pic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E53574CC-4424-6E64-16F8-6E3E4EE18178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7363690" y="1795307"/>
            <a:ext cx="2253914" cy="200767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4EDE2B96-5302-A493-377A-993DE0B4F928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7409542" y="3067074"/>
            <a:ext cx="2208062" cy="7359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9B72C485-F288-FDC9-D45D-5F86F3E94EEA}"/>
              </a:ext>
            </a:extLst>
          </p:cNvPr>
          <p:cNvCxnSpPr>
            <a:cxnSpLocks/>
            <a:stCxn id="38" idx="1"/>
            <a:endCxn id="60" idx="1"/>
          </p:cNvCxnSpPr>
          <p:nvPr/>
        </p:nvCxnSpPr>
        <p:spPr>
          <a:xfrm flipV="1">
            <a:off x="7399121" y="3802985"/>
            <a:ext cx="2218483" cy="52041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9A417FF2-6818-34B4-17BC-6D099B7F4248}"/>
              </a:ext>
            </a:extLst>
          </p:cNvPr>
          <p:cNvCxnSpPr>
            <a:cxnSpLocks/>
            <a:stCxn id="54" idx="3"/>
            <a:endCxn id="60" idx="1"/>
          </p:cNvCxnSpPr>
          <p:nvPr/>
        </p:nvCxnSpPr>
        <p:spPr>
          <a:xfrm flipV="1">
            <a:off x="7405025" y="3802985"/>
            <a:ext cx="2212579" cy="17592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4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7039516-0D88-39C2-E4F0-1DBA30FB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2" y="1636333"/>
            <a:ext cx="12005242" cy="267093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D0A0E6E-D314-850D-FD2A-F314BFB4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Inception network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76FE6-34A9-0721-53C2-0F9F290A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56</a:t>
            </a:fld>
            <a:endParaRPr lang="en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BDC086-58D9-36B8-7716-8AEC3C661B14}"/>
              </a:ext>
            </a:extLst>
          </p:cNvPr>
          <p:cNvSpPr/>
          <p:nvPr/>
        </p:nvSpPr>
        <p:spPr>
          <a:xfrm>
            <a:off x="6006797" y="1978503"/>
            <a:ext cx="1033275" cy="16345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58AD55-E97D-3F4C-A09F-0A94B64C9BC7}"/>
              </a:ext>
            </a:extLst>
          </p:cNvPr>
          <p:cNvSpPr/>
          <p:nvPr/>
        </p:nvSpPr>
        <p:spPr>
          <a:xfrm>
            <a:off x="4183584" y="2971800"/>
            <a:ext cx="242761" cy="487545"/>
          </a:xfrm>
          <a:prstGeom prst="rect">
            <a:avLst/>
          </a:prstGeom>
          <a:noFill/>
          <a:ln>
            <a:solidFill>
              <a:srgbClr val="FE6D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736E79-1A3B-3C04-78E4-469FEAA72DA4}"/>
              </a:ext>
            </a:extLst>
          </p:cNvPr>
          <p:cNvSpPr/>
          <p:nvPr/>
        </p:nvSpPr>
        <p:spPr>
          <a:xfrm>
            <a:off x="8875616" y="2225984"/>
            <a:ext cx="242761" cy="487545"/>
          </a:xfrm>
          <a:prstGeom prst="rect">
            <a:avLst/>
          </a:prstGeom>
          <a:noFill/>
          <a:ln>
            <a:solidFill>
              <a:srgbClr val="FE6D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BD3DDD-9D9D-5F6E-FAA4-103E3428DAC3}"/>
              </a:ext>
            </a:extLst>
          </p:cNvPr>
          <p:cNvSpPr/>
          <p:nvPr/>
        </p:nvSpPr>
        <p:spPr>
          <a:xfrm>
            <a:off x="6893636" y="2000833"/>
            <a:ext cx="1033275" cy="16345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59096-5798-A72D-9476-D38FA787A7AB}"/>
              </a:ext>
            </a:extLst>
          </p:cNvPr>
          <p:cNvSpPr/>
          <p:nvPr/>
        </p:nvSpPr>
        <p:spPr>
          <a:xfrm>
            <a:off x="5119958" y="2154503"/>
            <a:ext cx="1033275" cy="16345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C4A9874-DA6D-4FCC-813F-00612FE1B629}"/>
              </a:ext>
            </a:extLst>
          </p:cNvPr>
          <p:cNvSpPr txBox="1"/>
          <p:nvPr/>
        </p:nvSpPr>
        <p:spPr>
          <a:xfrm>
            <a:off x="6298667" y="5759019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</a:t>
            </a:r>
            <a:r>
              <a:rPr lang="fr-FR" i="1" dirty="0" err="1">
                <a:effectLst/>
                <a:latin typeface="Helvetica" pitchFamily="2" charset="0"/>
              </a:rPr>
              <a:t>Szegedy</a:t>
            </a:r>
            <a:r>
              <a:rPr lang="fr-FR" i="1" dirty="0">
                <a:effectLst/>
                <a:latin typeface="Helvetica" pitchFamily="2" charset="0"/>
              </a:rPr>
              <a:t> et al., 2014, </a:t>
            </a:r>
            <a:r>
              <a:rPr lang="fr-FR" i="1" dirty="0" err="1">
                <a:effectLst/>
                <a:latin typeface="Helvetica" pitchFamily="2" charset="0"/>
              </a:rPr>
              <a:t>Going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Deeper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with</a:t>
            </a:r>
            <a:r>
              <a:rPr lang="fr-FR" i="1" dirty="0">
                <a:effectLst/>
                <a:latin typeface="Helvetica" pitchFamily="2" charset="0"/>
              </a:rPr>
              <a:t> Convolutions]</a:t>
            </a:r>
            <a:endParaRPr lang="fr-FR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24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B2E039-4AD3-BF21-E829-F5DE5C70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Mobile Net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B7B02-FCA4-0D5A-659A-79C8D8039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Low </a:t>
            </a:r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cost</a:t>
            </a:r>
            <a:r>
              <a:rPr lang="fr-FR" dirty="0"/>
              <a:t> at </a:t>
            </a:r>
            <a:r>
              <a:rPr lang="fr-FR" dirty="0" err="1"/>
              <a:t>deployment</a:t>
            </a:r>
            <a:endParaRPr lang="fr-FR" dirty="0"/>
          </a:p>
          <a:p>
            <a:r>
              <a:rPr lang="fr-FR" dirty="0" err="1"/>
              <a:t>Useful</a:t>
            </a:r>
            <a:r>
              <a:rPr lang="fr-FR" dirty="0"/>
              <a:t> for mobile and </a:t>
            </a:r>
            <a:r>
              <a:rPr lang="fr-FR" dirty="0" err="1"/>
              <a:t>embedded</a:t>
            </a:r>
            <a:r>
              <a:rPr lang="fr-FR" dirty="0"/>
              <a:t> vision applications</a:t>
            </a:r>
          </a:p>
          <a:p>
            <a:r>
              <a:rPr lang="fr-FR" dirty="0"/>
              <a:t>Key </a:t>
            </a:r>
            <a:r>
              <a:rPr lang="fr-FR" dirty="0" err="1"/>
              <a:t>idea</a:t>
            </a:r>
            <a:r>
              <a:rPr lang="fr-FR" dirty="0"/>
              <a:t>: Normal vs. </a:t>
            </a:r>
            <a:r>
              <a:rPr lang="fr-FR" dirty="0" err="1"/>
              <a:t>Depthwise</a:t>
            </a:r>
            <a:r>
              <a:rPr lang="fr-FR" dirty="0"/>
              <a:t> </a:t>
            </a:r>
            <a:r>
              <a:rPr lang="fr-FR" dirty="0" err="1"/>
              <a:t>separable</a:t>
            </a:r>
            <a:r>
              <a:rPr lang="fr-FR" dirty="0"/>
              <a:t> convolutions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53A0D1-426B-1F19-D321-B4960868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57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35EF162-9A9B-8BA0-E6A3-DC3943B66071}"/>
              </a:ext>
            </a:extLst>
          </p:cNvPr>
          <p:cNvSpPr txBox="1"/>
          <p:nvPr/>
        </p:nvSpPr>
        <p:spPr>
          <a:xfrm>
            <a:off x="177188" y="6356350"/>
            <a:ext cx="10775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[Howard et al. 2017, </a:t>
            </a:r>
            <a:r>
              <a:rPr lang="fr-FR" i="1" dirty="0" err="1">
                <a:effectLst/>
                <a:latin typeface="Helvetica" pitchFamily="2" charset="0"/>
              </a:rPr>
              <a:t>MobileNets</a:t>
            </a:r>
            <a:r>
              <a:rPr lang="fr-FR" i="1" dirty="0">
                <a:effectLst/>
                <a:latin typeface="Helvetica" pitchFamily="2" charset="0"/>
              </a:rPr>
              <a:t>: Efficient </a:t>
            </a:r>
            <a:r>
              <a:rPr lang="fr-FR" i="1" dirty="0" err="1">
                <a:effectLst/>
                <a:latin typeface="Helvetica" pitchFamily="2" charset="0"/>
              </a:rPr>
              <a:t>Convolutional</a:t>
            </a:r>
            <a:r>
              <a:rPr lang="fr-FR" i="1" dirty="0">
                <a:effectLst/>
                <a:latin typeface="Helvetica" pitchFamily="2" charset="0"/>
              </a:rPr>
              <a:t> Neural Networks for Mobile Vision Applications]</a:t>
            </a:r>
            <a:endParaRPr lang="fr-FR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051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355A1-6C39-4EFD-4A60-CD7AF932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Depthwise</a:t>
            </a:r>
            <a:r>
              <a:rPr lang="fr-FR" dirty="0"/>
              <a:t> </a:t>
            </a:r>
            <a:r>
              <a:rPr lang="fr-FR" dirty="0" err="1"/>
              <a:t>separable</a:t>
            </a:r>
            <a:r>
              <a:rPr lang="fr-FR" dirty="0"/>
              <a:t> convolution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1F0AD212-6003-7E28-7B3F-004D5EE0E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241" y="1236308"/>
            <a:ext cx="8285372" cy="242403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4D7081-F3A9-E838-B02F-4976B247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58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7BEB4FE-0788-4A55-E0CE-B9E9F2B8F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40" y="3916276"/>
            <a:ext cx="9656972" cy="2440074"/>
          </a:xfrm>
          <a:prstGeom prst="rect">
            <a:avLst/>
          </a:prstGeo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73B3C326-6EA5-4FB7-914A-8225BEA90520}"/>
              </a:ext>
            </a:extLst>
          </p:cNvPr>
          <p:cNvSpPr txBox="1">
            <a:spLocks/>
          </p:cNvSpPr>
          <p:nvPr/>
        </p:nvSpPr>
        <p:spPr>
          <a:xfrm>
            <a:off x="3904091" y="3417089"/>
            <a:ext cx="7509410" cy="582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Nombre de multiplications: (4x4x5)x(3x3x3)= 2160, 432N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0E8D20E-F6C0-4F08-A990-D5B9D42FA111}"/>
              </a:ext>
            </a:extLst>
          </p:cNvPr>
          <p:cNvSpPr txBox="1">
            <a:spLocks/>
          </p:cNvSpPr>
          <p:nvPr/>
        </p:nvSpPr>
        <p:spPr>
          <a:xfrm>
            <a:off x="5289323" y="6516594"/>
            <a:ext cx="10025416" cy="409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Nombre de multiplication:((4*4*3)*(3*3)+((4*4*5)*3) = 672, 432+48N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3CD5ED58-46C7-44D9-8378-417B6DAF4FE7}"/>
              </a:ext>
            </a:extLst>
          </p:cNvPr>
          <p:cNvSpPr txBox="1">
            <a:spLocks/>
          </p:cNvSpPr>
          <p:nvPr/>
        </p:nvSpPr>
        <p:spPr>
          <a:xfrm>
            <a:off x="5106224" y="2846913"/>
            <a:ext cx="1486106" cy="582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3x3x3x5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0C7AACE-A26D-48E6-8212-D962C33C661B}"/>
              </a:ext>
            </a:extLst>
          </p:cNvPr>
          <p:cNvSpPr txBox="1">
            <a:spLocks/>
          </p:cNvSpPr>
          <p:nvPr/>
        </p:nvSpPr>
        <p:spPr>
          <a:xfrm>
            <a:off x="9271612" y="2181177"/>
            <a:ext cx="1486106" cy="582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4x4x5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B1B8D0-69D7-47AE-854A-0FB434108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115" y="4180472"/>
            <a:ext cx="625153" cy="577064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9D04293-24D3-4FB4-BC50-740276D95774}"/>
              </a:ext>
            </a:extLst>
          </p:cNvPr>
          <p:cNvSpPr txBox="1">
            <a:spLocks/>
          </p:cNvSpPr>
          <p:nvPr/>
        </p:nvSpPr>
        <p:spPr>
          <a:xfrm>
            <a:off x="6620705" y="6025733"/>
            <a:ext cx="1311266" cy="40269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1x1(x3)x5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F485BF2-A06F-4C8F-86AB-EC3C3D685D9A}"/>
              </a:ext>
            </a:extLst>
          </p:cNvPr>
          <p:cNvSpPr txBox="1">
            <a:spLocks/>
          </p:cNvSpPr>
          <p:nvPr/>
        </p:nvSpPr>
        <p:spPr>
          <a:xfrm>
            <a:off x="2523376" y="3287149"/>
            <a:ext cx="1486106" cy="582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6x6x3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9815942B-DC41-49EE-97D5-026E6FD42D7E}"/>
              </a:ext>
            </a:extLst>
          </p:cNvPr>
          <p:cNvSpPr txBox="1">
            <a:spLocks/>
          </p:cNvSpPr>
          <p:nvPr/>
        </p:nvSpPr>
        <p:spPr>
          <a:xfrm>
            <a:off x="1889969" y="6036174"/>
            <a:ext cx="1486106" cy="5820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6x6x3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0630FAE2-1ACD-4A54-8FA0-6ED2A0075C97}"/>
              </a:ext>
            </a:extLst>
          </p:cNvPr>
          <p:cNvSpPr txBox="1">
            <a:spLocks/>
          </p:cNvSpPr>
          <p:nvPr/>
        </p:nvSpPr>
        <p:spPr>
          <a:xfrm>
            <a:off x="6744470" y="3969130"/>
            <a:ext cx="892140" cy="38080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4x4x3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A8BE6CC9-DC91-420A-B74F-8276661F8D79}"/>
              </a:ext>
            </a:extLst>
          </p:cNvPr>
          <p:cNvSpPr txBox="1">
            <a:spLocks/>
          </p:cNvSpPr>
          <p:nvPr/>
        </p:nvSpPr>
        <p:spPr>
          <a:xfrm>
            <a:off x="6189114" y="1065681"/>
            <a:ext cx="1921215" cy="582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57188" indent="-258763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itchFamily="2" charset="2"/>
              <a:buChar char="§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8425" indent="0">
              <a:buNone/>
            </a:pPr>
            <a:r>
              <a:rPr lang="fr-FR" dirty="0"/>
              <a:t>N=5=le nombre de filtres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5044867-9C2F-4664-80C8-53F42A1CE431}"/>
              </a:ext>
            </a:extLst>
          </p:cNvPr>
          <p:cNvSpPr txBox="1"/>
          <p:nvPr/>
        </p:nvSpPr>
        <p:spPr>
          <a:xfrm>
            <a:off x="4497417" y="6182541"/>
            <a:ext cx="1729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3x3x1x3 DW</a:t>
            </a:r>
          </a:p>
          <a:p>
            <a:r>
              <a:rPr lang="en-US" dirty="0"/>
              <a:t>3x3 DW</a:t>
            </a:r>
          </a:p>
        </p:txBody>
      </p:sp>
    </p:spTree>
    <p:extLst>
      <p:ext uri="{BB962C8B-B14F-4D97-AF65-F5344CB8AC3E}">
        <p14:creationId xmlns:p14="http://schemas.microsoft.com/office/powerpoint/2010/main" val="35553023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97BD86-610A-811F-02C5-40295F6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MobileNet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51DAA43-51AA-FDD8-70C7-D76E91B6B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5570" y="1286102"/>
            <a:ext cx="9928972" cy="2208255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19D79D-7F13-68B3-ED40-257A0056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59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77A8BB-81AD-869F-4283-C8B96DB4A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70" y="3889409"/>
            <a:ext cx="9928972" cy="253505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57BB749-7F27-1E15-48BE-F8183B700C3E}"/>
              </a:ext>
            </a:extLst>
          </p:cNvPr>
          <p:cNvSpPr txBox="1"/>
          <p:nvPr/>
        </p:nvSpPr>
        <p:spPr>
          <a:xfrm>
            <a:off x="6710082" y="1438835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13 times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D4F3FD4-8C26-E43B-F8DC-3802F2E97284}"/>
              </a:ext>
            </a:extLst>
          </p:cNvPr>
          <p:cNvSpPr txBox="1"/>
          <p:nvPr/>
        </p:nvSpPr>
        <p:spPr>
          <a:xfrm>
            <a:off x="6710082" y="3521838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17 times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A9BC76-DF7F-111B-605B-58231F43F579}"/>
              </a:ext>
            </a:extLst>
          </p:cNvPr>
          <p:cNvSpPr txBox="1"/>
          <p:nvPr/>
        </p:nvSpPr>
        <p:spPr>
          <a:xfrm>
            <a:off x="177188" y="6432813"/>
            <a:ext cx="8751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[Sandler et al. 2019, MobileNetV2: </a:t>
            </a:r>
            <a:r>
              <a:rPr lang="fr-FR" i="1" dirty="0" err="1">
                <a:effectLst/>
                <a:latin typeface="Helvetica" pitchFamily="2" charset="0"/>
              </a:rPr>
              <a:t>Inverted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Residuals</a:t>
            </a:r>
            <a:r>
              <a:rPr lang="fr-FR" i="1" dirty="0">
                <a:effectLst/>
                <a:latin typeface="Helvetica" pitchFamily="2" charset="0"/>
              </a:rPr>
              <a:t> and </a:t>
            </a:r>
            <a:r>
              <a:rPr lang="fr-FR" i="1" dirty="0" err="1">
                <a:effectLst/>
                <a:latin typeface="Helvetica" pitchFamily="2" charset="0"/>
              </a:rPr>
              <a:t>Linear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Bottlenecks</a:t>
            </a:r>
            <a:r>
              <a:rPr lang="fr-FR" i="1" dirty="0">
                <a:effectLst/>
                <a:latin typeface="Helvetica" pitchFamily="2" charset="0"/>
              </a:rPr>
              <a:t>]</a:t>
            </a:r>
            <a:endParaRPr lang="fr-FR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4111C-BCA1-4D5C-998A-286402E6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1D29A-BAF5-43A0-BB85-8EE6F5E1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BC8F7D-BC03-4044-8098-079FC823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5410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8C9B4-D543-8531-E34C-B02D07FA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use </a:t>
            </a:r>
            <a:r>
              <a:rPr lang="fr-FR" dirty="0" err="1"/>
              <a:t>these</a:t>
            </a:r>
            <a:r>
              <a:rPr lang="fr-FR" dirty="0"/>
              <a:t> neural networks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8BA6D-10CA-8AA7-976F-035D02460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Transfer </a:t>
            </a:r>
            <a:r>
              <a:rPr lang="fr-FR" dirty="0" err="1"/>
              <a:t>learning</a:t>
            </a:r>
            <a:r>
              <a:rPr lang="fr-FR" dirty="0"/>
              <a:t> (fine-tuning)</a:t>
            </a:r>
          </a:p>
          <a:p>
            <a:pPr lvl="1"/>
            <a:r>
              <a:rPr lang="fr-FR" dirty="0"/>
              <a:t>Need </a:t>
            </a:r>
            <a:r>
              <a:rPr lang="fr-FR" dirty="0" err="1"/>
              <a:t>less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Faster</a:t>
            </a:r>
            <a:r>
              <a:rPr lang="fr-FR" dirty="0"/>
              <a:t> training</a:t>
            </a:r>
          </a:p>
          <a:p>
            <a:r>
              <a:rPr lang="fr-FR" dirty="0" err="1"/>
              <a:t>Build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Data augmentation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ED1877-26F6-96E9-A06E-6E6E77E0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61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B57550-7489-C1F2-F456-AB529A6AAD3E}"/>
              </a:ext>
            </a:extLst>
          </p:cNvPr>
          <p:cNvSpPr txBox="1"/>
          <p:nvPr/>
        </p:nvSpPr>
        <p:spPr>
          <a:xfrm>
            <a:off x="3765177" y="2218682"/>
            <a:ext cx="3955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Freeze more </a:t>
            </a:r>
            <a:r>
              <a:rPr lang="fr-FR" sz="2000" dirty="0" err="1"/>
              <a:t>layers</a:t>
            </a:r>
            <a:r>
              <a:rPr lang="fr-FR" sz="2000" dirty="0"/>
              <a:t> </a:t>
            </a:r>
            <a:r>
              <a:rPr lang="fr-FR" sz="2000" dirty="0" err="1"/>
              <a:t>when</a:t>
            </a:r>
            <a:r>
              <a:rPr lang="fr-FR" sz="2000" dirty="0"/>
              <a:t> </a:t>
            </a:r>
            <a:r>
              <a:rPr lang="fr-FR" sz="2000" dirty="0" err="1"/>
              <a:t>fewer</a:t>
            </a:r>
            <a:r>
              <a:rPr lang="fr-FR" sz="20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65669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9AF62-91CF-3E84-9416-113353EB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Common data </a:t>
            </a:r>
            <a:r>
              <a:rPr lang="fr-FR" dirty="0" err="1"/>
              <a:t>agumentation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0977EEC-AABE-8248-06FD-C95EBD8ED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251" y="1119303"/>
            <a:ext cx="7172325" cy="2068396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B367EA-48CD-5E68-1586-1817F069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62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DCACBC4-0DD0-960F-5F6C-EC0C5E3B9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95" y="3429000"/>
            <a:ext cx="6236707" cy="313316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FFFB7EE-5515-FFA3-3421-11ABA38F4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051" y="3855385"/>
            <a:ext cx="2729235" cy="228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4126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4A4E3-9DC6-5E2C-BB84-019491942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shifting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81ED237-111D-A8EB-02AC-C038C826F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476" y="1501412"/>
            <a:ext cx="6280059" cy="4676775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AA5A79-37F3-B1BF-C569-6330146E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1726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7B20D-A9BD-A9F5-0D7F-7DC451AC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 practice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0CFA0-ACB7-7D53-B01C-918E3F937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 </a:t>
            </a:r>
            <a:r>
              <a:rPr lang="fr-FR" dirty="0" err="1"/>
              <a:t>each</a:t>
            </a:r>
            <a:r>
              <a:rPr lang="fr-FR" dirty="0"/>
              <a:t> image in a </a:t>
            </a:r>
            <a:r>
              <a:rPr lang="fr-FR" dirty="0" err="1"/>
              <a:t>particular</a:t>
            </a:r>
            <a:r>
              <a:rPr lang="fr-FR" dirty="0"/>
              <a:t> batch, one </a:t>
            </a:r>
            <a:r>
              <a:rPr lang="fr-FR" dirty="0" err="1"/>
              <a:t>random</a:t>
            </a:r>
            <a:r>
              <a:rPr lang="fr-FR" dirty="0"/>
              <a:t> set of transformation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applied</a:t>
            </a:r>
            <a:endParaRPr lang="fr-FR" dirty="0"/>
          </a:p>
          <a:p>
            <a:r>
              <a:rPr lang="fr-FR" dirty="0"/>
              <a:t>For large </a:t>
            </a:r>
            <a:r>
              <a:rPr lang="fr-FR" dirty="0" err="1"/>
              <a:t>datasets</a:t>
            </a:r>
            <a:r>
              <a:rPr lang="fr-FR" dirty="0"/>
              <a:t>, one CPU thread </a:t>
            </a:r>
            <a:r>
              <a:rPr lang="fr-FR" dirty="0" err="1"/>
              <a:t>takes</a:t>
            </a:r>
            <a:r>
              <a:rPr lang="fr-FR" dirty="0"/>
              <a:t> care of data augmentation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92A13E-8098-7CD3-154A-32ECF284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1228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CNN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25164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3020CD66-1E9D-43F6-9788-FD72E583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707" y="2653989"/>
            <a:ext cx="2733675" cy="167640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BFCFE1F4-CD34-420A-84EA-A30E8C703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03" y="2663967"/>
            <a:ext cx="2733675" cy="16764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</a:t>
            </a:r>
            <a:r>
              <a:rPr lang="fr-FR" dirty="0" err="1"/>
              <a:t>vanishing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6" y="1276588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A layer…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66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CE9414-B74F-4678-9B72-A6D5AE56F154}"/>
              </a:ext>
            </a:extLst>
          </p:cNvPr>
          <p:cNvSpPr txBox="1"/>
          <p:nvPr/>
        </p:nvSpPr>
        <p:spPr>
          <a:xfrm>
            <a:off x="1471108" y="1995902"/>
            <a:ext cx="38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70119C-A6B8-47A4-9010-E2B9C9ED3D27}"/>
              </a:ext>
            </a:extLst>
          </p:cNvPr>
          <p:cNvSpPr txBox="1"/>
          <p:nvPr/>
        </p:nvSpPr>
        <p:spPr>
          <a:xfrm>
            <a:off x="2260003" y="1995902"/>
            <a:ext cx="4374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7705B96-A820-4B98-B8BC-5616B9DFF41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56591" y="2180568"/>
            <a:ext cx="403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E8D7FF05-CEEB-4CF6-A402-0D047E5C1B10}"/>
              </a:ext>
            </a:extLst>
          </p:cNvPr>
          <p:cNvSpPr/>
          <p:nvPr/>
        </p:nvSpPr>
        <p:spPr>
          <a:xfrm>
            <a:off x="3100893" y="1938252"/>
            <a:ext cx="521208" cy="4846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240E639-15C0-4943-B819-E0B809D2F591}"/>
              </a:ext>
            </a:extLst>
          </p:cNvPr>
          <p:cNvCxnSpPr>
            <a:stCxn id="6" idx="3"/>
            <a:endCxn id="11" idx="2"/>
          </p:cNvCxnSpPr>
          <p:nvPr/>
        </p:nvCxnSpPr>
        <p:spPr>
          <a:xfrm>
            <a:off x="2697481" y="2180568"/>
            <a:ext cx="403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A09A90CD-4753-4141-B625-552591F71B0F}"/>
              </a:ext>
            </a:extLst>
          </p:cNvPr>
          <p:cNvSpPr txBox="1"/>
          <p:nvPr/>
        </p:nvSpPr>
        <p:spPr>
          <a:xfrm>
            <a:off x="3941783" y="1995364"/>
            <a:ext cx="38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2B22649-A88E-4126-919D-66CA170F15A3}"/>
              </a:ext>
            </a:extLst>
          </p:cNvPr>
          <p:cNvCxnSpPr>
            <a:cxnSpLocks/>
            <a:stCxn id="11" idx="6"/>
            <a:endCxn id="15" idx="1"/>
          </p:cNvCxnSpPr>
          <p:nvPr/>
        </p:nvCxnSpPr>
        <p:spPr>
          <a:xfrm flipV="1">
            <a:off x="3622101" y="2180030"/>
            <a:ext cx="319682" cy="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7F5F4D1-5361-4D28-AEED-D58006D48869}"/>
              </a:ext>
            </a:extLst>
          </p:cNvPr>
          <p:cNvSpPr txBox="1"/>
          <p:nvPr/>
        </p:nvSpPr>
        <p:spPr>
          <a:xfrm>
            <a:off x="5039476" y="1766117"/>
            <a:ext cx="1573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X </a:t>
            </a:r>
            <a:r>
              <a:rPr lang="en-US" dirty="0" err="1"/>
              <a:t>x</a:t>
            </a:r>
            <a:r>
              <a:rPr lang="en-US" dirty="0"/>
              <a:t> W</a:t>
            </a:r>
          </a:p>
          <a:p>
            <a:r>
              <a:rPr lang="en-US" dirty="0"/>
              <a:t>Z = f(Y)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A3C9CEE-5FE4-4EAD-BEC7-0E5EFA4C8BF8}"/>
              </a:ext>
            </a:extLst>
          </p:cNvPr>
          <p:cNvSpPr txBox="1"/>
          <p:nvPr/>
        </p:nvSpPr>
        <p:spPr>
          <a:xfrm>
            <a:off x="1199299" y="4562856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037AF53-02AA-4CDC-9F70-A8609BEBE27B}"/>
              </a:ext>
            </a:extLst>
          </p:cNvPr>
          <p:cNvSpPr txBox="1"/>
          <p:nvPr/>
        </p:nvSpPr>
        <p:spPr>
          <a:xfrm>
            <a:off x="1294594" y="3571621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E(X)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7A74AA7-AC04-48BF-84AD-2A33DCDD9499}"/>
              </a:ext>
            </a:extLst>
          </p:cNvPr>
          <p:cNvSpPr txBox="1"/>
          <p:nvPr/>
        </p:nvSpPr>
        <p:spPr>
          <a:xfrm>
            <a:off x="1838483" y="3143919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V(X)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3BF3743-678D-4FBA-BC76-151B33ED3639}"/>
              </a:ext>
            </a:extLst>
          </p:cNvPr>
          <p:cNvCxnSpPr>
            <a:cxnSpLocks/>
          </p:cNvCxnSpPr>
          <p:nvPr/>
        </p:nvCxnSpPr>
        <p:spPr>
          <a:xfrm>
            <a:off x="1115568" y="3513251"/>
            <a:ext cx="76809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3379089F-2980-4F9F-BFC7-2520F2E60255}"/>
              </a:ext>
            </a:extLst>
          </p:cNvPr>
          <p:cNvSpPr txBox="1"/>
          <p:nvPr/>
        </p:nvSpPr>
        <p:spPr>
          <a:xfrm>
            <a:off x="4378363" y="4553301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E985A75-A210-478C-A399-081C974B5BCF}"/>
              </a:ext>
            </a:extLst>
          </p:cNvPr>
          <p:cNvSpPr txBox="1"/>
          <p:nvPr/>
        </p:nvSpPr>
        <p:spPr>
          <a:xfrm>
            <a:off x="4473658" y="3562066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E(W)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5437988-E611-42A0-892A-595997B86EC1}"/>
              </a:ext>
            </a:extLst>
          </p:cNvPr>
          <p:cNvSpPr txBox="1"/>
          <p:nvPr/>
        </p:nvSpPr>
        <p:spPr>
          <a:xfrm>
            <a:off x="5017547" y="3134364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V(W)</a:t>
            </a:r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1571B10-6663-4311-A743-2C9CD24D64F8}"/>
              </a:ext>
            </a:extLst>
          </p:cNvPr>
          <p:cNvCxnSpPr>
            <a:cxnSpLocks/>
          </p:cNvCxnSpPr>
          <p:nvPr/>
        </p:nvCxnSpPr>
        <p:spPr>
          <a:xfrm>
            <a:off x="4294632" y="3503696"/>
            <a:ext cx="76809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6F12DF7E-98E5-4887-BD59-1D0B61472C0D}"/>
              </a:ext>
            </a:extLst>
          </p:cNvPr>
          <p:cNvSpPr txBox="1"/>
          <p:nvPr/>
        </p:nvSpPr>
        <p:spPr>
          <a:xfrm>
            <a:off x="3100893" y="4553301"/>
            <a:ext cx="52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3A4518B-5BE5-45AF-B28F-B2AD61263E55}"/>
              </a:ext>
            </a:extLst>
          </p:cNvPr>
          <p:cNvSpPr txBox="1"/>
          <p:nvPr/>
        </p:nvSpPr>
        <p:spPr>
          <a:xfrm>
            <a:off x="6574536" y="3374136"/>
            <a:ext cx="521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23C2CD9C-424B-43E0-8EE2-B8FF1001E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198" y="2653989"/>
            <a:ext cx="2733675" cy="1676400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8D1B592C-C67C-4A14-9C7C-F56DDCA36B8E}"/>
              </a:ext>
            </a:extLst>
          </p:cNvPr>
          <p:cNvSpPr txBox="1"/>
          <p:nvPr/>
        </p:nvSpPr>
        <p:spPr>
          <a:xfrm>
            <a:off x="7877494" y="4552878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AD3CC7E-F59C-4D0F-B77E-17B8CC64114E}"/>
              </a:ext>
            </a:extLst>
          </p:cNvPr>
          <p:cNvSpPr txBox="1"/>
          <p:nvPr/>
        </p:nvSpPr>
        <p:spPr>
          <a:xfrm>
            <a:off x="7972789" y="3561643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E(Y)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56E46D1-E291-4D18-8862-729123EE599D}"/>
              </a:ext>
            </a:extLst>
          </p:cNvPr>
          <p:cNvSpPr txBox="1"/>
          <p:nvPr/>
        </p:nvSpPr>
        <p:spPr>
          <a:xfrm>
            <a:off x="8516678" y="3133941"/>
            <a:ext cx="6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V(Y)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6E882051-9806-457F-9BE0-9485D93487A7}"/>
              </a:ext>
            </a:extLst>
          </p:cNvPr>
          <p:cNvCxnSpPr>
            <a:cxnSpLocks/>
          </p:cNvCxnSpPr>
          <p:nvPr/>
        </p:nvCxnSpPr>
        <p:spPr>
          <a:xfrm>
            <a:off x="7793763" y="3503273"/>
            <a:ext cx="76809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6DE8166-1C80-4D83-BABB-FD5EE57A9DE6}"/>
              </a:ext>
            </a:extLst>
          </p:cNvPr>
          <p:cNvSpPr txBox="1"/>
          <p:nvPr/>
        </p:nvSpPr>
        <p:spPr>
          <a:xfrm>
            <a:off x="2712059" y="1810698"/>
            <a:ext cx="385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F408110-69D4-4D26-AC36-91E587319944}"/>
              </a:ext>
            </a:extLst>
          </p:cNvPr>
          <p:cNvSpPr txBox="1"/>
          <p:nvPr/>
        </p:nvSpPr>
        <p:spPr>
          <a:xfrm>
            <a:off x="5922036" y="4882903"/>
            <a:ext cx="5581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E(Y) = E(X) . E(W)</a:t>
            </a:r>
          </a:p>
          <a:p>
            <a:r>
              <a:rPr lang="es-ES" dirty="0"/>
              <a:t>Var(Y) = E[X]</a:t>
            </a:r>
            <a:r>
              <a:rPr lang="es-ES" baseline="30000" dirty="0"/>
              <a:t>2</a:t>
            </a:r>
            <a:r>
              <a:rPr lang="es-ES" dirty="0"/>
              <a:t>.Var(Y) + E[Y]</a:t>
            </a:r>
            <a:r>
              <a:rPr lang="es-ES" baseline="30000" dirty="0"/>
              <a:t>2</a:t>
            </a:r>
            <a:r>
              <a:rPr lang="es-ES" dirty="0"/>
              <a:t>.Var(X) + Var(X).Var(Y)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981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403452-C16A-1EB0-2EC7-9A4171E1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Residual</a:t>
            </a:r>
            <a:r>
              <a:rPr lang="fr-FR" dirty="0"/>
              <a:t> block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AF2FF574-0D20-9A8B-EFE3-6287E7863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491" y="4225198"/>
            <a:ext cx="10991850" cy="931512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BE34D-4B20-F7F3-38BA-A4370134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67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77C9A2E-7536-7363-9CD8-DD5F553B6576}"/>
              </a:ext>
            </a:extLst>
          </p:cNvPr>
          <p:cNvSpPr txBox="1"/>
          <p:nvPr/>
        </p:nvSpPr>
        <p:spPr>
          <a:xfrm>
            <a:off x="416052" y="6280242"/>
            <a:ext cx="7594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effectLst/>
                <a:latin typeface="Helvetica" pitchFamily="2" charset="0"/>
              </a:rPr>
              <a:t>[He et al., 2015. </a:t>
            </a:r>
            <a:r>
              <a:rPr lang="fr-FR" i="1" dirty="0" err="1">
                <a:effectLst/>
                <a:latin typeface="Helvetica" pitchFamily="2" charset="0"/>
              </a:rPr>
              <a:t>Deep</a:t>
            </a:r>
            <a:r>
              <a:rPr lang="fr-FR" i="1" dirty="0">
                <a:effectLst/>
                <a:latin typeface="Helvetica" pitchFamily="2" charset="0"/>
              </a:rPr>
              <a:t> </a:t>
            </a:r>
            <a:r>
              <a:rPr lang="fr-FR" i="1" dirty="0" err="1">
                <a:effectLst/>
                <a:latin typeface="Helvetica" pitchFamily="2" charset="0"/>
              </a:rPr>
              <a:t>residual</a:t>
            </a:r>
            <a:r>
              <a:rPr lang="fr-FR" i="1" dirty="0">
                <a:effectLst/>
                <a:latin typeface="Helvetica" pitchFamily="2" charset="0"/>
              </a:rPr>
              <a:t> networks for image recognition]</a:t>
            </a:r>
            <a:endParaRPr lang="fr-FR" dirty="0">
              <a:effectLst/>
              <a:latin typeface="Helvetica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3EEE6B6-F651-AA1A-09DA-A851EA7DE9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52" y="3712869"/>
            <a:ext cx="11083290" cy="13737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ECC9849-08B8-D342-464E-7A364CCC1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490" y="1616861"/>
            <a:ext cx="5715000" cy="19939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761CEA6F-59F1-50F0-B6F5-544640BA47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t="5912"/>
          <a:stretch/>
        </p:blipFill>
        <p:spPr>
          <a:xfrm>
            <a:off x="3338468" y="1129524"/>
            <a:ext cx="5773091" cy="2489572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BDF067C9-C139-643C-5E21-4C6B9EDBF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14" y="5295966"/>
            <a:ext cx="3442013" cy="479625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D3131289-978C-BF10-6D0F-107FFCA886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901" y="5258348"/>
            <a:ext cx="2257057" cy="554860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D7B6FCD-8C5D-00EE-3582-A46207FFEE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933" y="5266889"/>
            <a:ext cx="3705336" cy="413794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59B07862-575F-567E-EF0A-C1911F2120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6604" y="5310073"/>
            <a:ext cx="2125396" cy="4514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3E0F4361-AEAD-C410-28F8-BB2961F115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1029" y="5904119"/>
            <a:ext cx="2648273" cy="525185"/>
          </a:xfrm>
          <a:prstGeom prst="rect">
            <a:avLst/>
          </a:prstGeom>
        </p:spPr>
      </p:pic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5C23D7D5-3AD2-37B0-9D4E-7FAC2530B4FD}"/>
              </a:ext>
            </a:extLst>
          </p:cNvPr>
          <p:cNvCxnSpPr/>
          <p:nvPr/>
        </p:nvCxnSpPr>
        <p:spPr>
          <a:xfrm>
            <a:off x="10066604" y="5173094"/>
            <a:ext cx="1944000" cy="6120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E8D54BE-E2BE-2381-7C73-D50EF24A8697}"/>
              </a:ext>
            </a:extLst>
          </p:cNvPr>
          <p:cNvCxnSpPr>
            <a:cxnSpLocks/>
          </p:cNvCxnSpPr>
          <p:nvPr/>
        </p:nvCxnSpPr>
        <p:spPr>
          <a:xfrm flipV="1">
            <a:off x="10066604" y="5187944"/>
            <a:ext cx="1944000" cy="6120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42612335-DB96-676F-DE2C-57922666044F}"/>
              </a:ext>
            </a:extLst>
          </p:cNvPr>
          <p:cNvSpPr txBox="1"/>
          <p:nvPr/>
        </p:nvSpPr>
        <p:spPr>
          <a:xfrm>
            <a:off x="4554684" y="3667947"/>
            <a:ext cx="167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Skip </a:t>
            </a:r>
            <a:r>
              <a:rPr lang="fr-FR" dirty="0" err="1"/>
              <a:t>connection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71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bleue" id="{550FF459-5EFB-584B-87BD-384DF3BCEFFE}" vid="{BC085E49-6BB5-6C43-94E2-CD1F9969A21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F2CCC636B3A49868671552C3429F4" ma:contentTypeVersion="3" ma:contentTypeDescription="Create a new document." ma:contentTypeScope="" ma:versionID="300fd19322c44417ba694682ccb746ab">
  <xsd:schema xmlns:xsd="http://www.w3.org/2001/XMLSchema" xmlns:xs="http://www.w3.org/2001/XMLSchema" xmlns:p="http://schemas.microsoft.com/office/2006/metadata/properties" xmlns:ns2="f433444e-70e4-4422-a7cb-e234f8e432ad" targetNamespace="http://schemas.microsoft.com/office/2006/metadata/properties" ma:root="true" ma:fieldsID="64568b1afdb60d002289c659bcd4e2c7" ns2:_="">
    <xsd:import namespace="f433444e-70e4-4422-a7cb-e234f8e43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3444e-70e4-4422-a7cb-e234f8e43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CE7965-22AA-4F3E-A394-5FE2A85B5BD2}"/>
</file>

<file path=customXml/itemProps2.xml><?xml version="1.0" encoding="utf-8"?>
<ds:datastoreItem xmlns:ds="http://schemas.openxmlformats.org/officeDocument/2006/customXml" ds:itemID="{E7070313-17E5-441B-8A7B-5558063A85E0}"/>
</file>

<file path=customXml/itemProps3.xml><?xml version="1.0" encoding="utf-8"?>
<ds:datastoreItem xmlns:ds="http://schemas.openxmlformats.org/officeDocument/2006/customXml" ds:itemID="{148C0B37-BD2F-4CFF-8F0E-067B725CEA81}"/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0</TotalTime>
  <Words>1570</Words>
  <Application>Microsoft Office PowerPoint</Application>
  <PresentationFormat>Grand écran</PresentationFormat>
  <Paragraphs>449</Paragraphs>
  <Slides>67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67</vt:i4>
      </vt:variant>
    </vt:vector>
  </HeadingPairs>
  <TitlesOfParts>
    <vt:vector size="76" baseType="lpstr">
      <vt:lpstr>MS PGothic</vt:lpstr>
      <vt:lpstr>Arial</vt:lpstr>
      <vt:lpstr>Calibri</vt:lpstr>
      <vt:lpstr>Calibri Light</vt:lpstr>
      <vt:lpstr>Cambria Math</vt:lpstr>
      <vt:lpstr>Helvetica</vt:lpstr>
      <vt:lpstr>Times New Roman</vt:lpstr>
      <vt:lpstr>Wingdings</vt:lpstr>
      <vt:lpstr>Thème Office</vt:lpstr>
      <vt:lpstr>Systèmes intelligents avancés classic CNN models</vt:lpstr>
      <vt:lpstr>Reminder</vt:lpstr>
      <vt:lpstr>Today</vt:lpstr>
      <vt:lpstr>What is a ANN in a mathematical view</vt:lpstr>
      <vt:lpstr>What is a CNN in a mathematical view</vt:lpstr>
      <vt:lpstr>CNN for image analysis</vt:lpstr>
      <vt:lpstr>Image analysis…what else ?</vt:lpstr>
      <vt:lpstr>Image analysis: convolution bloc ?</vt:lpstr>
      <vt:lpstr>Convoution: Vertical edge detection</vt:lpstr>
      <vt:lpstr>Convolution: Vertical edge detection</vt:lpstr>
      <vt:lpstr>Vertical and horizontal edges</vt:lpstr>
      <vt:lpstr>Stride and Image padding</vt:lpstr>
      <vt:lpstr>Convolution</vt:lpstr>
      <vt:lpstr>Stride and Image padding</vt:lpstr>
      <vt:lpstr>Convolution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Convolution: Dimensions writing Rules</vt:lpstr>
      <vt:lpstr>Convolution: Dimensions writing Rules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Convolution on RGB images</vt:lpstr>
      <vt:lpstr>Max pooling</vt:lpstr>
      <vt:lpstr>Average pooling</vt:lpstr>
      <vt:lpstr>Pooling</vt:lpstr>
      <vt:lpstr>Présentation PowerPoint</vt:lpstr>
      <vt:lpstr>Fully connected (head)</vt:lpstr>
      <vt:lpstr>Fully connected (head)</vt:lpstr>
      <vt:lpstr>Fully connected (head)</vt:lpstr>
      <vt:lpstr>Why look at classic models</vt:lpstr>
      <vt:lpstr>Le Net - 5</vt:lpstr>
      <vt:lpstr>AlexNet</vt:lpstr>
      <vt:lpstr>VGG – 16 (Visual Geometry Group 16 layers)</vt:lpstr>
      <vt:lpstr>ResNet for images</vt:lpstr>
      <vt:lpstr>Residual block</vt:lpstr>
      <vt:lpstr>Residual Network</vt:lpstr>
      <vt:lpstr>Motivation for Inception Network</vt:lpstr>
      <vt:lpstr>Inception module</vt:lpstr>
      <vt:lpstr>1x1 convolution</vt:lpstr>
      <vt:lpstr>Using 1x1 convolution</vt:lpstr>
      <vt:lpstr>Inception module</vt:lpstr>
      <vt:lpstr>Inception network</vt:lpstr>
      <vt:lpstr>Mobile Net</vt:lpstr>
      <vt:lpstr>Depthwise separable convolution</vt:lpstr>
      <vt:lpstr>MobileNet</vt:lpstr>
      <vt:lpstr>Présentation PowerPoint</vt:lpstr>
      <vt:lpstr>How to use these neural networks ?</vt:lpstr>
      <vt:lpstr>Common data agumentation</vt:lpstr>
      <vt:lpstr>Color shifting</vt:lpstr>
      <vt:lpstr>In practice</vt:lpstr>
      <vt:lpstr>Today</vt:lpstr>
      <vt:lpstr>Gradient vanishing</vt:lpstr>
      <vt:lpstr>Residual block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</dc:title>
  <dc:creator>Manon Ansart</dc:creator>
  <cp:lastModifiedBy>Maxime Ambard</cp:lastModifiedBy>
  <cp:revision>169</cp:revision>
  <dcterms:created xsi:type="dcterms:W3CDTF">2021-09-28T14:18:43Z</dcterms:created>
  <dcterms:modified xsi:type="dcterms:W3CDTF">2026-09-18T06:05:29Z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0x01010045BF2CCC636B3A49868671552C3429F4</vt:lpwstr>
  </property>
</Properties>
</file>